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325"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326" r:id="rId34"/>
    <p:sldId id="327" r:id="rId35"/>
    <p:sldId id="328" r:id="rId36"/>
    <p:sldId id="329" r:id="rId37"/>
    <p:sldId id="331" r:id="rId38"/>
    <p:sldId id="330" r:id="rId39"/>
    <p:sldId id="289" r:id="rId40"/>
    <p:sldId id="290" r:id="rId41"/>
    <p:sldId id="291" r:id="rId42"/>
    <p:sldId id="292" r:id="rId43"/>
    <p:sldId id="332" r:id="rId44"/>
    <p:sldId id="293" r:id="rId45"/>
    <p:sldId id="294" r:id="rId46"/>
    <p:sldId id="295" r:id="rId47"/>
    <p:sldId id="296" r:id="rId48"/>
    <p:sldId id="297" r:id="rId49"/>
    <p:sldId id="298" r:id="rId50"/>
    <p:sldId id="299" r:id="rId51"/>
    <p:sldId id="333" r:id="rId52"/>
    <p:sldId id="300" r:id="rId53"/>
    <p:sldId id="301" r:id="rId54"/>
    <p:sldId id="302" r:id="rId55"/>
    <p:sldId id="303" r:id="rId56"/>
    <p:sldId id="334" r:id="rId57"/>
    <p:sldId id="304" r:id="rId58"/>
    <p:sldId id="305" r:id="rId59"/>
    <p:sldId id="306" r:id="rId60"/>
    <p:sldId id="307" r:id="rId61"/>
    <p:sldId id="308" r:id="rId62"/>
    <p:sldId id="309" r:id="rId63"/>
    <p:sldId id="335" r:id="rId64"/>
    <p:sldId id="310" r:id="rId65"/>
    <p:sldId id="311" r:id="rId66"/>
    <p:sldId id="312" r:id="rId67"/>
    <p:sldId id="313" r:id="rId68"/>
    <p:sldId id="314" r:id="rId69"/>
    <p:sldId id="315" r:id="rId70"/>
    <p:sldId id="336" r:id="rId71"/>
    <p:sldId id="316" r:id="rId72"/>
    <p:sldId id="317" r:id="rId73"/>
    <p:sldId id="318" r:id="rId74"/>
    <p:sldId id="319" r:id="rId75"/>
    <p:sldId id="320" r:id="rId76"/>
    <p:sldId id="321" r:id="rId77"/>
    <p:sldId id="322" r:id="rId78"/>
    <p:sldId id="323" r:id="rId79"/>
    <p:sldId id="324" r:id="rId8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65385" autoAdjust="0"/>
  </p:normalViewPr>
  <p:slideViewPr>
    <p:cSldViewPr snapToGrid="0" snapToObjects="1">
      <p:cViewPr varScale="1">
        <p:scale>
          <a:sx n="95" d="100"/>
          <a:sy n="95" d="100"/>
        </p:scale>
        <p:origin x="1540" y="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heme" Target="theme/theme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905698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400" dirty="0"/>
              <a:t>Right now, if you want to find all overdue books, you'd write a for loop, check each one, add matches to a list. Tedious.</a:t>
            </a:r>
          </a:p>
          <a:p>
            <a:pPr lvl="0"/>
            <a:r>
              <a:rPr lang="en-US" sz="1400" dirty="0"/>
              <a:t>LINQ lets you write: catalog.Where(i =&gt; i.IsOverdue).OrderBy(i =&gt; i.DueDate)</a:t>
            </a:r>
          </a:p>
          <a:p>
            <a:pPr lvl="0"/>
            <a:r>
              <a:rPr lang="en-US" sz="1400" dirty="0"/>
              <a:t>One line. Clear. Reads almost like English.</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400" dirty="0"/>
              <a:t>LINQ solves the problem of filtering and transforming collections without nested loops.</a:t>
            </a:r>
          </a:p>
          <a:p>
            <a:pPr lvl="0"/>
            <a:r>
              <a:rPr lang="en-US" sz="1400" dirty="0"/>
              <a:t>It works everywhere: in-memory lists, SQL databases via EF Core, XML, JSON, REST APIs. Same syntax everywhere.</a:t>
            </a:r>
          </a:p>
          <a:p>
            <a:pPr lvl="0"/>
            <a:r>
              <a:rPr lang="en-US" sz="1400" dirty="0"/>
              <a:t>Key benefit: Learn LINQ now, and when you connect to a database later, the same syntax works.</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400" dirty="0"/>
              <a:t>Type each example, run it, show output. These are the core operators you need.</a:t>
            </a:r>
          </a:p>
          <a:p>
            <a:pPr lvl="0"/>
            <a:r>
              <a:rPr lang="en-US" sz="1400" dirty="0"/>
              <a:t>WHERE filters: Keep only items where condition is true.</a:t>
            </a:r>
          </a:p>
          <a:p>
            <a:pPr lvl="0"/>
            <a:r>
              <a:rPr lang="en-US" sz="1400" dirty="0"/>
              <a:t>SELECT transforms: Extract or reshape data. Real-world: REST APIs return DTOs using SELECT.</a:t>
            </a:r>
          </a:p>
          <a:p>
            <a:pPr lvl="0"/>
            <a:r>
              <a:rPr lang="en-US" sz="1400" dirty="0"/>
              <a:t>ORDERBY sorts: Chain .OrderBy().ThenByDescending() together.</a:t>
            </a:r>
          </a:p>
          <a:p>
            <a:pPr lvl="0"/>
            <a:r>
              <a:rPr lang="en-US" sz="1400" dirty="0"/>
              <a:t>GROUPBY aggregates: Creates groups by a key. Each group has items. Demo this slowly—it's the hardest operator.</a:t>
            </a:r>
          </a:p>
          <a:p>
            <a:pPr lvl="0"/>
            <a:r>
              <a:rPr lang="en-US" sz="1400" dirty="0"/>
              <a:t>AGGREGATES: Count(), Any(), Sum(), Min(), Max(), Average()</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400" dirty="0"/>
              <a:t>The #1 LINQ gotcha. Run this live showing when the query actually executes.</a:t>
            </a:r>
          </a:p>
          <a:p>
            <a:pPr lvl="0"/>
            <a:r>
              <a:rPr lang="en-US" sz="1400" dirty="0"/>
              <a:t>The query is a RECIPE. It doesn't execute until you enumerate (call ToList, foreach, etc.).</a:t>
            </a:r>
          </a:p>
          <a:p>
            <a:pPr lvl="0"/>
            <a:r>
              <a:rPr lang="en-US" sz="1400" dirty="0"/>
              <a:t>Practical impact: If the source changes between defining the query and enumerating it, the query sees the CHANGED data.</a:t>
            </a:r>
          </a:p>
          <a:p>
            <a:pPr lvl="0"/>
            <a:r>
              <a:rPr lang="en-US" sz="1400" dirty="0"/>
              <a:t>Fix: Call ToList() immediately to materialize the query into a concrete list.</a:t>
            </a:r>
          </a:p>
          <a:p>
            <a:pPr lvl="0"/>
            <a:r>
              <a:rPr lang="en-US" sz="1400" dirty="0"/>
              <a:t>This is the #1 real-world LINQ bug.</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400" dirty="0"/>
              <a:t>FirstOrDefault vs First: FirstOrDefault returns null on empty. First throws. Always use FirstOrDefault.</a:t>
            </a:r>
          </a:p>
          <a:p>
            <a:pPr lvl="0"/>
            <a:r>
              <a:rPr lang="en-US" sz="1400" dirty="0"/>
              <a:t>Count property vs method: list.Count is O(1). list.Count() is O(n). For LINQ results, Count() runs the query.</a:t>
            </a:r>
          </a:p>
          <a:p>
            <a:pPr lvl="0"/>
            <a:r>
              <a:rPr lang="en-US" sz="1400" dirty="0"/>
              <a:t>ToList() to materialize: Always call when passing a LINQ result to a method that enumerates multiple times.</a:t>
            </a:r>
          </a:p>
          <a:p>
            <a:pPr lvl="0"/>
            <a:r>
              <a:rPr lang="en-US" sz="1400" dirty="0"/>
              <a:t>Chaining: Each method returns IEnumerable&lt;T&gt;, so chain as many as you want.</a:t>
            </a:r>
          </a:p>
          <a:p>
            <a:pPr lvl="0"/>
            <a:r>
              <a:rPr lang="en-US" sz="1400" dirty="0"/>
              <a:t>Select with anonymous types: Create read-only views without full DTO classes.</a:t>
            </a:r>
          </a:p>
          <a:p>
            <a:pPr lvl="0"/>
            <a:r>
              <a:rPr lang="en-US" sz="1400" dirty="0"/>
              <a:t>Distinct and DistinctBy: Remove duplicates by value or by a specific property.</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400" dirty="0"/>
              <a:t>Step 1: Seed catalog with 4 Books, 2 DVDs, 2 Magazines.</a:t>
            </a:r>
          </a:p>
          <a:p>
            <a:pPr lvl="0"/>
            <a:r>
              <a:rPr lang="en-US" sz="1400" dirty="0"/>
              <a:t>Step 2: Build a report menu (while loop with numbered choices).</a:t>
            </a:r>
          </a:p>
          <a:p>
            <a:pPr lvl="0"/>
            <a:r>
              <a:rPr lang="en-US" sz="1400" dirty="0"/>
              <a:t>Report 1: Available items, alphabetical. Use Where and OrderBy.</a:t>
            </a:r>
          </a:p>
          <a:p>
            <a:pPr lvl="0"/>
            <a:r>
              <a:rPr lang="en-US" sz="1400" dirty="0"/>
              <a:t>Report 2: Checked out items by due date.</a:t>
            </a:r>
          </a:p>
          <a:p>
            <a:pPr lvl="0"/>
            <a:r>
              <a:rPr lang="en-US" sz="1400" dirty="0"/>
              <a:t>Report 3 (GroupBy—draw on whiteboard first): Count grouped by type. GroupBy is the hardest.</a:t>
            </a:r>
          </a:p>
          <a:p>
            <a:pPr lvl="0"/>
            <a:r>
              <a:rPr lang="en-US" sz="1400" dirty="0"/>
              <a:t>Report 4: Overdue items with total fee. Use Where and Sum.</a:t>
            </a:r>
          </a:p>
          <a:p>
            <a:pPr lvl="0"/>
            <a:r>
              <a:rPr lang="en-US" sz="1400" dirty="0"/>
              <a:t>Report 5: Deferred execution observation. Define query, watch when it executes.</a:t>
            </a:r>
          </a:p>
          <a:p>
            <a:pPr lvl="0"/>
            <a:r>
              <a:rPr lang="en-US" sz="1400" dirty="0"/>
              <a:t>Circulate through rooms. Show GroupBy once if stuck.</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400" dirty="0"/>
              <a:t>Step 1: Delegates as strategy pattern. Pass calculation as a parameter instead of hardcoding it.</a:t>
            </a:r>
          </a:p>
          <a:p>
            <a:pPr lvl="0"/>
            <a:r>
              <a:rPr lang="en-US" sz="1400" dirty="0"/>
              <a:t>Step 2: Multicast handlers. One call, multiple handlers. All notified.</a:t>
            </a:r>
          </a:p>
          <a:p>
            <a:pPr lvl="0"/>
            <a:r>
              <a:rPr lang="en-US" sz="1400" dirty="0"/>
              <a:t>Step 3: The problem with raw delegates. Anyone can assign, clear, or call it. Too much power.</a:t>
            </a:r>
          </a:p>
          <a:p>
            <a:pPr lvl="0"/>
            <a:r>
              <a:rPr lang="en-US" sz="1400" dirty="0"/>
              <a:t>Step 4: Events (safe encapsulation). Only the service can RAISE the event. Outsiders can only += or -=.</a:t>
            </a:r>
          </a:p>
          <a:p>
            <a:pPr lvl="0"/>
            <a:r>
              <a:rPr lang="en-US" sz="1400" dirty="0"/>
              <a:t>Real-world benefit: Add new features without touching service code. Just wire up a new subscriber.</a:t>
            </a:r>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400" dirty="0"/>
              <a:t>Step 1: Delegates as strategy pattern. Pass calculation as a parameter instead of hardcoding it.</a:t>
            </a:r>
          </a:p>
          <a:p>
            <a:pPr lvl="0"/>
            <a:r>
              <a:rPr lang="en-US" sz="1400" dirty="0"/>
              <a:t>Step 2: Multicast handlers. One call, multiple handlers. All notified.</a:t>
            </a:r>
          </a:p>
          <a:p>
            <a:pPr lvl="0"/>
            <a:r>
              <a:rPr lang="en-US" sz="1400" dirty="0"/>
              <a:t>Step 3: The problem with raw delegates. Anyone can assign, clear, or call it. Too much power.</a:t>
            </a:r>
          </a:p>
          <a:p>
            <a:pPr lvl="0"/>
            <a:r>
              <a:rPr lang="en-US" sz="1400" dirty="0"/>
              <a:t>Step 4: Events (safe encapsulation). Only the service can RAISE the event. Outsiders can only += or -=.</a:t>
            </a:r>
          </a:p>
          <a:p>
            <a:pPr lvl="0"/>
            <a:r>
              <a:rPr lang="en-US" sz="1400" dirty="0"/>
              <a:t>Real-world benefit: Add new features without touching service code. Just wire up a new subscriber.</a:t>
            </a:r>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400" dirty="0"/>
              <a:t>A delegate is a TYPE that describes a method signature. Like int or string, but for methods.</a:t>
            </a:r>
          </a:p>
          <a:p>
            <a:pPr lvl="0"/>
            <a:r>
              <a:rPr lang="en-US" sz="1400" dirty="0"/>
              <a:t>Func&lt;int, decimal&gt; calculate = days =&gt; days * 0.25m; means 'a function taking int, returning decimal'.</a:t>
            </a:r>
          </a:p>
          <a:p>
            <a:pPr lvl="0"/>
            <a:r>
              <a:rPr lang="en-US" sz="1400" dirty="0"/>
              <a:t>Action&lt;T&gt; is like Func but returns void.</a:t>
            </a:r>
          </a:p>
          <a:p>
            <a:pPr lvl="0"/>
            <a:r>
              <a:rPr lang="en-US" sz="1400" dirty="0"/>
              <a:t>Why? You can PASS methods as parameters. Strategy pattern. Let the caller choose behavior.</a:t>
            </a:r>
          </a:p>
          <a:p>
            <a:pPr lvl="0"/>
            <a:r>
              <a:rPr lang="en-US" sz="1400" dirty="0"/>
              <a:t>Multicast delegates: One += operator adds another handler. When you call it, ALL handlers run, in order.</a:t>
            </a:r>
          </a:p>
          <a:p>
            <a:pPr lvl="0"/>
            <a:r>
              <a:rPr lang="en-US" sz="1400" dirty="0"/>
              <a:t>Key mental model: A delegate is a type-safe variable that holds a method.</a:t>
            </a:r>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400" dirty="0"/>
              <a:t>Step 1: Delegates as strategy pattern. Pass calculation as a parameter instead of hardcoding it.</a:t>
            </a:r>
          </a:p>
          <a:p>
            <a:pPr lvl="0"/>
            <a:r>
              <a:rPr lang="en-US" sz="1400" dirty="0"/>
              <a:t>Step 2: Multicast handlers. One call, multiple handlers. All notified.</a:t>
            </a:r>
          </a:p>
          <a:p>
            <a:pPr lvl="0"/>
            <a:r>
              <a:rPr lang="en-US" sz="1400" dirty="0"/>
              <a:t>Step 3: The problem with raw delegates. Anyone can assign, clear, or call it. Too much power.</a:t>
            </a:r>
          </a:p>
          <a:p>
            <a:pPr lvl="0"/>
            <a:r>
              <a:rPr lang="en-US" sz="1400" dirty="0"/>
              <a:t>Step 4: Events (safe encapsulation). Only the service can RAISE the event. Outsiders can only += or -=.</a:t>
            </a:r>
          </a:p>
          <a:p>
            <a:pPr lvl="0"/>
            <a:r>
              <a:rPr lang="en-US" sz="1400" dirty="0"/>
              <a:t>Real-world benefit: Add new features without touching service code. Just wire up a new subscriber.</a:t>
            </a:r>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400" dirty="0"/>
              <a:t>Problem: CheckoutService depends on logging, UI, hold management. Adding a feature means modifying the service.</a:t>
            </a:r>
          </a:p>
          <a:p>
            <a:pPr lvl="0"/>
            <a:r>
              <a:rPr lang="en-US" sz="1400" dirty="0"/>
              <a:t>Solution: Observer Pattern. Raise an event; let interested parties subscribe independently.</a:t>
            </a:r>
          </a:p>
          <a:p>
            <a:pPr lvl="0"/>
            <a:r>
              <a:rPr lang="en-US" sz="1400" dirty="0"/>
              <a:t>Three subscribers in DeweyLib: console logging, file logging, hold watcher. Service knows about NONE of them.</a:t>
            </a:r>
          </a:p>
          <a:p>
            <a:pPr lvl="0"/>
            <a:r>
              <a:rPr lang="en-US" sz="1400" dirty="0"/>
              <a:t>Benefits: Decoupled. Add features without changing service. Each subscriber is independent. Testable.</a:t>
            </a:r>
          </a:p>
          <a:p>
            <a:pPr lvl="0"/>
            <a:r>
              <a:rPr lang="en-US" sz="1400" dirty="0"/>
              <a:t>This is why events exist. Professional architecture.</a:t>
            </a:r>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400" dirty="0"/>
              <a:t>Your API handles 1,000 users at once. Each request needs to read from database (slow).</a:t>
            </a:r>
          </a:p>
          <a:p>
            <a:pPr lvl="0"/>
            <a:r>
              <a:rPr lang="en-US" sz="1400" dirty="0"/>
              <a:t>Without async: each request BLOCKS a thread. 1,000 requests = 1,000 threads. Expensive.</a:t>
            </a:r>
          </a:p>
          <a:p>
            <a:pPr lvl="0"/>
            <a:r>
              <a:rPr lang="en-US" sz="1400" dirty="0"/>
              <a:t>With async: 100 threads can handle 1,000 requests. While waiting, threads help other users.</a:t>
            </a:r>
          </a:p>
          <a:p>
            <a:pPr lvl="0"/>
            <a:r>
              <a:rPr lang="en-US" sz="1400" dirty="0"/>
              <a:t>Mental model: Async isn't about speed. It's about efficiency: using thread resources wisely.</a:t>
            </a:r>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400" dirty="0"/>
              <a:t>Synchronous (blocking): var data = FetchFromDatabase(); Thread BLOCKED for 500ms.</a:t>
            </a:r>
          </a:p>
          <a:p>
            <a:pPr lvl="0"/>
            <a:r>
              <a:rPr lang="en-US" sz="1400" dirty="0"/>
              <a:t>Asynchronous (non-blocking): var data = await FetchFromDatabaseAsync(); Thread RELEASED while waiting, comes back with data.</a:t>
            </a:r>
          </a:p>
          <a:p>
            <a:pPr lvl="0"/>
            <a:r>
              <a:rPr lang="en-US" sz="1400" dirty="0"/>
              <a:t>Key insight: Async doesn't make individual operations faster. But applications faster because threads aren't wasted on waiting.</a:t>
            </a:r>
          </a:p>
          <a:p>
            <a:pPr lvl="0"/>
            <a:r>
              <a:rPr lang="en-US" sz="1400" dirty="0"/>
              <a:t>What async IS NOT: Not parallel. Not multi-threaded. Async is SINGLE-THREADED. One logical flow at a time.</a:t>
            </a:r>
          </a:p>
          <a:p>
            <a:pPr lvl="0"/>
            <a:r>
              <a:rPr lang="en-US" sz="1400" dirty="0"/>
              <a:t>Return types: async Task (returns nothing), async Task&lt;T&gt; (returns value), async void (ONLY for event handlers).</a:t>
            </a:r>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400" dirty="0"/>
              <a:t>Live demo—run both sequential and concurrent, read milliseconds aloud.</a:t>
            </a:r>
          </a:p>
          <a:p>
            <a:pPr lvl="0"/>
            <a:r>
              <a:rPr lang="en-US" sz="1400" dirty="0"/>
              <a:t>Sequential (one at a time): foreach branch, await each. Total ≈ 1200ms (4 × 300ms).</a:t>
            </a:r>
          </a:p>
          <a:p>
            <a:pPr lvl="0"/>
            <a:r>
              <a:rPr lang="en-US" sz="1400" dirty="0"/>
              <a:t>Concurrent (all at once): Select all into tasks, await Task.WhenAll(tasks). Total ≈ 350ms (longest single wait).</a:t>
            </a:r>
          </a:p>
          <a:p>
            <a:pPr lvl="0"/>
            <a:r>
              <a:rPr lang="en-US" sz="1400" dirty="0"/>
              <a:t>3-4x faster without changing the code, just with WhenAll.</a:t>
            </a:r>
          </a:p>
          <a:p>
            <a:pPr lvl="0"/>
            <a:r>
              <a:rPr lang="en-US" sz="1400" dirty="0"/>
              <a:t>Cancellation (timeout): Pass CancellationToken. If cancelled, throws OperationCanceledException.</a:t>
            </a:r>
          </a:p>
          <a:p>
            <a:pPr lvl="0"/>
            <a:r>
              <a:rPr lang="en-US" sz="1400" dirty="0"/>
              <a:t>Call this out: Sequential 1200ms, concurrent 350ms. That's the power of async.</a:t>
            </a:r>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400" dirty="0"/>
              <a:t>What we're covering: Exceptions—throw rich information, catch it safely, tell user without crashing. Reflection—inspect types at runtime, plugin pattern. Memory—understand GC, Span&lt;T&gt;, IDisposable.</a:t>
            </a:r>
          </a:p>
          <a:p>
            <a:pPr lvl="0"/>
            <a:r>
              <a:rPr lang="en-US" sz="1400" dirty="0"/>
              <a:t>These are glue. By themselves, not core to your app. But they tie everything together.</a:t>
            </a:r>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400" dirty="0"/>
              <a:t>Throwing rich exceptions: Don't just send a message. Create custom exceptions with properties carrying context.</a:t>
            </a:r>
          </a:p>
          <a:p>
            <a:pPr lvl="0"/>
            <a:r>
              <a:rPr lang="en-US" sz="1400" dirty="0"/>
              <a:t>Service throws, UI catches: Service knows domain logic, not HTTP. Different UI layers catch and format differently.</a:t>
            </a:r>
          </a:p>
          <a:p>
            <a:pPr lvl="0"/>
            <a:r>
              <a:rPr lang="en-US" sz="1400" dirty="0"/>
              <a:t>throw vs throw ex: Use bare 'throw;' to preserve stack trace.</a:t>
            </a:r>
          </a:p>
          <a:p>
            <a:pPr lvl="0"/>
            <a:r>
              <a:rPr lang="en-US" sz="1400" dirty="0"/>
              <a:t>Exception filters: catch (</a:t>
            </a:r>
            <a:r>
              <a:rPr lang="en-US" sz="1400" dirty="0" err="1"/>
              <a:t>KeyNotFoundException</a:t>
            </a:r>
            <a:r>
              <a:rPr lang="en-US" sz="1400" dirty="0"/>
              <a:t> ex) when (</a:t>
            </a:r>
            <a:r>
              <a:rPr lang="en-US" sz="1400" dirty="0" err="1"/>
              <a:t>ex.Message.Contains</a:t>
            </a:r>
            <a:r>
              <a:rPr lang="en-US" sz="1400" dirty="0"/>
              <a:t>('B-001'))</a:t>
            </a:r>
          </a:p>
          <a:p>
            <a:pPr lvl="0"/>
            <a:r>
              <a:rPr lang="en-US" sz="1400" dirty="0"/>
              <a:t>finally always runs: Use for guaranteed cleanup—close files, release locks.</a:t>
            </a:r>
          </a:p>
          <a:p>
            <a:pPr lvl="0"/>
            <a:r>
              <a:rPr lang="en-US" sz="1400" dirty="0"/>
              <a:t>Why separation matters: Same service, different UI layers. Console prints text. API returns HTTP.</a:t>
            </a:r>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400" dirty="0"/>
              <a:t>Define custom exceptions with properties: </a:t>
            </a:r>
            <a:r>
              <a:rPr lang="en-US" sz="1400" dirty="0" err="1"/>
              <a:t>ItemNotFoundException</a:t>
            </a:r>
            <a:r>
              <a:rPr lang="en-US" sz="1400" dirty="0"/>
              <a:t> with Barcode, </a:t>
            </a:r>
            <a:r>
              <a:rPr lang="en-US" sz="1400" dirty="0" err="1"/>
              <a:t>ItemUnavailableException</a:t>
            </a:r>
            <a:r>
              <a:rPr lang="en-US" sz="1400" dirty="0"/>
              <a:t> with Title and </a:t>
            </a:r>
            <a:r>
              <a:rPr lang="en-US" sz="1400" dirty="0" err="1"/>
              <a:t>DueDate</a:t>
            </a:r>
            <a:r>
              <a:rPr lang="en-US" sz="1400" dirty="0"/>
              <a:t>.</a:t>
            </a:r>
          </a:p>
          <a:p>
            <a:pPr lvl="0"/>
            <a:r>
              <a:rPr lang="en-US" sz="1400" dirty="0"/>
              <a:t>Service throws (clean logic, no UI): Borrow() throws </a:t>
            </a:r>
            <a:r>
              <a:rPr lang="en-US" sz="1400" dirty="0" err="1"/>
              <a:t>ItemNotFoundException</a:t>
            </a:r>
            <a:r>
              <a:rPr lang="en-US" sz="1400" dirty="0"/>
              <a:t> if not found, </a:t>
            </a:r>
            <a:r>
              <a:rPr lang="en-US" sz="1400" dirty="0" err="1"/>
              <a:t>ItemUnavailableException</a:t>
            </a:r>
            <a:r>
              <a:rPr lang="en-US" sz="1400" dirty="0"/>
              <a:t> if checked out.</a:t>
            </a:r>
          </a:p>
          <a:p>
            <a:pPr lvl="0"/>
            <a:r>
              <a:rPr lang="en-US" sz="1400" dirty="0"/>
              <a:t>Console UI catches and prints friendly messages.</a:t>
            </a:r>
          </a:p>
          <a:p>
            <a:pPr lvl="0"/>
            <a:r>
              <a:rPr lang="en-US" sz="1400" dirty="0"/>
              <a:t>API middleware maps to HTTP: </a:t>
            </a:r>
            <a:r>
              <a:rPr lang="en-US" sz="1400" dirty="0" err="1"/>
              <a:t>ItemNotFoundException</a:t>
            </a:r>
            <a:r>
              <a:rPr lang="en-US" sz="1400" dirty="0"/>
              <a:t> → 404, </a:t>
            </a:r>
            <a:r>
              <a:rPr lang="en-US" sz="1400" dirty="0" err="1"/>
              <a:t>ItemUnavailableException</a:t>
            </a:r>
            <a:r>
              <a:rPr lang="en-US" sz="1400" dirty="0"/>
              <a:t> → 409.</a:t>
            </a:r>
          </a:p>
          <a:p>
            <a:pPr lvl="0"/>
            <a:r>
              <a:rPr lang="en-US" sz="1400" dirty="0"/>
              <a:t>The beauty: Same service. Same exception. Different UIs. Add new UI (desktop), just add another catch block.</a:t>
            </a:r>
          </a:p>
          <a:p>
            <a:pPr lvl="0"/>
            <a:endParaRPr lang="en-US" sz="1400"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400" dirty="0"/>
              <a:t>Reflection (awareness level): At runtime, inspect a type's properties, methods, and custom attributes.</a:t>
            </a:r>
          </a:p>
          <a:p>
            <a:pPr lvl="0"/>
            <a:r>
              <a:rPr lang="en-US" sz="1400" dirty="0"/>
              <a:t>Custom attribute example: [Report('Overdue Books', Order = 1)] decorates a method. Scan at startup for all decorated methods.</a:t>
            </a:r>
          </a:p>
          <a:p>
            <a:pPr lvl="0"/>
            <a:r>
              <a:rPr lang="en-US" sz="1400" dirty="0"/>
              <a:t>Real-world uses: ASP.NET [HttpGet], </a:t>
            </a:r>
            <a:r>
              <a:rPr lang="en-US" sz="1400" dirty="0" err="1"/>
              <a:t>xUnit</a:t>
            </a:r>
            <a:r>
              <a:rPr lang="en-US" sz="1400" dirty="0"/>
              <a:t> [Fact], EF Core [Key], JSON [</a:t>
            </a:r>
            <a:r>
              <a:rPr lang="en-US" sz="1400" dirty="0" err="1"/>
              <a:t>JsonIgnore</a:t>
            </a:r>
            <a:r>
              <a:rPr lang="en-US" sz="1400" dirty="0"/>
              <a:t>].</a:t>
            </a:r>
          </a:p>
          <a:p>
            <a:pPr lvl="0"/>
            <a:r>
              <a:rPr lang="en-US" sz="1400" dirty="0"/>
              <a:t>Trade-off: Reflection is ~100x slower than direct calls. Use for startup logic, not hot loops.</a:t>
            </a:r>
          </a:p>
          <a:p>
            <a:pPr lvl="0"/>
            <a:r>
              <a:rPr lang="en-US" sz="1400" dirty="0"/>
              <a:t>For production: Source generators (C# 11+) do reflection at COMPILE time. Faster and AOT-safe.</a:t>
            </a:r>
          </a:p>
          <a:p>
            <a:pPr lvl="0"/>
            <a:r>
              <a:rPr lang="en-US" sz="1400" dirty="0"/>
              <a:t>For novices: Know reflection exists. Frameworks use it. You probably won't write it.</a:t>
            </a:r>
          </a:p>
          <a:p>
            <a:pPr lvl="0"/>
            <a:endParaRPr lang="en-US" sz="1400"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400" dirty="0"/>
              <a:t>Heap vs Stack: Value types (int, double) live on stack—fast, auto-freed. Reference types (string, object) live on heap—GC-managed.</a:t>
            </a:r>
          </a:p>
          <a:p>
            <a:pPr lvl="0"/>
            <a:r>
              <a:rPr lang="en-US" sz="1400" dirty="0"/>
              <a:t>GC Generations: Gen 0 (nursery, collected often), Gen 1, Gen 2 (long-lived). Short-lived objects cost less.</a:t>
            </a:r>
          </a:p>
          <a:p>
            <a:pPr lvl="0"/>
            <a:r>
              <a:rPr lang="en-US" sz="1400" dirty="0"/>
              <a:t>Span&lt;T&gt; zero-allocation slicing: </a:t>
            </a:r>
            <a:r>
              <a:rPr lang="en-US" sz="1400" dirty="0" err="1"/>
              <a:t>ReadOnlySpan</a:t>
            </a:r>
            <a:r>
              <a:rPr lang="en-US" sz="1400" dirty="0"/>
              <a:t>&lt;char&gt; slice = </a:t>
            </a:r>
            <a:r>
              <a:rPr lang="en-US" sz="1400" dirty="0" err="1"/>
              <a:t>text.AsSpan</a:t>
            </a:r>
            <a:r>
              <a:rPr lang="en-US" sz="1400" dirty="0"/>
              <a:t>(0, 5); gives a view with zero allocation.</a:t>
            </a:r>
          </a:p>
          <a:p>
            <a:pPr lvl="0"/>
            <a:r>
              <a:rPr lang="en-US" sz="1400" dirty="0"/>
              <a:t>IDisposable + using: using var file = </a:t>
            </a:r>
            <a:r>
              <a:rPr lang="en-US" sz="1400" dirty="0" err="1"/>
              <a:t>File.OpenRead</a:t>
            </a:r>
            <a:r>
              <a:rPr lang="en-US" sz="1400" dirty="0"/>
              <a:t>(...); Dispose() called at closing brace.</a:t>
            </a:r>
          </a:p>
          <a:p>
            <a:pPr lvl="0"/>
            <a:r>
              <a:rPr lang="en-US" sz="1400" dirty="0"/>
              <a:t>For novices: GC is automatic. Just know: if an object has Dispose(), use it with 'using'.</a:t>
            </a:r>
          </a:p>
          <a:p>
            <a:pPr lvl="0"/>
            <a:endParaRPr lang="en-US" sz="1400"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400" dirty="0"/>
              <a:t>What unsafe is (don't use, but understand): Raw pointer arithmetic. int* </a:t>
            </a:r>
            <a:r>
              <a:rPr lang="en-US" sz="1400" dirty="0" err="1"/>
              <a:t>ptr</a:t>
            </a:r>
            <a:r>
              <a:rPr lang="en-US" sz="1400" dirty="0"/>
              <a:t> = &amp;value; *</a:t>
            </a:r>
            <a:r>
              <a:rPr lang="en-US" sz="1400" dirty="0" err="1"/>
              <a:t>ptr</a:t>
            </a:r>
            <a:r>
              <a:rPr lang="en-US" sz="1400" dirty="0"/>
              <a:t> = 99;</a:t>
            </a:r>
          </a:p>
          <a:p>
            <a:pPr lvl="0"/>
            <a:r>
              <a:rPr lang="en-US" sz="1400" dirty="0"/>
              <a:t>When justified: Native library interop, hardware access, extreme performance hot paths.</a:t>
            </a:r>
          </a:p>
          <a:p>
            <a:pPr lvl="0"/>
            <a:r>
              <a:rPr lang="en-US" sz="1400" dirty="0"/>
              <a:t>Why you won't write it: C# gives Span&lt;T&gt;, </a:t>
            </a:r>
            <a:r>
              <a:rPr lang="en-US" sz="1400" dirty="0" err="1"/>
              <a:t>ArrayPool</a:t>
            </a:r>
            <a:r>
              <a:rPr lang="en-US" sz="1400" dirty="0"/>
              <a:t>&lt;T&gt;, Memory&lt;T&gt; for performance without unsafe.</a:t>
            </a:r>
          </a:p>
          <a:p>
            <a:pPr lvl="0"/>
            <a:r>
              <a:rPr lang="en-US" sz="1400" dirty="0"/>
              <a:t>Why you'll read it: </a:t>
            </a:r>
            <a:r>
              <a:rPr lang="en-US" sz="1400" dirty="0" err="1"/>
              <a:t>System.Text.Json</a:t>
            </a:r>
            <a:r>
              <a:rPr lang="en-US" sz="1400" dirty="0"/>
              <a:t> uses unsafe. ASP.NET Core uses unsafe.</a:t>
            </a:r>
          </a:p>
          <a:p>
            <a:pPr lvl="0"/>
            <a:r>
              <a:rPr lang="en-US" sz="1400" dirty="0"/>
              <a:t>When you read these libraries, understand: they do this because they're extremes of optimization. You probably don't need to.</a:t>
            </a:r>
          </a:p>
          <a:p>
            <a:pPr lvl="0"/>
            <a:endParaRPr lang="en-US" sz="1400"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400" dirty="0"/>
              <a:t>The capstone: Building a REST API. Your </a:t>
            </a:r>
            <a:r>
              <a:rPr lang="en-US" sz="1400" dirty="0" err="1"/>
              <a:t>DeweyLib</a:t>
            </a:r>
            <a:r>
              <a:rPr lang="en-US" sz="1400" dirty="0"/>
              <a:t> domain (Book class, logic) stays exactly the same.</a:t>
            </a:r>
          </a:p>
          <a:p>
            <a:pPr lvl="0"/>
            <a:r>
              <a:rPr lang="en-US" sz="1400" dirty="0"/>
              <a:t>We're adding a thin HTTP layer on top.</a:t>
            </a:r>
          </a:p>
          <a:p>
            <a:pPr lvl="0"/>
            <a:r>
              <a:rPr lang="en-US" sz="1400" dirty="0"/>
              <a:t>Architecture: Console app reads from Console, calls service, prints to Console. Web app reads from HTTP request, calls service, writes HTTP response. SAME SERVICE. Different UI.</a:t>
            </a:r>
          </a:p>
          <a:p>
            <a:pPr lvl="0"/>
            <a:endParaRPr lang="en-US" sz="1400"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400" dirty="0"/>
              <a:t>Top-level statements (C# 9+): No 'static void Main()'. Entire file is your entry point.</a:t>
            </a:r>
          </a:p>
          <a:p>
            <a:pPr lvl="0"/>
            <a:r>
              <a:rPr lang="en-US" sz="1400" dirty="0"/>
              <a:t>Build and run: dotnet build, dotnet run, dotnet watch run.</a:t>
            </a:r>
          </a:p>
          <a:p>
            <a:pPr lvl="0"/>
            <a:r>
              <a:rPr lang="en-US" sz="1400" dirty="0"/>
              <a:t>Package and deploy: dotnet publish -c Release. Deploy the bin/Release/net10.0/publish/ folder.</a:t>
            </a:r>
          </a:p>
          <a:p>
            <a:pPr lvl="0"/>
            <a:r>
              <a:rPr lang="en-US" sz="1400" dirty="0"/>
              <a:t>Your </a:t>
            </a:r>
            <a:r>
              <a:rPr lang="en-US" sz="1400" dirty="0" err="1"/>
              <a:t>DeweyLib.Core</a:t>
            </a:r>
            <a:r>
              <a:rPr lang="en-US" sz="1400" dirty="0"/>
              <a:t> is a console app with Book class, </a:t>
            </a:r>
            <a:r>
              <a:rPr lang="en-US" sz="1400" dirty="0" err="1"/>
              <a:t>CheckoutService</a:t>
            </a:r>
            <a:r>
              <a:rPr lang="en-US" sz="1400" dirty="0"/>
              <a:t>, menu logic. Everything is reusable.</a:t>
            </a:r>
          </a:p>
          <a:p>
            <a:pPr lvl="0"/>
            <a:r>
              <a:rPr lang="en-US" sz="1400" dirty="0"/>
              <a:t>When you build an API: Create new web API project, reference </a:t>
            </a:r>
            <a:r>
              <a:rPr lang="en-US" sz="1400" dirty="0" err="1"/>
              <a:t>DeweyLib.Core</a:t>
            </a:r>
            <a:r>
              <a:rPr lang="en-US" sz="1400" dirty="0"/>
              <a:t>. Service code doesn't move. Just wire to HTTP instead of console.</a:t>
            </a:r>
          </a:p>
          <a:p>
            <a:pPr lvl="0"/>
            <a:endParaRPr lang="en-US" sz="1400"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400" dirty="0"/>
              <a:t>The pipeline: HTTP request → Middleware chain → Routing → Endpoint → Response.</a:t>
            </a:r>
          </a:p>
          <a:p>
            <a:pPr lvl="0"/>
            <a:r>
              <a:rPr lang="en-US" sz="1400" dirty="0"/>
              <a:t>Middleware: </a:t>
            </a:r>
            <a:r>
              <a:rPr lang="en-US" sz="1400" dirty="0" err="1"/>
              <a:t>UseExceptionHandler</a:t>
            </a:r>
            <a:r>
              <a:rPr lang="en-US" sz="1400" dirty="0"/>
              <a:t> catches exceptions. </a:t>
            </a:r>
            <a:r>
              <a:rPr lang="en-US" sz="1400" dirty="0" err="1"/>
              <a:t>UseRouting</a:t>
            </a:r>
            <a:r>
              <a:rPr lang="en-US" sz="1400" dirty="0"/>
              <a:t> matches to endpoint. </a:t>
            </a:r>
            <a:r>
              <a:rPr lang="en-US" sz="1400" dirty="0" err="1"/>
              <a:t>UseAuthentication</a:t>
            </a:r>
            <a:r>
              <a:rPr lang="en-US" sz="1400" dirty="0"/>
              <a:t> checks login. </a:t>
            </a:r>
            <a:r>
              <a:rPr lang="en-US" sz="1400" dirty="0" err="1"/>
              <a:t>UseAuthorization</a:t>
            </a:r>
            <a:r>
              <a:rPr lang="en-US" sz="1400" dirty="0"/>
              <a:t> checks permission.</a:t>
            </a:r>
          </a:p>
          <a:p>
            <a:pPr lvl="0"/>
            <a:r>
              <a:rPr lang="en-US" sz="1400" dirty="0"/>
              <a:t>Each middleware is pluggable. If exception handler catches exception, stops there.</a:t>
            </a:r>
          </a:p>
          <a:p>
            <a:pPr lvl="0"/>
            <a:r>
              <a:rPr lang="en-US" sz="1400" dirty="0"/>
              <a:t>Dependency Injection: Register services at startup. DI provides them to endpoints. Same pattern as console, just formalized.</a:t>
            </a:r>
          </a:p>
          <a:p>
            <a:pPr lvl="0"/>
            <a:r>
              <a:rPr lang="en-US" sz="1400" dirty="0"/>
              <a:t>Minimal API pattern: One endpoint per function. DI injects automatically.</a:t>
            </a:r>
          </a:p>
          <a:p>
            <a:pPr lvl="0"/>
            <a:r>
              <a:rPr lang="en-US" sz="1400" dirty="0"/>
              <a:t>No controller classes needed for simple APIs.</a:t>
            </a:r>
          </a:p>
          <a:p>
            <a:pPr lvl="0"/>
            <a:r>
              <a:rPr lang="en-US" sz="1400" dirty="0"/>
              <a:t>Swagger (</a:t>
            </a:r>
            <a:r>
              <a:rPr lang="en-US" sz="1400" dirty="0" err="1"/>
              <a:t>OpenAPI</a:t>
            </a:r>
            <a:r>
              <a:rPr lang="en-US" sz="1400" dirty="0"/>
              <a:t>): Auto-generates interactive docs. Test every endpoint in browser.</a:t>
            </a:r>
          </a:p>
          <a:p>
            <a:pPr lvl="0"/>
            <a:endParaRPr lang="en-US" sz="1400"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400" dirty="0"/>
              <a:t>Create builder: var builder = </a:t>
            </a:r>
            <a:r>
              <a:rPr lang="en-US" sz="1400" dirty="0" err="1"/>
              <a:t>WebApplication.CreateBuilder</a:t>
            </a:r>
            <a:r>
              <a:rPr lang="en-US" sz="1400" dirty="0"/>
              <a:t>(</a:t>
            </a:r>
            <a:r>
              <a:rPr lang="en-US" sz="1400" dirty="0" err="1"/>
              <a:t>args</a:t>
            </a:r>
            <a:r>
              <a:rPr lang="en-US" sz="1400" dirty="0"/>
              <a:t>);</a:t>
            </a:r>
          </a:p>
          <a:p>
            <a:pPr lvl="0"/>
            <a:r>
              <a:rPr lang="en-US" sz="1400" dirty="0"/>
              <a:t>Register services: </a:t>
            </a:r>
            <a:r>
              <a:rPr lang="en-US" sz="1400" dirty="0" err="1"/>
              <a:t>AddSingleton</a:t>
            </a:r>
            <a:r>
              <a:rPr lang="en-US" sz="1400" dirty="0"/>
              <a:t> (create once, reuse), </a:t>
            </a:r>
            <a:r>
              <a:rPr lang="en-US" sz="1400" dirty="0" err="1"/>
              <a:t>AddScoped</a:t>
            </a:r>
            <a:r>
              <a:rPr lang="en-US" sz="1400" dirty="0"/>
              <a:t> (per request), </a:t>
            </a:r>
            <a:r>
              <a:rPr lang="en-US" sz="1400" dirty="0" err="1"/>
              <a:t>AddTransient</a:t>
            </a:r>
            <a:r>
              <a:rPr lang="en-US" sz="1400" dirty="0"/>
              <a:t> (every time).</a:t>
            </a:r>
          </a:p>
          <a:p>
            <a:pPr lvl="0"/>
            <a:r>
              <a:rPr lang="en-US" sz="1400" dirty="0"/>
              <a:t>Build middleware: var app = </a:t>
            </a:r>
            <a:r>
              <a:rPr lang="en-US" sz="1400" dirty="0" err="1"/>
              <a:t>builder.Build</a:t>
            </a:r>
            <a:r>
              <a:rPr lang="en-US" sz="1400" dirty="0"/>
              <a:t>(); </a:t>
            </a:r>
            <a:r>
              <a:rPr lang="en-US" sz="1400" dirty="0" err="1"/>
              <a:t>app.UseExceptionHandler</a:t>
            </a:r>
            <a:r>
              <a:rPr lang="en-US" sz="1400" dirty="0"/>
              <a:t>(); </a:t>
            </a:r>
            <a:r>
              <a:rPr lang="en-US" sz="1400" dirty="0" err="1"/>
              <a:t>app.UseSwagger</a:t>
            </a:r>
            <a:r>
              <a:rPr lang="en-US" sz="1400" dirty="0"/>
              <a:t>(); </a:t>
            </a:r>
            <a:r>
              <a:rPr lang="en-US" sz="1400" dirty="0" err="1"/>
              <a:t>app.UseSwaggerUI</a:t>
            </a:r>
            <a:r>
              <a:rPr lang="en-US" sz="1400" dirty="0"/>
              <a:t>();</a:t>
            </a:r>
          </a:p>
          <a:p>
            <a:pPr lvl="0"/>
            <a:r>
              <a:rPr lang="en-US" sz="1400" dirty="0"/>
              <a:t>Define endpoints: var items = </a:t>
            </a:r>
            <a:r>
              <a:rPr lang="en-US" sz="1400" dirty="0" err="1"/>
              <a:t>app.MapGroup</a:t>
            </a:r>
            <a:r>
              <a:rPr lang="en-US" sz="1400" dirty="0"/>
              <a:t>('/</a:t>
            </a:r>
            <a:r>
              <a:rPr lang="en-US" sz="1400" dirty="0" err="1"/>
              <a:t>api</a:t>
            </a:r>
            <a:r>
              <a:rPr lang="en-US" sz="1400" dirty="0"/>
              <a:t>/items'); </a:t>
            </a:r>
            <a:r>
              <a:rPr lang="en-US" sz="1400" dirty="0" err="1"/>
              <a:t>items.MapGet</a:t>
            </a:r>
            <a:r>
              <a:rPr lang="en-US" sz="1400" dirty="0"/>
              <a:t>('/'); </a:t>
            </a:r>
            <a:r>
              <a:rPr lang="en-US" sz="1400" dirty="0" err="1"/>
              <a:t>items.MapPost</a:t>
            </a:r>
            <a:r>
              <a:rPr lang="en-US" sz="1400" dirty="0"/>
              <a:t>('/{barcode}/checkout');</a:t>
            </a:r>
          </a:p>
          <a:p>
            <a:pPr lvl="0"/>
            <a:r>
              <a:rPr lang="en-US" sz="1400" dirty="0"/>
              <a:t>Three lines per endpoint. Super clean. DI handles wiring. Exceptions caught in middleware.</a:t>
            </a:r>
          </a:p>
          <a:p>
            <a:pPr lvl="0"/>
            <a:r>
              <a:rPr lang="en-US" sz="1400" dirty="0"/>
              <a:t>Key insight: </a:t>
            </a:r>
            <a:r>
              <a:rPr lang="en-US" sz="1400" dirty="0" err="1"/>
              <a:t>CheckoutService</a:t>
            </a:r>
            <a:r>
              <a:rPr lang="en-US" sz="1400" dirty="0"/>
              <a:t> injected automatically. </a:t>
            </a:r>
            <a:r>
              <a:rPr lang="en-US" sz="1400" dirty="0" err="1"/>
              <a:t>Results.Ok</a:t>
            </a:r>
            <a:r>
              <a:rPr lang="en-US" sz="1400" dirty="0"/>
              <a:t>() for success, </a:t>
            </a:r>
            <a:r>
              <a:rPr lang="en-US" sz="1400" dirty="0" err="1"/>
              <a:t>Results.NotFound</a:t>
            </a:r>
            <a:r>
              <a:rPr lang="en-US" sz="1400" dirty="0"/>
              <a:t>() for 404.</a:t>
            </a:r>
          </a:p>
          <a:p>
            <a:pPr lvl="0"/>
            <a:endParaRPr lang="en-US" sz="1400"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400" dirty="0"/>
              <a:t>The mapping: Exceptions map to HTTP status codes in ONE place—the middleware.</a:t>
            </a:r>
          </a:p>
          <a:p>
            <a:pPr lvl="0"/>
            <a:r>
              <a:rPr lang="en-US" sz="1400" dirty="0" err="1"/>
              <a:t>LibraryExceptionHandler</a:t>
            </a:r>
            <a:r>
              <a:rPr lang="en-US" sz="1400" dirty="0"/>
              <a:t> switch statement: </a:t>
            </a:r>
            <a:r>
              <a:rPr lang="en-US" sz="1400" dirty="0" err="1"/>
              <a:t>ItemNotFoundException</a:t>
            </a:r>
            <a:r>
              <a:rPr lang="en-US" sz="1400" dirty="0"/>
              <a:t> → 404, </a:t>
            </a:r>
            <a:r>
              <a:rPr lang="en-US" sz="1400" dirty="0" err="1"/>
              <a:t>ItemUnavailableException</a:t>
            </a:r>
            <a:r>
              <a:rPr lang="en-US" sz="1400" dirty="0"/>
              <a:t> → 409, </a:t>
            </a:r>
            <a:r>
              <a:rPr lang="en-US" sz="1400" dirty="0" err="1"/>
              <a:t>ArgumentException</a:t>
            </a:r>
            <a:r>
              <a:rPr lang="en-US" sz="1400" dirty="0"/>
              <a:t> → 400.</a:t>
            </a:r>
          </a:p>
          <a:p>
            <a:pPr lvl="0"/>
            <a:r>
              <a:rPr lang="en-US" sz="1400" dirty="0"/>
              <a:t>How it works: Request in, endpoint runs, throws exception, middleware catches it, maps to HTTP, returns JSON. Endpoint doesn't catch anything.</a:t>
            </a:r>
          </a:p>
          <a:p>
            <a:pPr lvl="0"/>
            <a:r>
              <a:rPr lang="en-US" sz="1400" dirty="0"/>
              <a:t>Real responses: GET /</a:t>
            </a:r>
            <a:r>
              <a:rPr lang="en-US" sz="1400" dirty="0" err="1"/>
              <a:t>api</a:t>
            </a:r>
            <a:r>
              <a:rPr lang="en-US" sz="1400" dirty="0"/>
              <a:t>/items/INVALID-123 returns HTTP 404 with JSON. POST checkout (already out) returns HTTP 409.</a:t>
            </a:r>
          </a:p>
          <a:p>
            <a:pPr lvl="0"/>
            <a:r>
              <a:rPr lang="en-US" sz="1400" dirty="0"/>
              <a:t>Architecture benefit: Change how exceptions map without touching service. Service is pure domain logic. HTTP stuff is in middleware.</a:t>
            </a:r>
          </a:p>
          <a:p>
            <a:pPr lvl="0"/>
            <a:endParaRPr lang="en-US" sz="1400"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400" dirty="0"/>
              <a:t>Why live-build: 20 min isn't enough for independent build. I'm typing live—you see workflow, decisions, debugging.</a:t>
            </a:r>
          </a:p>
          <a:p>
            <a:pPr lvl="0"/>
            <a:r>
              <a:rPr lang="en-US" sz="1400" dirty="0"/>
              <a:t>Step 1: Create API project. dotnet new </a:t>
            </a:r>
            <a:r>
              <a:rPr lang="en-US" sz="1400" dirty="0" err="1"/>
              <a:t>webapi</a:t>
            </a:r>
            <a:r>
              <a:rPr lang="en-US" sz="1400" dirty="0"/>
              <a:t> -n </a:t>
            </a:r>
            <a:r>
              <a:rPr lang="en-US" sz="1400" dirty="0" err="1"/>
              <a:t>DeweyLib.Api</a:t>
            </a:r>
            <a:r>
              <a:rPr lang="en-US" sz="1400" dirty="0"/>
              <a:t> --use-minimal-</a:t>
            </a:r>
            <a:r>
              <a:rPr lang="en-US" sz="1400" dirty="0" err="1"/>
              <a:t>apis</a:t>
            </a:r>
            <a:endParaRPr lang="en-US" sz="1400" dirty="0"/>
          </a:p>
          <a:p>
            <a:pPr lvl="0"/>
            <a:r>
              <a:rPr lang="en-US" sz="1400" dirty="0"/>
              <a:t>Step 2: Reference Core. dotnet add reference ../</a:t>
            </a:r>
            <a:r>
              <a:rPr lang="en-US" sz="1400" dirty="0" err="1"/>
              <a:t>DeweyLib.Core</a:t>
            </a:r>
            <a:r>
              <a:rPr lang="en-US" sz="1400" dirty="0"/>
              <a:t>/</a:t>
            </a:r>
          </a:p>
          <a:p>
            <a:pPr lvl="0"/>
            <a:r>
              <a:rPr lang="en-US" sz="1400" dirty="0"/>
              <a:t>Step 3: Register services. </a:t>
            </a:r>
            <a:r>
              <a:rPr lang="en-US" sz="1400" dirty="0" err="1"/>
              <a:t>AddSingleton</a:t>
            </a:r>
            <a:r>
              <a:rPr lang="en-US" sz="1400" dirty="0"/>
              <a:t> repository and </a:t>
            </a:r>
            <a:r>
              <a:rPr lang="en-US" sz="1400" dirty="0" err="1"/>
              <a:t>CheckoutService</a:t>
            </a:r>
            <a:r>
              <a:rPr lang="en-US" sz="1400" dirty="0"/>
              <a:t>.</a:t>
            </a:r>
          </a:p>
          <a:p>
            <a:pPr lvl="0"/>
            <a:r>
              <a:rPr lang="en-US" sz="1400" dirty="0"/>
              <a:t>Step 4: Define endpoints. GET /</a:t>
            </a:r>
            <a:r>
              <a:rPr lang="en-US" sz="1400" dirty="0" err="1"/>
              <a:t>api</a:t>
            </a:r>
            <a:r>
              <a:rPr lang="en-US" sz="1400" dirty="0"/>
              <a:t>/items (list), POST /</a:t>
            </a:r>
            <a:r>
              <a:rPr lang="en-US" sz="1400" dirty="0" err="1"/>
              <a:t>api</a:t>
            </a:r>
            <a:r>
              <a:rPr lang="en-US" sz="1400" dirty="0"/>
              <a:t>/items/{barcode}/checkout.</a:t>
            </a:r>
          </a:p>
          <a:p>
            <a:pPr lvl="0"/>
            <a:r>
              <a:rPr lang="en-US" sz="1400" dirty="0"/>
              <a:t>Step 5: Test in Swagger. dotnet run, open https://localhost:5001/swagger.</a:t>
            </a:r>
          </a:p>
          <a:p>
            <a:pPr lvl="0"/>
            <a:r>
              <a:rPr lang="en-US" sz="1400" dirty="0"/>
              <a:t>Narration: No if-else for error codes. No HTTP in endpoints. Exception middleware handled it. This is professional.</a:t>
            </a:r>
          </a:p>
          <a:p>
            <a:pPr lvl="0"/>
            <a:endParaRPr lang="en-US" sz="1400"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endParaRPr lang="en-US" sz="1400"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endParaRPr lang="en-US" sz="1400"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endParaRPr lang="en-US" sz="1400"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548640" cy="5143500"/>
          </a:xfrm>
          <a:prstGeom prst="rect">
            <a:avLst/>
          </a:prstGeom>
          <a:solidFill>
            <a:srgbClr val="00C2CB"/>
          </a:solidFill>
          <a:ln w="12700">
            <a:solidFill>
              <a:srgbClr val="00C2CB"/>
            </a:solidFill>
            <a:prstDash val="solid"/>
          </a:ln>
        </p:spPr>
        <p:txBody>
          <a:bodyPr/>
          <a:lstStyle/>
          <a:p>
            <a:endParaRPr lang="en-US"/>
          </a:p>
        </p:txBody>
      </p:sp>
      <p:sp>
        <p:nvSpPr>
          <p:cNvPr id="3" name="Shape 1"/>
          <p:cNvSpPr/>
          <p:nvPr/>
        </p:nvSpPr>
        <p:spPr>
          <a:xfrm>
            <a:off x="548640" y="3291840"/>
            <a:ext cx="8595360" cy="54864"/>
          </a:xfrm>
          <a:prstGeom prst="rect">
            <a:avLst/>
          </a:prstGeom>
          <a:solidFill>
            <a:srgbClr val="00C2CB"/>
          </a:solidFill>
          <a:ln w="12700">
            <a:solidFill>
              <a:srgbClr val="00C2CB"/>
            </a:solidFill>
            <a:prstDash val="solid"/>
          </a:ln>
        </p:spPr>
        <p:txBody>
          <a:bodyPr/>
          <a:lstStyle/>
          <a:p>
            <a:endParaRPr lang="en-US"/>
          </a:p>
        </p:txBody>
      </p:sp>
      <p:sp>
        <p:nvSpPr>
          <p:cNvPr id="4" name="Text 2"/>
          <p:cNvSpPr/>
          <p:nvPr/>
        </p:nvSpPr>
        <p:spPr>
          <a:xfrm>
            <a:off x="822960" y="548640"/>
            <a:ext cx="7863840" cy="2377440"/>
          </a:xfrm>
          <a:prstGeom prst="rect">
            <a:avLst/>
          </a:prstGeom>
          <a:noFill/>
          <a:ln/>
        </p:spPr>
        <p:txBody>
          <a:bodyPr wrap="square" lIns="0" tIns="0" rIns="0" bIns="0" rtlCol="0" anchor="ctr"/>
          <a:lstStyle/>
          <a:p>
            <a:pPr marL="0" indent="0">
              <a:buNone/>
            </a:pPr>
            <a:r>
              <a:rPr lang="en-US" sz="4200" b="1" dirty="0">
                <a:solidFill>
                  <a:srgbClr val="FFFFFF"/>
                </a:solidFill>
                <a:latin typeface="Calibri" pitchFamily="34" charset="0"/>
                <a:ea typeface="Calibri" pitchFamily="34" charset="-122"/>
                <a:cs typeface="Calibri" pitchFamily="34" charset="-120"/>
              </a:rPr>
              <a:t>C# Fundamentals</a:t>
            </a:r>
            <a:endParaRPr lang="en-US" sz="4200" dirty="0"/>
          </a:p>
          <a:p>
            <a:pPr marL="0" indent="0">
              <a:buNone/>
            </a:pPr>
            <a:r>
              <a:rPr lang="en-US" sz="4200" b="1" dirty="0">
                <a:solidFill>
                  <a:srgbClr val="FFFFFF"/>
                </a:solidFill>
                <a:latin typeface="Calibri" pitchFamily="34" charset="0"/>
                <a:ea typeface="Calibri" pitchFamily="34" charset="-122"/>
                <a:cs typeface="Calibri" pitchFamily="34" charset="-120"/>
              </a:rPr>
              <a:t>&amp; Advanced Topics</a:t>
            </a:r>
            <a:endParaRPr lang="en-US" sz="4200" dirty="0"/>
          </a:p>
        </p:txBody>
      </p:sp>
      <p:sp>
        <p:nvSpPr>
          <p:cNvPr id="5" name="Text 3"/>
          <p:cNvSpPr/>
          <p:nvPr/>
        </p:nvSpPr>
        <p:spPr>
          <a:xfrm>
            <a:off x="822960" y="3474720"/>
            <a:ext cx="7772400" cy="502920"/>
          </a:xfrm>
          <a:prstGeom prst="rect">
            <a:avLst/>
          </a:prstGeom>
          <a:noFill/>
          <a:ln/>
        </p:spPr>
        <p:txBody>
          <a:bodyPr wrap="square" lIns="0" tIns="0" rIns="0" bIns="0" rtlCol="0" anchor="ctr"/>
          <a:lstStyle/>
          <a:p>
            <a:pPr marL="0" indent="0">
              <a:buNone/>
            </a:pPr>
            <a:r>
              <a:rPr lang="en-US" sz="1600" dirty="0">
                <a:solidFill>
                  <a:srgbClr val="B8D4E8"/>
                </a:solidFill>
                <a:latin typeface="Calibri" pitchFamily="34" charset="0"/>
                <a:ea typeface="Calibri" pitchFamily="34" charset="-122"/>
                <a:cs typeface="Calibri" pitchFamily="34" charset="-120"/>
              </a:rPr>
              <a:t>2-Day Remote Training  ·  8:00 AM – 11:30 AM  ·  via Microsoft Teams</a:t>
            </a:r>
            <a:endParaRPr lang="en-US" sz="1600" dirty="0"/>
          </a:p>
        </p:txBody>
      </p:sp>
      <p:sp>
        <p:nvSpPr>
          <p:cNvPr id="6" name="Text 4"/>
          <p:cNvSpPr/>
          <p:nvPr/>
        </p:nvSpPr>
        <p:spPr>
          <a:xfrm>
            <a:off x="822960" y="4069080"/>
            <a:ext cx="7772400" cy="347472"/>
          </a:xfrm>
          <a:prstGeom prst="rect">
            <a:avLst/>
          </a:prstGeom>
          <a:noFill/>
          <a:ln/>
        </p:spPr>
        <p:txBody>
          <a:bodyPr wrap="square" lIns="0" tIns="0" rIns="0" bIns="0" rtlCol="0" anchor="ctr"/>
          <a:lstStyle/>
          <a:p>
            <a:pPr marL="0" indent="0">
              <a:buNone/>
            </a:pPr>
            <a:r>
              <a:rPr lang="en-US" sz="1250" dirty="0">
                <a:solidFill>
                  <a:srgbClr val="6B93B0"/>
                </a:solidFill>
                <a:latin typeface="Calibri" pitchFamily="34" charset="0"/>
                <a:ea typeface="Calibri" pitchFamily="34" charset="-122"/>
                <a:cs typeface="Calibri" pitchFamily="34" charset="-120"/>
              </a:rPr>
              <a:t>Day 1: Introduction · C# Fundamentals · OOP Essentials</a:t>
            </a:r>
            <a:endParaRPr lang="en-US" sz="1250" dirty="0"/>
          </a:p>
        </p:txBody>
      </p:sp>
      <p:sp>
        <p:nvSpPr>
          <p:cNvPr id="7" name="Text 5"/>
          <p:cNvSpPr/>
          <p:nvPr/>
        </p:nvSpPr>
        <p:spPr>
          <a:xfrm>
            <a:off x="822960" y="4434840"/>
            <a:ext cx="7772400" cy="347472"/>
          </a:xfrm>
          <a:prstGeom prst="rect">
            <a:avLst/>
          </a:prstGeom>
          <a:noFill/>
          <a:ln/>
        </p:spPr>
        <p:txBody>
          <a:bodyPr wrap="square" lIns="0" tIns="0" rIns="0" bIns="0" rtlCol="0" anchor="ctr"/>
          <a:lstStyle/>
          <a:p>
            <a:pPr marL="0" indent="0">
              <a:buNone/>
            </a:pPr>
            <a:r>
              <a:rPr lang="en-US" sz="1250" dirty="0">
                <a:solidFill>
                  <a:srgbClr val="6B93B0"/>
                </a:solidFill>
                <a:latin typeface="Calibri" pitchFamily="34" charset="0"/>
                <a:ea typeface="Calibri" pitchFamily="34" charset="-122"/>
                <a:cs typeface="Calibri" pitchFamily="34" charset="-120"/>
              </a:rPr>
              <a:t>Day 2: Advanced Topics · Async · LINQ · Applications</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142952"/>
          </a:solidFill>
          <a:ln w="12700">
            <a:solidFill>
              <a:srgbClr val="142952"/>
            </a:solidFill>
            <a:prstDash val="solid"/>
          </a:ln>
        </p:spPr>
        <p:txBody>
          <a:bodyPr/>
          <a:lstStyle/>
          <a:p>
            <a:endParaRPr lang="en-US"/>
          </a:p>
        </p:txBody>
      </p:sp>
      <p:sp>
        <p:nvSpPr>
          <p:cNvPr id="3" name="Shape 1"/>
          <p:cNvSpPr/>
          <p:nvPr/>
        </p:nvSpPr>
        <p:spPr>
          <a:xfrm>
            <a:off x="0" y="713232"/>
            <a:ext cx="9144000" cy="45720"/>
          </a:xfrm>
          <a:prstGeom prst="rect">
            <a:avLst/>
          </a:prstGeom>
          <a:solidFill>
            <a:srgbClr val="00C2CB"/>
          </a:solidFill>
          <a:ln w="12700">
            <a:solidFill>
              <a:srgbClr val="00C2CB"/>
            </a:solidFill>
            <a:prstDash val="solid"/>
          </a:ln>
        </p:spPr>
        <p:txBody>
          <a:bodyPr/>
          <a:lstStyle/>
          <a:p>
            <a:endParaRPr lang="en-US"/>
          </a:p>
        </p:txBody>
      </p:sp>
      <p:sp>
        <p:nvSpPr>
          <p:cNvPr id="4" name="Text 2"/>
          <p:cNvSpPr/>
          <p:nvPr/>
        </p:nvSpPr>
        <p:spPr>
          <a:xfrm>
            <a:off x="365760" y="91440"/>
            <a:ext cx="8412480" cy="548640"/>
          </a:xfrm>
          <a:prstGeom prst="rect">
            <a:avLst/>
          </a:prstGeom>
          <a:noFill/>
          <a:ln/>
        </p:spPr>
        <p:txBody>
          <a:bodyPr wrap="square" lIns="0" tIns="0" rIns="0" bIns="0"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How This Remote Class Works</a:t>
            </a:r>
            <a:endParaRPr lang="en-US" sz="2100" dirty="0"/>
          </a:p>
        </p:txBody>
      </p:sp>
      <p:sp>
        <p:nvSpPr>
          <p:cNvPr id="5" name="Shape 3"/>
          <p:cNvSpPr/>
          <p:nvPr/>
        </p:nvSpPr>
        <p:spPr>
          <a:xfrm>
            <a:off x="274320" y="914400"/>
            <a:ext cx="2834640" cy="1143000"/>
          </a:xfrm>
          <a:prstGeom prst="rect">
            <a:avLst/>
          </a:prstGeom>
          <a:solidFill>
            <a:srgbClr val="142952"/>
          </a:solidFill>
          <a:ln w="19050">
            <a:solidFill>
              <a:srgbClr val="00C2CB">
                <a:alpha val="40000"/>
              </a:srgbClr>
            </a:solidFill>
            <a:prstDash val="solid"/>
          </a:ln>
          <a:effectLst>
            <a:outerShdw blurRad="63500" dist="25400" dir="8100000" algn="bl" rotWithShape="0">
              <a:srgbClr val="000000">
                <a:alpha val="18000"/>
              </a:srgbClr>
            </a:outerShdw>
          </a:effectLst>
        </p:spPr>
        <p:txBody>
          <a:bodyPr/>
          <a:lstStyle/>
          <a:p>
            <a:endParaRPr lang="en-US"/>
          </a:p>
        </p:txBody>
      </p:sp>
      <p:sp>
        <p:nvSpPr>
          <p:cNvPr id="6" name="Text 4"/>
          <p:cNvSpPr/>
          <p:nvPr/>
        </p:nvSpPr>
        <p:spPr>
          <a:xfrm>
            <a:off x="365760" y="987552"/>
            <a:ext cx="2651760" cy="274320"/>
          </a:xfrm>
          <a:prstGeom prst="rect">
            <a:avLst/>
          </a:prstGeom>
          <a:noFill/>
          <a:ln/>
        </p:spPr>
        <p:txBody>
          <a:bodyPr wrap="square" lIns="0" tIns="0" rIns="0" bIns="0" rtlCol="0" anchor="ctr"/>
          <a:lstStyle/>
          <a:p>
            <a:pPr marL="0" indent="0">
              <a:buNone/>
            </a:pPr>
            <a:r>
              <a:rPr lang="en-US" sz="1150" b="1" dirty="0">
                <a:solidFill>
                  <a:srgbClr val="00C2CB"/>
                </a:solidFill>
                <a:latin typeface="Calibri" pitchFamily="34" charset="0"/>
                <a:ea typeface="Calibri" pitchFamily="34" charset="-122"/>
                <a:cs typeface="Calibri" pitchFamily="34" charset="-120"/>
              </a:rPr>
              <a:t>📹  Camera On</a:t>
            </a:r>
            <a:endParaRPr lang="en-US" sz="1150" dirty="0"/>
          </a:p>
        </p:txBody>
      </p:sp>
      <p:sp>
        <p:nvSpPr>
          <p:cNvPr id="7" name="Text 5"/>
          <p:cNvSpPr/>
          <p:nvPr/>
        </p:nvSpPr>
        <p:spPr>
          <a:xfrm>
            <a:off x="365760" y="1280160"/>
            <a:ext cx="2651760" cy="713232"/>
          </a:xfrm>
          <a:prstGeom prst="rect">
            <a:avLst/>
          </a:prstGeom>
          <a:noFill/>
          <a:ln/>
        </p:spPr>
        <p:txBody>
          <a:bodyPr wrap="square" lIns="0" tIns="0" rIns="0" bIns="0" rtlCol="0" anchor="t"/>
          <a:lstStyle/>
          <a:p>
            <a:pPr marL="0" indent="0">
              <a:buNone/>
            </a:pPr>
            <a:r>
              <a:rPr lang="en-US" sz="1050" dirty="0">
                <a:solidFill>
                  <a:srgbClr val="B8D4E8"/>
                </a:solidFill>
                <a:latin typeface="Calibri" pitchFamily="34" charset="0"/>
                <a:ea typeface="Calibri" pitchFamily="34" charset="-122"/>
                <a:cs typeface="Calibri" pitchFamily="34" charset="-120"/>
              </a:rPr>
              <a:t>Keep camera on when possible — it keeps energy up and lets the instructor gauge understanding</a:t>
            </a:r>
            <a:endParaRPr lang="en-US" sz="1050" dirty="0"/>
          </a:p>
        </p:txBody>
      </p:sp>
      <p:sp>
        <p:nvSpPr>
          <p:cNvPr id="8" name="Shape 6"/>
          <p:cNvSpPr/>
          <p:nvPr/>
        </p:nvSpPr>
        <p:spPr>
          <a:xfrm>
            <a:off x="3218688" y="914400"/>
            <a:ext cx="2834640" cy="1143000"/>
          </a:xfrm>
          <a:prstGeom prst="rect">
            <a:avLst/>
          </a:prstGeom>
          <a:solidFill>
            <a:srgbClr val="142952"/>
          </a:solidFill>
          <a:ln w="19050">
            <a:solidFill>
              <a:srgbClr val="F59E0B">
                <a:alpha val="40000"/>
              </a:srgbClr>
            </a:solidFill>
            <a:prstDash val="solid"/>
          </a:ln>
          <a:effectLst>
            <a:outerShdw blurRad="63500" dist="25400" dir="8100000" algn="bl" rotWithShape="0">
              <a:srgbClr val="000000">
                <a:alpha val="18000"/>
              </a:srgbClr>
            </a:outerShdw>
          </a:effectLst>
        </p:spPr>
        <p:txBody>
          <a:bodyPr/>
          <a:lstStyle/>
          <a:p>
            <a:endParaRPr lang="en-US"/>
          </a:p>
        </p:txBody>
      </p:sp>
      <p:sp>
        <p:nvSpPr>
          <p:cNvPr id="9" name="Text 7"/>
          <p:cNvSpPr/>
          <p:nvPr/>
        </p:nvSpPr>
        <p:spPr>
          <a:xfrm>
            <a:off x="3310128" y="987552"/>
            <a:ext cx="2651760" cy="274320"/>
          </a:xfrm>
          <a:prstGeom prst="rect">
            <a:avLst/>
          </a:prstGeom>
          <a:noFill/>
          <a:ln/>
        </p:spPr>
        <p:txBody>
          <a:bodyPr wrap="square" lIns="0" tIns="0" rIns="0" bIns="0" rtlCol="0" anchor="ctr"/>
          <a:lstStyle/>
          <a:p>
            <a:pPr marL="0" indent="0">
              <a:buNone/>
            </a:pPr>
            <a:r>
              <a:rPr lang="en-US" sz="1150" b="1" dirty="0">
                <a:solidFill>
                  <a:srgbClr val="F59E0B"/>
                </a:solidFill>
                <a:latin typeface="Calibri" pitchFamily="34" charset="0"/>
                <a:ea typeface="Calibri" pitchFamily="34" charset="-122"/>
                <a:cs typeface="Calibri" pitchFamily="34" charset="-120"/>
              </a:rPr>
              <a:t>🎙  Mic Etiquette</a:t>
            </a:r>
            <a:endParaRPr lang="en-US" sz="1150" dirty="0"/>
          </a:p>
        </p:txBody>
      </p:sp>
      <p:sp>
        <p:nvSpPr>
          <p:cNvPr id="10" name="Text 8"/>
          <p:cNvSpPr/>
          <p:nvPr/>
        </p:nvSpPr>
        <p:spPr>
          <a:xfrm>
            <a:off x="3310128" y="1280160"/>
            <a:ext cx="2651760" cy="713232"/>
          </a:xfrm>
          <a:prstGeom prst="rect">
            <a:avLst/>
          </a:prstGeom>
          <a:noFill/>
          <a:ln/>
        </p:spPr>
        <p:txBody>
          <a:bodyPr wrap="square" lIns="0" tIns="0" rIns="0" bIns="0" rtlCol="0" anchor="t"/>
          <a:lstStyle/>
          <a:p>
            <a:pPr marL="0" indent="0">
              <a:buNone/>
            </a:pPr>
            <a:r>
              <a:rPr lang="en-US" sz="1050" dirty="0">
                <a:solidFill>
                  <a:srgbClr val="B8D4E8"/>
                </a:solidFill>
                <a:latin typeface="Calibri" pitchFamily="34" charset="0"/>
                <a:ea typeface="Calibri" pitchFamily="34" charset="-122"/>
                <a:cs typeface="Calibri" pitchFamily="34" charset="-120"/>
              </a:rPr>
              <a:t>Mute when not speaking. Use the Raise Hand button or type in chat to ask questions anytime</a:t>
            </a:r>
            <a:endParaRPr lang="en-US" sz="1050" dirty="0"/>
          </a:p>
        </p:txBody>
      </p:sp>
      <p:sp>
        <p:nvSpPr>
          <p:cNvPr id="11" name="Shape 9"/>
          <p:cNvSpPr/>
          <p:nvPr/>
        </p:nvSpPr>
        <p:spPr>
          <a:xfrm>
            <a:off x="6163056" y="914400"/>
            <a:ext cx="2834640" cy="1143000"/>
          </a:xfrm>
          <a:prstGeom prst="rect">
            <a:avLst/>
          </a:prstGeom>
          <a:solidFill>
            <a:srgbClr val="142952"/>
          </a:solidFill>
          <a:ln w="19050">
            <a:solidFill>
              <a:srgbClr val="10B981">
                <a:alpha val="40000"/>
              </a:srgbClr>
            </a:solidFill>
            <a:prstDash val="solid"/>
          </a:ln>
          <a:effectLst>
            <a:outerShdw blurRad="63500" dist="25400" dir="8100000" algn="bl" rotWithShape="0">
              <a:srgbClr val="000000">
                <a:alpha val="18000"/>
              </a:srgbClr>
            </a:outerShdw>
          </a:effectLst>
        </p:spPr>
        <p:txBody>
          <a:bodyPr/>
          <a:lstStyle/>
          <a:p>
            <a:endParaRPr lang="en-US"/>
          </a:p>
        </p:txBody>
      </p:sp>
      <p:sp>
        <p:nvSpPr>
          <p:cNvPr id="12" name="Text 10"/>
          <p:cNvSpPr/>
          <p:nvPr/>
        </p:nvSpPr>
        <p:spPr>
          <a:xfrm>
            <a:off x="6254496" y="987552"/>
            <a:ext cx="2651760" cy="274320"/>
          </a:xfrm>
          <a:prstGeom prst="rect">
            <a:avLst/>
          </a:prstGeom>
          <a:noFill/>
          <a:ln/>
        </p:spPr>
        <p:txBody>
          <a:bodyPr wrap="square" lIns="0" tIns="0" rIns="0" bIns="0" rtlCol="0" anchor="ctr"/>
          <a:lstStyle/>
          <a:p>
            <a:pPr marL="0" indent="0">
              <a:buNone/>
            </a:pPr>
            <a:r>
              <a:rPr lang="en-US" sz="1150" b="1" dirty="0">
                <a:solidFill>
                  <a:srgbClr val="10B981"/>
                </a:solidFill>
                <a:latin typeface="Calibri" pitchFamily="34" charset="0"/>
                <a:ea typeface="Calibri" pitchFamily="34" charset="-122"/>
                <a:cs typeface="Calibri" pitchFamily="34" charset="-120"/>
              </a:rPr>
              <a:t>💬  Chat is Active</a:t>
            </a:r>
            <a:endParaRPr lang="en-US" sz="1150" dirty="0"/>
          </a:p>
        </p:txBody>
      </p:sp>
      <p:sp>
        <p:nvSpPr>
          <p:cNvPr id="13" name="Text 11"/>
          <p:cNvSpPr/>
          <p:nvPr/>
        </p:nvSpPr>
        <p:spPr>
          <a:xfrm>
            <a:off x="6254496" y="1280160"/>
            <a:ext cx="2651760" cy="713232"/>
          </a:xfrm>
          <a:prstGeom prst="rect">
            <a:avLst/>
          </a:prstGeom>
          <a:noFill/>
          <a:ln/>
        </p:spPr>
        <p:txBody>
          <a:bodyPr wrap="square" lIns="0" tIns="0" rIns="0" bIns="0" rtlCol="0" anchor="t"/>
          <a:lstStyle/>
          <a:p>
            <a:pPr marL="0" indent="0">
              <a:buNone/>
            </a:pPr>
            <a:r>
              <a:rPr lang="en-US" sz="1050" dirty="0">
                <a:solidFill>
                  <a:srgbClr val="B8D4E8"/>
                </a:solidFill>
                <a:latin typeface="Calibri" pitchFamily="34" charset="0"/>
                <a:ea typeface="Calibri" pitchFamily="34" charset="-122"/>
                <a:cs typeface="Calibri" pitchFamily="34" charset="-120"/>
              </a:rPr>
              <a:t>Drop questions, +1s, and code snippets in Teams chat — your instructor monitors it throughout</a:t>
            </a:r>
            <a:endParaRPr lang="en-US" sz="1050" dirty="0"/>
          </a:p>
        </p:txBody>
      </p:sp>
      <p:sp>
        <p:nvSpPr>
          <p:cNvPr id="14" name="Shape 12"/>
          <p:cNvSpPr/>
          <p:nvPr/>
        </p:nvSpPr>
        <p:spPr>
          <a:xfrm>
            <a:off x="274320" y="2167128"/>
            <a:ext cx="2834640" cy="1143000"/>
          </a:xfrm>
          <a:prstGeom prst="rect">
            <a:avLst/>
          </a:prstGeom>
          <a:solidFill>
            <a:srgbClr val="142952"/>
          </a:solidFill>
          <a:ln w="19050">
            <a:solidFill>
              <a:srgbClr val="00C2CB">
                <a:alpha val="40000"/>
              </a:srgbClr>
            </a:solidFill>
            <a:prstDash val="solid"/>
          </a:ln>
          <a:effectLst>
            <a:outerShdw blurRad="63500" dist="25400" dir="8100000" algn="bl" rotWithShape="0">
              <a:srgbClr val="000000">
                <a:alpha val="18000"/>
              </a:srgbClr>
            </a:outerShdw>
          </a:effectLst>
        </p:spPr>
        <p:txBody>
          <a:bodyPr/>
          <a:lstStyle/>
          <a:p>
            <a:endParaRPr lang="en-US"/>
          </a:p>
        </p:txBody>
      </p:sp>
      <p:sp>
        <p:nvSpPr>
          <p:cNvPr id="15" name="Text 13"/>
          <p:cNvSpPr/>
          <p:nvPr/>
        </p:nvSpPr>
        <p:spPr>
          <a:xfrm>
            <a:off x="365760" y="2240280"/>
            <a:ext cx="2651760" cy="274320"/>
          </a:xfrm>
          <a:prstGeom prst="rect">
            <a:avLst/>
          </a:prstGeom>
          <a:noFill/>
          <a:ln/>
        </p:spPr>
        <p:txBody>
          <a:bodyPr wrap="square" lIns="0" tIns="0" rIns="0" bIns="0" rtlCol="0" anchor="ctr"/>
          <a:lstStyle/>
          <a:p>
            <a:pPr marL="0" indent="0">
              <a:buNone/>
            </a:pPr>
            <a:r>
              <a:rPr lang="en-US" sz="1150" b="1" dirty="0">
                <a:solidFill>
                  <a:srgbClr val="00C2CB"/>
                </a:solidFill>
                <a:latin typeface="Calibri" pitchFamily="34" charset="0"/>
                <a:ea typeface="Calibri" pitchFamily="34" charset="-122"/>
                <a:cs typeface="Calibri" pitchFamily="34" charset="-120"/>
              </a:rPr>
              <a:t>🧪  Labs in Breakouts</a:t>
            </a:r>
            <a:endParaRPr lang="en-US" sz="1150" dirty="0"/>
          </a:p>
        </p:txBody>
      </p:sp>
      <p:sp>
        <p:nvSpPr>
          <p:cNvPr id="16" name="Text 14"/>
          <p:cNvSpPr/>
          <p:nvPr/>
        </p:nvSpPr>
        <p:spPr>
          <a:xfrm>
            <a:off x="365760" y="2532888"/>
            <a:ext cx="2651760" cy="713232"/>
          </a:xfrm>
          <a:prstGeom prst="rect">
            <a:avLst/>
          </a:prstGeom>
          <a:noFill/>
          <a:ln/>
        </p:spPr>
        <p:txBody>
          <a:bodyPr wrap="square" lIns="0" tIns="0" rIns="0" bIns="0" rtlCol="0" anchor="t"/>
          <a:lstStyle/>
          <a:p>
            <a:pPr marL="0" indent="0">
              <a:buNone/>
            </a:pPr>
            <a:r>
              <a:rPr lang="en-US" sz="1050" dirty="0">
                <a:solidFill>
                  <a:srgbClr val="B8D4E8"/>
                </a:solidFill>
                <a:latin typeface="Calibri" pitchFamily="34" charset="0"/>
                <a:ea typeface="Calibri" pitchFamily="34" charset="-122"/>
                <a:cs typeface="Calibri" pitchFamily="34" charset="-120"/>
              </a:rPr>
              <a:t>Lab time uses Teams breakout rooms. Instructor rotates through; use 'Ask for Help' button</a:t>
            </a:r>
            <a:endParaRPr lang="en-US" sz="1050" dirty="0"/>
          </a:p>
        </p:txBody>
      </p:sp>
      <p:sp>
        <p:nvSpPr>
          <p:cNvPr id="17" name="Shape 15"/>
          <p:cNvSpPr/>
          <p:nvPr/>
        </p:nvSpPr>
        <p:spPr>
          <a:xfrm>
            <a:off x="3218688" y="2167128"/>
            <a:ext cx="2834640" cy="1143000"/>
          </a:xfrm>
          <a:prstGeom prst="rect">
            <a:avLst/>
          </a:prstGeom>
          <a:solidFill>
            <a:srgbClr val="142952"/>
          </a:solidFill>
          <a:ln w="19050">
            <a:solidFill>
              <a:srgbClr val="F59E0B">
                <a:alpha val="40000"/>
              </a:srgbClr>
            </a:solidFill>
            <a:prstDash val="solid"/>
          </a:ln>
          <a:effectLst>
            <a:outerShdw blurRad="63500" dist="25400" dir="8100000" algn="bl" rotWithShape="0">
              <a:srgbClr val="000000">
                <a:alpha val="18000"/>
              </a:srgbClr>
            </a:outerShdw>
          </a:effectLst>
        </p:spPr>
        <p:txBody>
          <a:bodyPr/>
          <a:lstStyle/>
          <a:p>
            <a:endParaRPr lang="en-US"/>
          </a:p>
        </p:txBody>
      </p:sp>
      <p:sp>
        <p:nvSpPr>
          <p:cNvPr id="18" name="Text 16"/>
          <p:cNvSpPr/>
          <p:nvPr/>
        </p:nvSpPr>
        <p:spPr>
          <a:xfrm>
            <a:off x="3310128" y="2240280"/>
            <a:ext cx="2651760" cy="274320"/>
          </a:xfrm>
          <a:prstGeom prst="rect">
            <a:avLst/>
          </a:prstGeom>
          <a:noFill/>
          <a:ln/>
        </p:spPr>
        <p:txBody>
          <a:bodyPr wrap="square" lIns="0" tIns="0" rIns="0" bIns="0" rtlCol="0" anchor="ctr"/>
          <a:lstStyle/>
          <a:p>
            <a:pPr marL="0" indent="0">
              <a:buNone/>
            </a:pPr>
            <a:r>
              <a:rPr lang="en-US" sz="1150" b="1" dirty="0">
                <a:solidFill>
                  <a:srgbClr val="F59E0B"/>
                </a:solidFill>
                <a:latin typeface="Calibri" pitchFamily="34" charset="0"/>
                <a:ea typeface="Calibri" pitchFamily="34" charset="-122"/>
                <a:cs typeface="Calibri" pitchFamily="34" charset="-120"/>
              </a:rPr>
              <a:t>⏸  Breaks Are Real</a:t>
            </a:r>
            <a:endParaRPr lang="en-US" sz="1150" dirty="0"/>
          </a:p>
        </p:txBody>
      </p:sp>
      <p:sp>
        <p:nvSpPr>
          <p:cNvPr id="19" name="Text 17"/>
          <p:cNvSpPr/>
          <p:nvPr/>
        </p:nvSpPr>
        <p:spPr>
          <a:xfrm>
            <a:off x="3310128" y="2532888"/>
            <a:ext cx="2651760" cy="713232"/>
          </a:xfrm>
          <a:prstGeom prst="rect">
            <a:avLst/>
          </a:prstGeom>
          <a:noFill/>
          <a:ln/>
        </p:spPr>
        <p:txBody>
          <a:bodyPr wrap="square" lIns="0" tIns="0" rIns="0" bIns="0" rtlCol="0" anchor="t"/>
          <a:lstStyle/>
          <a:p>
            <a:pPr marL="0" indent="0">
              <a:buNone/>
            </a:pPr>
            <a:r>
              <a:rPr lang="en-US" sz="1050" dirty="0">
                <a:solidFill>
                  <a:srgbClr val="B8D4E8"/>
                </a:solidFill>
                <a:latin typeface="Calibri" pitchFamily="34" charset="0"/>
                <a:ea typeface="Calibri" pitchFamily="34" charset="-122"/>
                <a:cs typeface="Calibri" pitchFamily="34" charset="-120"/>
              </a:rPr>
              <a:t>Step away fully during breaks — even a half day on screen adds up. Come back refreshed</a:t>
            </a:r>
            <a:endParaRPr lang="en-US" sz="1050" dirty="0"/>
          </a:p>
        </p:txBody>
      </p:sp>
      <p:sp>
        <p:nvSpPr>
          <p:cNvPr id="20" name="Shape 18"/>
          <p:cNvSpPr/>
          <p:nvPr/>
        </p:nvSpPr>
        <p:spPr>
          <a:xfrm>
            <a:off x="6163056" y="2167128"/>
            <a:ext cx="2834640" cy="1143000"/>
          </a:xfrm>
          <a:prstGeom prst="rect">
            <a:avLst/>
          </a:prstGeom>
          <a:solidFill>
            <a:srgbClr val="142952"/>
          </a:solidFill>
          <a:ln w="19050">
            <a:solidFill>
              <a:srgbClr val="10B981">
                <a:alpha val="40000"/>
              </a:srgbClr>
            </a:solidFill>
            <a:prstDash val="solid"/>
          </a:ln>
          <a:effectLst>
            <a:outerShdw blurRad="63500" dist="25400" dir="8100000" algn="bl" rotWithShape="0">
              <a:srgbClr val="000000">
                <a:alpha val="18000"/>
              </a:srgbClr>
            </a:outerShdw>
          </a:effectLst>
        </p:spPr>
        <p:txBody>
          <a:bodyPr/>
          <a:lstStyle/>
          <a:p>
            <a:endParaRPr lang="en-US"/>
          </a:p>
        </p:txBody>
      </p:sp>
      <p:sp>
        <p:nvSpPr>
          <p:cNvPr id="21" name="Text 19"/>
          <p:cNvSpPr/>
          <p:nvPr/>
        </p:nvSpPr>
        <p:spPr>
          <a:xfrm>
            <a:off x="6254496" y="2240280"/>
            <a:ext cx="2651760" cy="274320"/>
          </a:xfrm>
          <a:prstGeom prst="rect">
            <a:avLst/>
          </a:prstGeom>
          <a:noFill/>
          <a:ln/>
        </p:spPr>
        <p:txBody>
          <a:bodyPr wrap="square" lIns="0" tIns="0" rIns="0" bIns="0" rtlCol="0" anchor="ctr"/>
          <a:lstStyle/>
          <a:p>
            <a:pPr marL="0" indent="0">
              <a:buNone/>
            </a:pPr>
            <a:r>
              <a:rPr lang="en-US" sz="1150" b="1" dirty="0">
                <a:solidFill>
                  <a:srgbClr val="10B981"/>
                </a:solidFill>
                <a:latin typeface="Calibri" pitchFamily="34" charset="0"/>
                <a:ea typeface="Calibri" pitchFamily="34" charset="-122"/>
                <a:cs typeface="Calibri" pitchFamily="34" charset="-120"/>
              </a:rPr>
              <a:t>📁  Files Shared</a:t>
            </a:r>
            <a:endParaRPr lang="en-US" sz="1150" dirty="0"/>
          </a:p>
        </p:txBody>
      </p:sp>
      <p:sp>
        <p:nvSpPr>
          <p:cNvPr id="22" name="Text 20"/>
          <p:cNvSpPr/>
          <p:nvPr/>
        </p:nvSpPr>
        <p:spPr>
          <a:xfrm>
            <a:off x="6254496" y="2532888"/>
            <a:ext cx="2651760" cy="713232"/>
          </a:xfrm>
          <a:prstGeom prst="rect">
            <a:avLst/>
          </a:prstGeom>
          <a:noFill/>
          <a:ln/>
        </p:spPr>
        <p:txBody>
          <a:bodyPr wrap="square" lIns="0" tIns="0" rIns="0" bIns="0" rtlCol="0" anchor="t"/>
          <a:lstStyle/>
          <a:p>
            <a:pPr marL="0" indent="0">
              <a:buNone/>
            </a:pPr>
            <a:r>
              <a:rPr lang="en-US" sz="1050" dirty="0">
                <a:solidFill>
                  <a:srgbClr val="B8D4E8"/>
                </a:solidFill>
                <a:latin typeface="Calibri" pitchFamily="34" charset="0"/>
                <a:ea typeface="Calibri" pitchFamily="34" charset="-122"/>
                <a:cs typeface="Calibri" pitchFamily="34" charset="-120"/>
              </a:rPr>
              <a:t>All demo files, lab starters, and solution files are in the Teams channel Files tab</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142952"/>
          </a:solidFill>
          <a:ln w="12700">
            <a:solidFill>
              <a:srgbClr val="142952"/>
            </a:solidFill>
            <a:prstDash val="solid"/>
          </a:ln>
        </p:spPr>
        <p:txBody>
          <a:bodyPr/>
          <a:lstStyle/>
          <a:p>
            <a:endParaRPr lang="en-US"/>
          </a:p>
        </p:txBody>
      </p:sp>
      <p:sp>
        <p:nvSpPr>
          <p:cNvPr id="3" name="Shape 1"/>
          <p:cNvSpPr/>
          <p:nvPr/>
        </p:nvSpPr>
        <p:spPr>
          <a:xfrm>
            <a:off x="0" y="713232"/>
            <a:ext cx="9144000" cy="45720"/>
          </a:xfrm>
          <a:prstGeom prst="rect">
            <a:avLst/>
          </a:prstGeom>
          <a:solidFill>
            <a:srgbClr val="10B981"/>
          </a:solidFill>
          <a:ln w="12700">
            <a:solidFill>
              <a:srgbClr val="10B981"/>
            </a:solidFill>
            <a:prstDash val="solid"/>
          </a:ln>
        </p:spPr>
        <p:txBody>
          <a:bodyPr/>
          <a:lstStyle/>
          <a:p>
            <a:endParaRPr lang="en-US"/>
          </a:p>
        </p:txBody>
      </p:sp>
      <p:sp>
        <p:nvSpPr>
          <p:cNvPr id="4" name="Text 2"/>
          <p:cNvSpPr/>
          <p:nvPr/>
        </p:nvSpPr>
        <p:spPr>
          <a:xfrm>
            <a:off x="365760" y="91440"/>
            <a:ext cx="8412480" cy="548640"/>
          </a:xfrm>
          <a:prstGeom prst="rect">
            <a:avLst/>
          </a:prstGeom>
          <a:noFill/>
          <a:ln/>
        </p:spPr>
        <p:txBody>
          <a:bodyPr wrap="square" lIns="0" tIns="0" rIns="0" bIns="0"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  Pre-Class Setup Checklist</a:t>
            </a:r>
            <a:endParaRPr lang="en-US" sz="2100" dirty="0"/>
          </a:p>
        </p:txBody>
      </p:sp>
      <p:sp>
        <p:nvSpPr>
          <p:cNvPr id="5" name="Shape 3"/>
          <p:cNvSpPr/>
          <p:nvPr/>
        </p:nvSpPr>
        <p:spPr>
          <a:xfrm>
            <a:off x="274320" y="914400"/>
            <a:ext cx="8595360" cy="685800"/>
          </a:xfrm>
          <a:prstGeom prst="rect">
            <a:avLst/>
          </a:prstGeom>
          <a:solidFill>
            <a:srgbClr val="142952"/>
          </a:solidFill>
          <a:ln w="12700">
            <a:solidFill>
              <a:srgbClr val="142952"/>
            </a:solidFill>
            <a:prstDash val="solid"/>
          </a:ln>
        </p:spPr>
        <p:txBody>
          <a:bodyPr/>
          <a:lstStyle/>
          <a:p>
            <a:endParaRPr lang="en-US"/>
          </a:p>
        </p:txBody>
      </p:sp>
      <p:sp>
        <p:nvSpPr>
          <p:cNvPr id="6" name="Text 4"/>
          <p:cNvSpPr/>
          <p:nvPr/>
        </p:nvSpPr>
        <p:spPr>
          <a:xfrm>
            <a:off x="457200" y="969264"/>
            <a:ext cx="4572000" cy="2743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  .NET 10 SDK installed</a:t>
            </a:r>
            <a:endParaRPr lang="en-US" sz="1300" dirty="0"/>
          </a:p>
        </p:txBody>
      </p:sp>
      <p:sp>
        <p:nvSpPr>
          <p:cNvPr id="7" name="Text 5"/>
          <p:cNvSpPr/>
          <p:nvPr/>
        </p:nvSpPr>
        <p:spPr>
          <a:xfrm>
            <a:off x="457200" y="1252728"/>
            <a:ext cx="8229600" cy="274320"/>
          </a:xfrm>
          <a:prstGeom prst="rect">
            <a:avLst/>
          </a:prstGeom>
          <a:noFill/>
          <a:ln/>
        </p:spPr>
        <p:txBody>
          <a:bodyPr wrap="square" lIns="0" tIns="0" rIns="0" bIns="0" rtlCol="0" anchor="ctr"/>
          <a:lstStyle/>
          <a:p>
            <a:pPr marL="0" indent="0">
              <a:buNone/>
            </a:pPr>
            <a:r>
              <a:rPr lang="en-US" sz="1150" dirty="0">
                <a:solidFill>
                  <a:srgbClr val="6B93B0"/>
                </a:solidFill>
                <a:latin typeface="Calibri" pitchFamily="34" charset="0"/>
                <a:ea typeface="Calibri" pitchFamily="34" charset="-122"/>
                <a:cs typeface="Calibri" pitchFamily="34" charset="-120"/>
              </a:rPr>
              <a:t>Run:  dotnet --version  →  should show 10.x.x</a:t>
            </a:r>
            <a:endParaRPr lang="en-US" sz="1150" dirty="0"/>
          </a:p>
        </p:txBody>
      </p:sp>
      <p:sp>
        <p:nvSpPr>
          <p:cNvPr id="8" name="Shape 6"/>
          <p:cNvSpPr/>
          <p:nvPr/>
        </p:nvSpPr>
        <p:spPr>
          <a:xfrm>
            <a:off x="274320" y="1709928"/>
            <a:ext cx="8595360" cy="685800"/>
          </a:xfrm>
          <a:prstGeom prst="rect">
            <a:avLst/>
          </a:prstGeom>
          <a:solidFill>
            <a:srgbClr val="0F2040"/>
          </a:solidFill>
          <a:ln w="12700">
            <a:solidFill>
              <a:srgbClr val="142952"/>
            </a:solidFill>
            <a:prstDash val="solid"/>
          </a:ln>
        </p:spPr>
        <p:txBody>
          <a:bodyPr/>
          <a:lstStyle/>
          <a:p>
            <a:endParaRPr lang="en-US"/>
          </a:p>
        </p:txBody>
      </p:sp>
      <p:sp>
        <p:nvSpPr>
          <p:cNvPr id="9" name="Text 7"/>
          <p:cNvSpPr/>
          <p:nvPr/>
        </p:nvSpPr>
        <p:spPr>
          <a:xfrm>
            <a:off x="457200" y="1764792"/>
            <a:ext cx="4572000" cy="2743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  Editor ready</a:t>
            </a:r>
            <a:endParaRPr lang="en-US" sz="1300" dirty="0"/>
          </a:p>
        </p:txBody>
      </p:sp>
      <p:sp>
        <p:nvSpPr>
          <p:cNvPr id="10" name="Text 8"/>
          <p:cNvSpPr/>
          <p:nvPr/>
        </p:nvSpPr>
        <p:spPr>
          <a:xfrm>
            <a:off x="457200" y="2048256"/>
            <a:ext cx="8229600" cy="274320"/>
          </a:xfrm>
          <a:prstGeom prst="rect">
            <a:avLst/>
          </a:prstGeom>
          <a:noFill/>
          <a:ln/>
        </p:spPr>
        <p:txBody>
          <a:bodyPr wrap="square" lIns="0" tIns="0" rIns="0" bIns="0" rtlCol="0" anchor="ctr"/>
          <a:lstStyle/>
          <a:p>
            <a:pPr marL="0" indent="0">
              <a:buNone/>
            </a:pPr>
            <a:r>
              <a:rPr lang="en-US" sz="1150" dirty="0">
                <a:solidFill>
                  <a:srgbClr val="6B93B0"/>
                </a:solidFill>
                <a:latin typeface="Calibri" pitchFamily="34" charset="0"/>
                <a:ea typeface="Calibri" pitchFamily="34" charset="-122"/>
                <a:cs typeface="Calibri" pitchFamily="34" charset="-120"/>
              </a:rPr>
              <a:t>VS Code + C# Dev Kit (recommended)  ·  Visual Studio 2026 Community  ·  VS 2022 v17.14+ works with a warning</a:t>
            </a:r>
            <a:endParaRPr lang="en-US" sz="1150" dirty="0"/>
          </a:p>
        </p:txBody>
      </p:sp>
      <p:sp>
        <p:nvSpPr>
          <p:cNvPr id="11" name="Shape 9"/>
          <p:cNvSpPr/>
          <p:nvPr/>
        </p:nvSpPr>
        <p:spPr>
          <a:xfrm>
            <a:off x="274320" y="2505456"/>
            <a:ext cx="8595360" cy="685800"/>
          </a:xfrm>
          <a:prstGeom prst="rect">
            <a:avLst/>
          </a:prstGeom>
          <a:solidFill>
            <a:srgbClr val="142952"/>
          </a:solidFill>
          <a:ln w="12700">
            <a:solidFill>
              <a:srgbClr val="142952"/>
            </a:solidFill>
            <a:prstDash val="solid"/>
          </a:ln>
        </p:spPr>
        <p:txBody>
          <a:bodyPr/>
          <a:lstStyle/>
          <a:p>
            <a:endParaRPr lang="en-US"/>
          </a:p>
        </p:txBody>
      </p:sp>
      <p:sp>
        <p:nvSpPr>
          <p:cNvPr id="12" name="Text 10"/>
          <p:cNvSpPr/>
          <p:nvPr/>
        </p:nvSpPr>
        <p:spPr>
          <a:xfrm>
            <a:off x="457200" y="2560320"/>
            <a:ext cx="4572000" cy="2743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  Lab files downloaded</a:t>
            </a:r>
            <a:endParaRPr lang="en-US" sz="1300" dirty="0"/>
          </a:p>
        </p:txBody>
      </p:sp>
      <p:sp>
        <p:nvSpPr>
          <p:cNvPr id="13" name="Text 11"/>
          <p:cNvSpPr/>
          <p:nvPr/>
        </p:nvSpPr>
        <p:spPr>
          <a:xfrm>
            <a:off x="457200" y="2843784"/>
            <a:ext cx="8229600" cy="274320"/>
          </a:xfrm>
          <a:prstGeom prst="rect">
            <a:avLst/>
          </a:prstGeom>
          <a:noFill/>
          <a:ln/>
        </p:spPr>
        <p:txBody>
          <a:bodyPr wrap="square" lIns="0" tIns="0" rIns="0" bIns="0" rtlCol="0" anchor="ctr"/>
          <a:lstStyle/>
          <a:p>
            <a:pPr marL="0" indent="0">
              <a:buNone/>
            </a:pPr>
            <a:r>
              <a:rPr lang="en-US" sz="1150" dirty="0">
                <a:solidFill>
                  <a:srgbClr val="6B93B0"/>
                </a:solidFill>
                <a:latin typeface="Calibri" pitchFamily="34" charset="0"/>
                <a:ea typeface="Calibri" pitchFamily="34" charset="-122"/>
                <a:cs typeface="Calibri" pitchFamily="34" charset="-120"/>
              </a:rPr>
              <a:t>From the Teams channel Files tab: LabFiles.zip → unzip to C:\Training</a:t>
            </a:r>
            <a:endParaRPr lang="en-US" sz="1150" dirty="0"/>
          </a:p>
        </p:txBody>
      </p:sp>
      <p:sp>
        <p:nvSpPr>
          <p:cNvPr id="14" name="Shape 12"/>
          <p:cNvSpPr/>
          <p:nvPr/>
        </p:nvSpPr>
        <p:spPr>
          <a:xfrm>
            <a:off x="274320" y="3300984"/>
            <a:ext cx="8595360" cy="685800"/>
          </a:xfrm>
          <a:prstGeom prst="rect">
            <a:avLst/>
          </a:prstGeom>
          <a:solidFill>
            <a:srgbClr val="0F2040"/>
          </a:solidFill>
          <a:ln w="12700">
            <a:solidFill>
              <a:srgbClr val="142952"/>
            </a:solidFill>
            <a:prstDash val="solid"/>
          </a:ln>
        </p:spPr>
        <p:txBody>
          <a:bodyPr/>
          <a:lstStyle/>
          <a:p>
            <a:endParaRPr lang="en-US"/>
          </a:p>
        </p:txBody>
      </p:sp>
      <p:sp>
        <p:nvSpPr>
          <p:cNvPr id="15" name="Text 13"/>
          <p:cNvSpPr/>
          <p:nvPr/>
        </p:nvSpPr>
        <p:spPr>
          <a:xfrm>
            <a:off x="457200" y="3355848"/>
            <a:ext cx="4572000" cy="2743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  Terminal/console works</a:t>
            </a:r>
            <a:endParaRPr lang="en-US" sz="1300" dirty="0"/>
          </a:p>
        </p:txBody>
      </p:sp>
      <p:sp>
        <p:nvSpPr>
          <p:cNvPr id="16" name="Text 14"/>
          <p:cNvSpPr/>
          <p:nvPr/>
        </p:nvSpPr>
        <p:spPr>
          <a:xfrm>
            <a:off x="457200" y="3639312"/>
            <a:ext cx="8229600" cy="274320"/>
          </a:xfrm>
          <a:prstGeom prst="rect">
            <a:avLst/>
          </a:prstGeom>
          <a:noFill/>
          <a:ln/>
        </p:spPr>
        <p:txBody>
          <a:bodyPr wrap="square" lIns="0" tIns="0" rIns="0" bIns="0" rtlCol="0" anchor="ctr"/>
          <a:lstStyle/>
          <a:p>
            <a:pPr marL="0" indent="0">
              <a:buNone/>
            </a:pPr>
            <a:r>
              <a:rPr lang="en-US" sz="1150" dirty="0">
                <a:solidFill>
                  <a:srgbClr val="6B93B0"/>
                </a:solidFill>
                <a:latin typeface="Calibri" pitchFamily="34" charset="0"/>
                <a:ea typeface="Calibri" pitchFamily="34" charset="-122"/>
                <a:cs typeface="Calibri" pitchFamily="34" charset="-120"/>
              </a:rPr>
              <a:t>Open a terminal and run:  dotnet new console -n Hello  →  dotnet run</a:t>
            </a:r>
            <a:endParaRPr lang="en-US" sz="1150" dirty="0"/>
          </a:p>
        </p:txBody>
      </p:sp>
      <p:sp>
        <p:nvSpPr>
          <p:cNvPr id="17" name="Shape 15"/>
          <p:cNvSpPr/>
          <p:nvPr/>
        </p:nvSpPr>
        <p:spPr>
          <a:xfrm>
            <a:off x="274320" y="4096512"/>
            <a:ext cx="8595360" cy="685800"/>
          </a:xfrm>
          <a:prstGeom prst="rect">
            <a:avLst/>
          </a:prstGeom>
          <a:solidFill>
            <a:srgbClr val="142952"/>
          </a:solidFill>
          <a:ln w="12700">
            <a:solidFill>
              <a:srgbClr val="142952"/>
            </a:solidFill>
            <a:prstDash val="solid"/>
          </a:ln>
        </p:spPr>
        <p:txBody>
          <a:bodyPr/>
          <a:lstStyle/>
          <a:p>
            <a:endParaRPr lang="en-US"/>
          </a:p>
        </p:txBody>
      </p:sp>
      <p:sp>
        <p:nvSpPr>
          <p:cNvPr id="18" name="Text 16"/>
          <p:cNvSpPr/>
          <p:nvPr/>
        </p:nvSpPr>
        <p:spPr>
          <a:xfrm>
            <a:off x="457200" y="4151376"/>
            <a:ext cx="4572000" cy="2743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  Teams screen share tested</a:t>
            </a:r>
            <a:endParaRPr lang="en-US" sz="1300" dirty="0"/>
          </a:p>
        </p:txBody>
      </p:sp>
      <p:sp>
        <p:nvSpPr>
          <p:cNvPr id="19" name="Text 17"/>
          <p:cNvSpPr/>
          <p:nvPr/>
        </p:nvSpPr>
        <p:spPr>
          <a:xfrm>
            <a:off x="457200" y="4434840"/>
            <a:ext cx="8229600" cy="274320"/>
          </a:xfrm>
          <a:prstGeom prst="rect">
            <a:avLst/>
          </a:prstGeom>
          <a:noFill/>
          <a:ln/>
        </p:spPr>
        <p:txBody>
          <a:bodyPr wrap="square" lIns="0" tIns="0" rIns="0" bIns="0" rtlCol="0" anchor="ctr"/>
          <a:lstStyle/>
          <a:p>
            <a:pPr marL="0" indent="0">
              <a:buNone/>
            </a:pPr>
            <a:r>
              <a:rPr lang="en-US" sz="1150" dirty="0">
                <a:solidFill>
                  <a:srgbClr val="6B93B0"/>
                </a:solidFill>
                <a:latin typeface="Calibri" pitchFamily="34" charset="0"/>
                <a:ea typeface="Calibri" pitchFamily="34" charset="-122"/>
                <a:cs typeface="Calibri" pitchFamily="34" charset="-120"/>
              </a:rPr>
              <a:t>Practice sharing your editor window — you'll need it during labs</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457200" cy="5143500"/>
          </a:xfrm>
          <a:prstGeom prst="rect">
            <a:avLst/>
          </a:prstGeom>
          <a:solidFill>
            <a:srgbClr val="00C2CB"/>
          </a:solidFill>
          <a:ln w="12700">
            <a:solidFill>
              <a:srgbClr val="00C2CB"/>
            </a:solidFill>
            <a:prstDash val="solid"/>
          </a:ln>
        </p:spPr>
        <p:txBody>
          <a:bodyPr/>
          <a:lstStyle/>
          <a:p>
            <a:endParaRPr lang="en-US"/>
          </a:p>
        </p:txBody>
      </p:sp>
      <p:sp>
        <p:nvSpPr>
          <p:cNvPr id="3" name="Shape 1"/>
          <p:cNvSpPr/>
          <p:nvPr/>
        </p:nvSpPr>
        <p:spPr>
          <a:xfrm>
            <a:off x="731520" y="457200"/>
            <a:ext cx="1828800" cy="438912"/>
          </a:xfrm>
          <a:prstGeom prst="rect">
            <a:avLst/>
          </a:prstGeom>
          <a:solidFill>
            <a:srgbClr val="00C2CB"/>
          </a:solidFill>
          <a:ln w="12700">
            <a:solidFill>
              <a:srgbClr val="00C2CB"/>
            </a:solidFill>
            <a:prstDash val="solid"/>
          </a:ln>
        </p:spPr>
        <p:txBody>
          <a:bodyPr/>
          <a:lstStyle/>
          <a:p>
            <a:endParaRPr lang="en-US"/>
          </a:p>
        </p:txBody>
      </p:sp>
      <p:sp>
        <p:nvSpPr>
          <p:cNvPr id="4" name="Text 2"/>
          <p:cNvSpPr/>
          <p:nvPr/>
        </p:nvSpPr>
        <p:spPr>
          <a:xfrm>
            <a:off x="731520" y="438912"/>
            <a:ext cx="1828800" cy="475488"/>
          </a:xfrm>
          <a:prstGeom prst="rect">
            <a:avLst/>
          </a:prstGeom>
          <a:noFill/>
          <a:ln/>
        </p:spPr>
        <p:txBody>
          <a:bodyPr wrap="square" lIns="0" tIns="0" rIns="0" bIns="0" rtlCol="0" anchor="ctr"/>
          <a:lstStyle/>
          <a:p>
            <a:pPr marL="0" indent="0" algn="ctr">
              <a:buNone/>
            </a:pPr>
            <a:r>
              <a:rPr lang="en-US" sz="1300" b="1" dirty="0">
                <a:solidFill>
                  <a:srgbClr val="0A1628"/>
                </a:solidFill>
                <a:latin typeface="Calibri" pitchFamily="34" charset="0"/>
                <a:ea typeface="Calibri" pitchFamily="34" charset="-122"/>
                <a:cs typeface="Calibri" pitchFamily="34" charset="-120"/>
              </a:rPr>
              <a:t>DAY 1  ·  3.5 HOURS</a:t>
            </a:r>
            <a:endParaRPr lang="en-US" sz="1300" dirty="0"/>
          </a:p>
        </p:txBody>
      </p:sp>
      <p:sp>
        <p:nvSpPr>
          <p:cNvPr id="5" name="Text 3"/>
          <p:cNvSpPr/>
          <p:nvPr/>
        </p:nvSpPr>
        <p:spPr>
          <a:xfrm>
            <a:off x="731520" y="1051560"/>
            <a:ext cx="8046720" cy="1828800"/>
          </a:xfrm>
          <a:prstGeom prst="rect">
            <a:avLst/>
          </a:prstGeom>
          <a:noFill/>
          <a:ln/>
        </p:spPr>
        <p:txBody>
          <a:bodyPr wrap="square" lIns="0" tIns="0" rIns="0" bIns="0" rtlCol="0" anchor="ctr"/>
          <a:lstStyle/>
          <a:p>
            <a:pPr marL="0" indent="0">
              <a:buNone/>
            </a:pPr>
            <a:r>
              <a:rPr lang="en-US" sz="3800" b="1" dirty="0">
                <a:solidFill>
                  <a:srgbClr val="FFFFFF"/>
                </a:solidFill>
                <a:latin typeface="Calibri" pitchFamily="34" charset="0"/>
                <a:ea typeface="Calibri" pitchFamily="34" charset="-122"/>
                <a:cs typeface="Calibri" pitchFamily="34" charset="-120"/>
              </a:rPr>
              <a:t>C# Foundations</a:t>
            </a:r>
            <a:endParaRPr lang="en-US" sz="3800" dirty="0"/>
          </a:p>
        </p:txBody>
      </p:sp>
      <p:sp>
        <p:nvSpPr>
          <p:cNvPr id="6" name="Text 4"/>
          <p:cNvSpPr/>
          <p:nvPr/>
        </p:nvSpPr>
        <p:spPr>
          <a:xfrm>
            <a:off x="731520" y="2926080"/>
            <a:ext cx="7315200" cy="731520"/>
          </a:xfrm>
          <a:prstGeom prst="rect">
            <a:avLst/>
          </a:prstGeom>
          <a:noFill/>
          <a:ln/>
        </p:spPr>
        <p:txBody>
          <a:bodyPr wrap="square" lIns="0" tIns="0" rIns="0" bIns="0" rtlCol="0" anchor="ctr"/>
          <a:lstStyle/>
          <a:p>
            <a:pPr marL="0" indent="0">
              <a:buNone/>
            </a:pPr>
            <a:r>
              <a:rPr lang="en-US" sz="1600" dirty="0">
                <a:solidFill>
                  <a:srgbClr val="B8D4E8"/>
                </a:solidFill>
                <a:latin typeface="Calibri" pitchFamily="34" charset="0"/>
                <a:ea typeface="Calibri" pitchFamily="34" charset="-122"/>
                <a:cs typeface="Calibri" pitchFamily="34" charset="-120"/>
              </a:rPr>
              <a:t>Introduction · Fundamentals · Object-Oriented Programming</a:t>
            </a:r>
            <a:endParaRPr lang="en-US" sz="1600" dirty="0"/>
          </a:p>
        </p:txBody>
      </p:sp>
      <p:sp>
        <p:nvSpPr>
          <p:cNvPr id="7" name="Text 5"/>
          <p:cNvSpPr/>
          <p:nvPr/>
        </p:nvSpPr>
        <p:spPr>
          <a:xfrm>
            <a:off x="731520" y="4572000"/>
            <a:ext cx="7315200" cy="365760"/>
          </a:xfrm>
          <a:prstGeom prst="rect">
            <a:avLst/>
          </a:prstGeom>
          <a:noFill/>
          <a:ln/>
        </p:spPr>
        <p:txBody>
          <a:bodyPr wrap="square" rtlCol="0" anchor="ctr"/>
          <a:lstStyle/>
          <a:p>
            <a:pPr marL="0" indent="0">
              <a:buNone/>
            </a:pPr>
            <a:r>
              <a:rPr lang="en-US" sz="1000" dirty="0">
                <a:solidFill>
                  <a:srgbClr val="6B93B0"/>
                </a:solidFill>
                <a:latin typeface="Calibri" pitchFamily="34" charset="0"/>
                <a:ea typeface="Calibri" pitchFamily="34" charset="-122"/>
                <a:cs typeface="Calibri" pitchFamily="34" charset="-120"/>
              </a:rPr>
              <a:t>C# Fundamentals &amp; Advanced Topics  ·  Remote Training</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142952"/>
          </a:solidFill>
          <a:ln w="12700">
            <a:solidFill>
              <a:srgbClr val="142952"/>
            </a:solidFill>
            <a:prstDash val="solid"/>
          </a:ln>
        </p:spPr>
        <p:txBody>
          <a:bodyPr/>
          <a:lstStyle/>
          <a:p>
            <a:endParaRPr lang="en-US"/>
          </a:p>
        </p:txBody>
      </p:sp>
      <p:sp>
        <p:nvSpPr>
          <p:cNvPr id="3" name="Shape 1"/>
          <p:cNvSpPr/>
          <p:nvPr/>
        </p:nvSpPr>
        <p:spPr>
          <a:xfrm>
            <a:off x="0" y="713232"/>
            <a:ext cx="9144000" cy="45720"/>
          </a:xfrm>
          <a:prstGeom prst="rect">
            <a:avLst/>
          </a:prstGeom>
          <a:solidFill>
            <a:srgbClr val="00C2CB"/>
          </a:solidFill>
          <a:ln w="12700">
            <a:solidFill>
              <a:srgbClr val="00C2CB"/>
            </a:solidFill>
            <a:prstDash val="solid"/>
          </a:ln>
        </p:spPr>
        <p:txBody>
          <a:bodyPr/>
          <a:lstStyle/>
          <a:p>
            <a:endParaRPr lang="en-US"/>
          </a:p>
        </p:txBody>
      </p:sp>
      <p:sp>
        <p:nvSpPr>
          <p:cNvPr id="4" name="Text 2"/>
          <p:cNvSpPr/>
          <p:nvPr/>
        </p:nvSpPr>
        <p:spPr>
          <a:xfrm>
            <a:off x="365760" y="91440"/>
            <a:ext cx="8412480" cy="548640"/>
          </a:xfrm>
          <a:prstGeom prst="rect">
            <a:avLst/>
          </a:prstGeom>
          <a:noFill/>
          <a:ln/>
        </p:spPr>
        <p:txBody>
          <a:bodyPr wrap="square" lIns="0" tIns="0" rIns="0" bIns="0"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Day 1 — Full Agenda</a:t>
            </a:r>
            <a:endParaRPr lang="en-US" sz="2100" dirty="0"/>
          </a:p>
        </p:txBody>
      </p:sp>
      <p:sp>
        <p:nvSpPr>
          <p:cNvPr id="5" name="Shape 3"/>
          <p:cNvSpPr/>
          <p:nvPr/>
        </p:nvSpPr>
        <p:spPr>
          <a:xfrm>
            <a:off x="0" y="960120"/>
            <a:ext cx="9144000" cy="380307"/>
          </a:xfrm>
          <a:prstGeom prst="rect">
            <a:avLst/>
          </a:prstGeom>
          <a:solidFill>
            <a:srgbClr val="142952"/>
          </a:solidFill>
          <a:ln w="12700">
            <a:solidFill>
              <a:srgbClr val="142952"/>
            </a:solidFill>
            <a:prstDash val="solid"/>
          </a:ln>
        </p:spPr>
        <p:txBody>
          <a:bodyPr/>
          <a:lstStyle/>
          <a:p>
            <a:endParaRPr lang="en-US"/>
          </a:p>
        </p:txBody>
      </p:sp>
      <p:sp>
        <p:nvSpPr>
          <p:cNvPr id="6" name="Shape 4"/>
          <p:cNvSpPr/>
          <p:nvPr/>
        </p:nvSpPr>
        <p:spPr>
          <a:xfrm>
            <a:off x="0" y="960120"/>
            <a:ext cx="54864" cy="380307"/>
          </a:xfrm>
          <a:prstGeom prst="rect">
            <a:avLst/>
          </a:prstGeom>
          <a:solidFill>
            <a:srgbClr val="00C2CB"/>
          </a:solidFill>
          <a:ln w="12700">
            <a:solidFill>
              <a:srgbClr val="00C2CB"/>
            </a:solidFill>
            <a:prstDash val="solid"/>
          </a:ln>
        </p:spPr>
        <p:txBody>
          <a:bodyPr/>
          <a:lstStyle/>
          <a:p>
            <a:endParaRPr lang="en-US"/>
          </a:p>
        </p:txBody>
      </p:sp>
      <p:sp>
        <p:nvSpPr>
          <p:cNvPr id="7" name="Text 5"/>
          <p:cNvSpPr/>
          <p:nvPr/>
        </p:nvSpPr>
        <p:spPr>
          <a:xfrm>
            <a:off x="182880" y="960120"/>
            <a:ext cx="1371600" cy="380307"/>
          </a:xfrm>
          <a:prstGeom prst="rect">
            <a:avLst/>
          </a:prstGeom>
          <a:noFill/>
          <a:ln/>
        </p:spPr>
        <p:txBody>
          <a:bodyPr wrap="square" lIns="0" tIns="0" rIns="0" bIns="0" rtlCol="0" anchor="ctr"/>
          <a:lstStyle/>
          <a:p>
            <a:pPr marL="0" indent="0">
              <a:buNone/>
            </a:pPr>
            <a:r>
              <a:rPr lang="en-US" sz="1150" dirty="0">
                <a:solidFill>
                  <a:srgbClr val="6B93B0"/>
                </a:solidFill>
                <a:latin typeface="Calibri" pitchFamily="34" charset="0"/>
                <a:ea typeface="Calibri" pitchFamily="34" charset="-122"/>
                <a:cs typeface="Calibri" pitchFamily="34" charset="-120"/>
              </a:rPr>
              <a:t>8:00 – 8:05</a:t>
            </a:r>
            <a:endParaRPr lang="en-US" sz="1150" dirty="0"/>
          </a:p>
        </p:txBody>
      </p:sp>
      <p:sp>
        <p:nvSpPr>
          <p:cNvPr id="8" name="Text 6"/>
          <p:cNvSpPr/>
          <p:nvPr/>
        </p:nvSpPr>
        <p:spPr>
          <a:xfrm>
            <a:off x="1737360" y="960120"/>
            <a:ext cx="6217920" cy="380307"/>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Welcome, intros, setup check</a:t>
            </a:r>
            <a:endParaRPr lang="en-US" sz="1250" dirty="0"/>
          </a:p>
        </p:txBody>
      </p:sp>
      <p:sp>
        <p:nvSpPr>
          <p:cNvPr id="9" name="Text 7"/>
          <p:cNvSpPr/>
          <p:nvPr/>
        </p:nvSpPr>
        <p:spPr>
          <a:xfrm>
            <a:off x="8046720" y="960120"/>
            <a:ext cx="1005840" cy="380307"/>
          </a:xfrm>
          <a:prstGeom prst="rect">
            <a:avLst/>
          </a:prstGeom>
          <a:noFill/>
          <a:ln/>
        </p:spPr>
        <p:txBody>
          <a:bodyPr wrap="square" lIns="0" tIns="0" rIns="0" bIns="0" rtlCol="0" anchor="ctr"/>
          <a:lstStyle/>
          <a:p>
            <a:pPr marL="0" indent="0" algn="r">
              <a:buNone/>
            </a:pPr>
            <a:r>
              <a:rPr lang="en-US" sz="1000" dirty="0">
                <a:solidFill>
                  <a:srgbClr val="00C2CB"/>
                </a:solidFill>
                <a:latin typeface="Calibri" pitchFamily="34" charset="0"/>
                <a:ea typeface="Calibri" pitchFamily="34" charset="-122"/>
                <a:cs typeface="Calibri" pitchFamily="34" charset="-120"/>
              </a:rPr>
              <a:t>Instruction</a:t>
            </a:r>
            <a:endParaRPr lang="en-US" sz="1000" dirty="0"/>
          </a:p>
        </p:txBody>
      </p:sp>
      <p:sp>
        <p:nvSpPr>
          <p:cNvPr id="10" name="Shape 8"/>
          <p:cNvSpPr/>
          <p:nvPr/>
        </p:nvSpPr>
        <p:spPr>
          <a:xfrm>
            <a:off x="0" y="1340427"/>
            <a:ext cx="9144000" cy="380307"/>
          </a:xfrm>
          <a:prstGeom prst="rect">
            <a:avLst/>
          </a:prstGeom>
          <a:solidFill>
            <a:srgbClr val="0F2040"/>
          </a:solidFill>
          <a:ln w="12700">
            <a:solidFill>
              <a:srgbClr val="0F2040"/>
            </a:solidFill>
            <a:prstDash val="solid"/>
          </a:ln>
        </p:spPr>
        <p:txBody>
          <a:bodyPr/>
          <a:lstStyle/>
          <a:p>
            <a:endParaRPr lang="en-US"/>
          </a:p>
        </p:txBody>
      </p:sp>
      <p:sp>
        <p:nvSpPr>
          <p:cNvPr id="11" name="Shape 9"/>
          <p:cNvSpPr/>
          <p:nvPr/>
        </p:nvSpPr>
        <p:spPr>
          <a:xfrm>
            <a:off x="0" y="1340427"/>
            <a:ext cx="54864" cy="380307"/>
          </a:xfrm>
          <a:prstGeom prst="rect">
            <a:avLst/>
          </a:prstGeom>
          <a:solidFill>
            <a:srgbClr val="00C2CB"/>
          </a:solidFill>
          <a:ln w="12700">
            <a:solidFill>
              <a:srgbClr val="00C2CB"/>
            </a:solidFill>
            <a:prstDash val="solid"/>
          </a:ln>
        </p:spPr>
        <p:txBody>
          <a:bodyPr/>
          <a:lstStyle/>
          <a:p>
            <a:endParaRPr lang="en-US"/>
          </a:p>
        </p:txBody>
      </p:sp>
      <p:sp>
        <p:nvSpPr>
          <p:cNvPr id="12" name="Text 10"/>
          <p:cNvSpPr/>
          <p:nvPr/>
        </p:nvSpPr>
        <p:spPr>
          <a:xfrm>
            <a:off x="182880" y="1340427"/>
            <a:ext cx="1371600" cy="380307"/>
          </a:xfrm>
          <a:prstGeom prst="rect">
            <a:avLst/>
          </a:prstGeom>
          <a:noFill/>
          <a:ln/>
        </p:spPr>
        <p:txBody>
          <a:bodyPr wrap="square" lIns="0" tIns="0" rIns="0" bIns="0" rtlCol="0" anchor="ctr"/>
          <a:lstStyle/>
          <a:p>
            <a:pPr marL="0" indent="0">
              <a:buNone/>
            </a:pPr>
            <a:r>
              <a:rPr lang="en-US" sz="1150" dirty="0">
                <a:solidFill>
                  <a:srgbClr val="6B93B0"/>
                </a:solidFill>
                <a:latin typeface="Calibri" pitchFamily="34" charset="0"/>
                <a:ea typeface="Calibri" pitchFamily="34" charset="-122"/>
                <a:cs typeface="Calibri" pitchFamily="34" charset="-120"/>
              </a:rPr>
              <a:t>8:05 – 8:40</a:t>
            </a:r>
            <a:endParaRPr lang="en-US" sz="1150" dirty="0"/>
          </a:p>
        </p:txBody>
      </p:sp>
      <p:sp>
        <p:nvSpPr>
          <p:cNvPr id="13" name="Text 11"/>
          <p:cNvSpPr/>
          <p:nvPr/>
        </p:nvSpPr>
        <p:spPr>
          <a:xfrm>
            <a:off x="1737360" y="1340427"/>
            <a:ext cx="6217920" cy="380307"/>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Section 1: What is C# &amp; the .NET Ecosystem</a:t>
            </a:r>
            <a:endParaRPr lang="en-US" sz="1250" dirty="0"/>
          </a:p>
        </p:txBody>
      </p:sp>
      <p:sp>
        <p:nvSpPr>
          <p:cNvPr id="14" name="Text 12"/>
          <p:cNvSpPr/>
          <p:nvPr/>
        </p:nvSpPr>
        <p:spPr>
          <a:xfrm>
            <a:off x="8046720" y="1340427"/>
            <a:ext cx="1005840" cy="380307"/>
          </a:xfrm>
          <a:prstGeom prst="rect">
            <a:avLst/>
          </a:prstGeom>
          <a:noFill/>
          <a:ln/>
        </p:spPr>
        <p:txBody>
          <a:bodyPr wrap="square" lIns="0" tIns="0" rIns="0" bIns="0" rtlCol="0" anchor="ctr"/>
          <a:lstStyle/>
          <a:p>
            <a:pPr marL="0" indent="0" algn="r">
              <a:buNone/>
            </a:pPr>
            <a:r>
              <a:rPr lang="en-US" sz="1000" dirty="0">
                <a:solidFill>
                  <a:srgbClr val="00C2CB"/>
                </a:solidFill>
                <a:latin typeface="Calibri" pitchFamily="34" charset="0"/>
                <a:ea typeface="Calibri" pitchFamily="34" charset="-122"/>
                <a:cs typeface="Calibri" pitchFamily="34" charset="-120"/>
              </a:rPr>
              <a:t>Instruction</a:t>
            </a:r>
            <a:endParaRPr lang="en-US" sz="1000" dirty="0"/>
          </a:p>
        </p:txBody>
      </p:sp>
      <p:sp>
        <p:nvSpPr>
          <p:cNvPr id="15" name="Shape 13"/>
          <p:cNvSpPr/>
          <p:nvPr/>
        </p:nvSpPr>
        <p:spPr>
          <a:xfrm>
            <a:off x="0" y="1720735"/>
            <a:ext cx="9144000" cy="380307"/>
          </a:xfrm>
          <a:prstGeom prst="rect">
            <a:avLst/>
          </a:prstGeom>
          <a:solidFill>
            <a:srgbClr val="142952"/>
          </a:solidFill>
          <a:ln w="12700">
            <a:solidFill>
              <a:srgbClr val="142952"/>
            </a:solidFill>
            <a:prstDash val="solid"/>
          </a:ln>
        </p:spPr>
        <p:txBody>
          <a:bodyPr/>
          <a:lstStyle/>
          <a:p>
            <a:endParaRPr lang="en-US"/>
          </a:p>
        </p:txBody>
      </p:sp>
      <p:sp>
        <p:nvSpPr>
          <p:cNvPr id="16" name="Shape 14"/>
          <p:cNvSpPr/>
          <p:nvPr/>
        </p:nvSpPr>
        <p:spPr>
          <a:xfrm>
            <a:off x="0" y="1720735"/>
            <a:ext cx="54864" cy="380307"/>
          </a:xfrm>
          <a:prstGeom prst="rect">
            <a:avLst/>
          </a:prstGeom>
          <a:solidFill>
            <a:srgbClr val="F59E0B"/>
          </a:solidFill>
          <a:ln w="12700">
            <a:solidFill>
              <a:srgbClr val="F59E0B"/>
            </a:solidFill>
            <a:prstDash val="solid"/>
          </a:ln>
        </p:spPr>
        <p:txBody>
          <a:bodyPr/>
          <a:lstStyle/>
          <a:p>
            <a:endParaRPr lang="en-US"/>
          </a:p>
        </p:txBody>
      </p:sp>
      <p:sp>
        <p:nvSpPr>
          <p:cNvPr id="17" name="Text 15"/>
          <p:cNvSpPr/>
          <p:nvPr/>
        </p:nvSpPr>
        <p:spPr>
          <a:xfrm>
            <a:off x="182880" y="1720735"/>
            <a:ext cx="1371600" cy="380307"/>
          </a:xfrm>
          <a:prstGeom prst="rect">
            <a:avLst/>
          </a:prstGeom>
          <a:noFill/>
          <a:ln/>
        </p:spPr>
        <p:txBody>
          <a:bodyPr wrap="square" lIns="0" tIns="0" rIns="0" bIns="0" rtlCol="0" anchor="ctr"/>
          <a:lstStyle/>
          <a:p>
            <a:pPr marL="0" indent="0">
              <a:buNone/>
            </a:pPr>
            <a:r>
              <a:rPr lang="en-US" sz="1150" dirty="0">
                <a:solidFill>
                  <a:srgbClr val="6B93B0"/>
                </a:solidFill>
                <a:latin typeface="Calibri" pitchFamily="34" charset="0"/>
                <a:ea typeface="Calibri" pitchFamily="34" charset="-122"/>
                <a:cs typeface="Calibri" pitchFamily="34" charset="-120"/>
              </a:rPr>
              <a:t>8:40 – 8:55</a:t>
            </a:r>
            <a:endParaRPr lang="en-US" sz="1150" dirty="0"/>
          </a:p>
        </p:txBody>
      </p:sp>
      <p:sp>
        <p:nvSpPr>
          <p:cNvPr id="18" name="Text 16"/>
          <p:cNvSpPr/>
          <p:nvPr/>
        </p:nvSpPr>
        <p:spPr>
          <a:xfrm>
            <a:off x="1737360" y="1720735"/>
            <a:ext cx="6217920" cy="380307"/>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Lab 1: Hello C# — First Console Program</a:t>
            </a:r>
            <a:endParaRPr lang="en-US" sz="1250" dirty="0"/>
          </a:p>
        </p:txBody>
      </p:sp>
      <p:sp>
        <p:nvSpPr>
          <p:cNvPr id="19" name="Text 17"/>
          <p:cNvSpPr/>
          <p:nvPr/>
        </p:nvSpPr>
        <p:spPr>
          <a:xfrm>
            <a:off x="8046720" y="1720735"/>
            <a:ext cx="1005840" cy="380307"/>
          </a:xfrm>
          <a:prstGeom prst="rect">
            <a:avLst/>
          </a:prstGeom>
          <a:noFill/>
          <a:ln/>
        </p:spPr>
        <p:txBody>
          <a:bodyPr wrap="square" lIns="0" tIns="0" rIns="0" bIns="0" rtlCol="0" anchor="ctr"/>
          <a:lstStyle/>
          <a:p>
            <a:pPr marL="0" indent="0" algn="r">
              <a:buNone/>
            </a:pPr>
            <a:r>
              <a:rPr lang="en-US" sz="1000" dirty="0">
                <a:solidFill>
                  <a:srgbClr val="F59E0B"/>
                </a:solidFill>
                <a:latin typeface="Calibri" pitchFamily="34" charset="0"/>
                <a:ea typeface="Calibri" pitchFamily="34" charset="-122"/>
                <a:cs typeface="Calibri" pitchFamily="34" charset="-120"/>
              </a:rPr>
              <a:t>Lab</a:t>
            </a:r>
            <a:endParaRPr lang="en-US" sz="1000" dirty="0"/>
          </a:p>
        </p:txBody>
      </p:sp>
      <p:sp>
        <p:nvSpPr>
          <p:cNvPr id="20" name="Shape 18"/>
          <p:cNvSpPr/>
          <p:nvPr/>
        </p:nvSpPr>
        <p:spPr>
          <a:xfrm>
            <a:off x="0" y="2101042"/>
            <a:ext cx="9144000" cy="380307"/>
          </a:xfrm>
          <a:prstGeom prst="rect">
            <a:avLst/>
          </a:prstGeom>
          <a:solidFill>
            <a:srgbClr val="0F2040"/>
          </a:solidFill>
          <a:ln w="12700">
            <a:solidFill>
              <a:srgbClr val="0F2040"/>
            </a:solidFill>
            <a:prstDash val="solid"/>
          </a:ln>
        </p:spPr>
        <p:txBody>
          <a:bodyPr/>
          <a:lstStyle/>
          <a:p>
            <a:endParaRPr lang="en-US"/>
          </a:p>
        </p:txBody>
      </p:sp>
      <p:sp>
        <p:nvSpPr>
          <p:cNvPr id="21" name="Shape 19"/>
          <p:cNvSpPr/>
          <p:nvPr/>
        </p:nvSpPr>
        <p:spPr>
          <a:xfrm>
            <a:off x="0" y="2101042"/>
            <a:ext cx="54864" cy="380307"/>
          </a:xfrm>
          <a:prstGeom prst="rect">
            <a:avLst/>
          </a:prstGeom>
          <a:solidFill>
            <a:srgbClr val="5B21B6"/>
          </a:solidFill>
          <a:ln w="12700">
            <a:solidFill>
              <a:srgbClr val="5B21B6"/>
            </a:solidFill>
            <a:prstDash val="solid"/>
          </a:ln>
        </p:spPr>
        <p:txBody>
          <a:bodyPr/>
          <a:lstStyle/>
          <a:p>
            <a:endParaRPr lang="en-US"/>
          </a:p>
        </p:txBody>
      </p:sp>
      <p:sp>
        <p:nvSpPr>
          <p:cNvPr id="22" name="Text 20"/>
          <p:cNvSpPr/>
          <p:nvPr/>
        </p:nvSpPr>
        <p:spPr>
          <a:xfrm>
            <a:off x="182880" y="2101042"/>
            <a:ext cx="1371600" cy="380307"/>
          </a:xfrm>
          <a:prstGeom prst="rect">
            <a:avLst/>
          </a:prstGeom>
          <a:noFill/>
          <a:ln/>
        </p:spPr>
        <p:txBody>
          <a:bodyPr wrap="square" lIns="0" tIns="0" rIns="0" bIns="0" rtlCol="0" anchor="ctr"/>
          <a:lstStyle/>
          <a:p>
            <a:pPr marL="0" indent="0">
              <a:buNone/>
            </a:pPr>
            <a:r>
              <a:rPr lang="en-US" sz="1150" dirty="0">
                <a:solidFill>
                  <a:srgbClr val="6B93B0"/>
                </a:solidFill>
                <a:latin typeface="Calibri" pitchFamily="34" charset="0"/>
                <a:ea typeface="Calibri" pitchFamily="34" charset="-122"/>
                <a:cs typeface="Calibri" pitchFamily="34" charset="-120"/>
              </a:rPr>
              <a:t>8:55 – 9:00</a:t>
            </a:r>
            <a:endParaRPr lang="en-US" sz="1150" dirty="0"/>
          </a:p>
        </p:txBody>
      </p:sp>
      <p:sp>
        <p:nvSpPr>
          <p:cNvPr id="23" name="Text 21"/>
          <p:cNvSpPr/>
          <p:nvPr/>
        </p:nvSpPr>
        <p:spPr>
          <a:xfrm>
            <a:off x="1737360" y="2101042"/>
            <a:ext cx="6217920" cy="380307"/>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Break</a:t>
            </a:r>
            <a:endParaRPr lang="en-US" sz="1250" dirty="0"/>
          </a:p>
        </p:txBody>
      </p:sp>
      <p:sp>
        <p:nvSpPr>
          <p:cNvPr id="24" name="Text 22"/>
          <p:cNvSpPr/>
          <p:nvPr/>
        </p:nvSpPr>
        <p:spPr>
          <a:xfrm>
            <a:off x="8046720" y="2101042"/>
            <a:ext cx="1005840" cy="380307"/>
          </a:xfrm>
          <a:prstGeom prst="rect">
            <a:avLst/>
          </a:prstGeom>
          <a:noFill/>
          <a:ln/>
        </p:spPr>
        <p:txBody>
          <a:bodyPr wrap="square" lIns="0" tIns="0" rIns="0" bIns="0" rtlCol="0" anchor="ctr"/>
          <a:lstStyle/>
          <a:p>
            <a:pPr marL="0" indent="0" algn="r">
              <a:buNone/>
            </a:pPr>
            <a:r>
              <a:rPr lang="en-US" sz="1000" dirty="0">
                <a:solidFill>
                  <a:srgbClr val="5B21B6"/>
                </a:solidFill>
                <a:latin typeface="Calibri" pitchFamily="34" charset="0"/>
                <a:ea typeface="Calibri" pitchFamily="34" charset="-122"/>
                <a:cs typeface="Calibri" pitchFamily="34" charset="-120"/>
              </a:rPr>
              <a:t>Break</a:t>
            </a:r>
            <a:endParaRPr lang="en-US" sz="1000" dirty="0"/>
          </a:p>
        </p:txBody>
      </p:sp>
      <p:sp>
        <p:nvSpPr>
          <p:cNvPr id="25" name="Shape 23"/>
          <p:cNvSpPr/>
          <p:nvPr/>
        </p:nvSpPr>
        <p:spPr>
          <a:xfrm>
            <a:off x="0" y="2481349"/>
            <a:ext cx="9144000" cy="380307"/>
          </a:xfrm>
          <a:prstGeom prst="rect">
            <a:avLst/>
          </a:prstGeom>
          <a:solidFill>
            <a:srgbClr val="142952"/>
          </a:solidFill>
          <a:ln w="12700">
            <a:solidFill>
              <a:srgbClr val="142952"/>
            </a:solidFill>
            <a:prstDash val="solid"/>
          </a:ln>
        </p:spPr>
        <p:txBody>
          <a:bodyPr/>
          <a:lstStyle/>
          <a:p>
            <a:endParaRPr lang="en-US"/>
          </a:p>
        </p:txBody>
      </p:sp>
      <p:sp>
        <p:nvSpPr>
          <p:cNvPr id="26" name="Shape 24"/>
          <p:cNvSpPr/>
          <p:nvPr/>
        </p:nvSpPr>
        <p:spPr>
          <a:xfrm>
            <a:off x="0" y="2481349"/>
            <a:ext cx="54864" cy="380307"/>
          </a:xfrm>
          <a:prstGeom prst="rect">
            <a:avLst/>
          </a:prstGeom>
          <a:solidFill>
            <a:srgbClr val="00C2CB"/>
          </a:solidFill>
          <a:ln w="12700">
            <a:solidFill>
              <a:srgbClr val="00C2CB"/>
            </a:solidFill>
            <a:prstDash val="solid"/>
          </a:ln>
        </p:spPr>
        <p:txBody>
          <a:bodyPr/>
          <a:lstStyle/>
          <a:p>
            <a:endParaRPr lang="en-US"/>
          </a:p>
        </p:txBody>
      </p:sp>
      <p:sp>
        <p:nvSpPr>
          <p:cNvPr id="27" name="Text 25"/>
          <p:cNvSpPr/>
          <p:nvPr/>
        </p:nvSpPr>
        <p:spPr>
          <a:xfrm>
            <a:off x="182880" y="2481349"/>
            <a:ext cx="1371600" cy="380307"/>
          </a:xfrm>
          <a:prstGeom prst="rect">
            <a:avLst/>
          </a:prstGeom>
          <a:noFill/>
          <a:ln/>
        </p:spPr>
        <p:txBody>
          <a:bodyPr wrap="square" lIns="0" tIns="0" rIns="0" bIns="0" rtlCol="0" anchor="ctr"/>
          <a:lstStyle/>
          <a:p>
            <a:pPr marL="0" indent="0">
              <a:buNone/>
            </a:pPr>
            <a:r>
              <a:rPr lang="en-US" sz="1150" dirty="0">
                <a:solidFill>
                  <a:srgbClr val="6B93B0"/>
                </a:solidFill>
                <a:latin typeface="Calibri" pitchFamily="34" charset="0"/>
                <a:ea typeface="Calibri" pitchFamily="34" charset="-122"/>
                <a:cs typeface="Calibri" pitchFamily="34" charset="-120"/>
              </a:rPr>
              <a:t>9:00 – 9:35</a:t>
            </a:r>
            <a:endParaRPr lang="en-US" sz="1150" dirty="0"/>
          </a:p>
        </p:txBody>
      </p:sp>
      <p:sp>
        <p:nvSpPr>
          <p:cNvPr id="28" name="Text 26"/>
          <p:cNvSpPr/>
          <p:nvPr/>
        </p:nvSpPr>
        <p:spPr>
          <a:xfrm>
            <a:off x="1737360" y="2481349"/>
            <a:ext cx="6217920" cy="380307"/>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Section 2: C# Fundamentals (Types, Flow, Methods)</a:t>
            </a:r>
            <a:endParaRPr lang="en-US" sz="1250" dirty="0"/>
          </a:p>
        </p:txBody>
      </p:sp>
      <p:sp>
        <p:nvSpPr>
          <p:cNvPr id="29" name="Text 27"/>
          <p:cNvSpPr/>
          <p:nvPr/>
        </p:nvSpPr>
        <p:spPr>
          <a:xfrm>
            <a:off x="8046720" y="2481349"/>
            <a:ext cx="1005840" cy="380307"/>
          </a:xfrm>
          <a:prstGeom prst="rect">
            <a:avLst/>
          </a:prstGeom>
          <a:noFill/>
          <a:ln/>
        </p:spPr>
        <p:txBody>
          <a:bodyPr wrap="square" lIns="0" tIns="0" rIns="0" bIns="0" rtlCol="0" anchor="ctr"/>
          <a:lstStyle/>
          <a:p>
            <a:pPr marL="0" indent="0" algn="r">
              <a:buNone/>
            </a:pPr>
            <a:r>
              <a:rPr lang="en-US" sz="1000" dirty="0">
                <a:solidFill>
                  <a:srgbClr val="00C2CB"/>
                </a:solidFill>
                <a:latin typeface="Calibri" pitchFamily="34" charset="0"/>
                <a:ea typeface="Calibri" pitchFamily="34" charset="-122"/>
                <a:cs typeface="Calibri" pitchFamily="34" charset="-120"/>
              </a:rPr>
              <a:t>Instruction</a:t>
            </a:r>
            <a:endParaRPr lang="en-US" sz="1000" dirty="0"/>
          </a:p>
        </p:txBody>
      </p:sp>
      <p:sp>
        <p:nvSpPr>
          <p:cNvPr id="30" name="Shape 28"/>
          <p:cNvSpPr/>
          <p:nvPr/>
        </p:nvSpPr>
        <p:spPr>
          <a:xfrm>
            <a:off x="0" y="2861656"/>
            <a:ext cx="9144000" cy="380307"/>
          </a:xfrm>
          <a:prstGeom prst="rect">
            <a:avLst/>
          </a:prstGeom>
          <a:solidFill>
            <a:srgbClr val="0F2040"/>
          </a:solidFill>
          <a:ln w="12700">
            <a:solidFill>
              <a:srgbClr val="0F2040"/>
            </a:solidFill>
            <a:prstDash val="solid"/>
          </a:ln>
        </p:spPr>
        <p:txBody>
          <a:bodyPr/>
          <a:lstStyle/>
          <a:p>
            <a:endParaRPr lang="en-US"/>
          </a:p>
        </p:txBody>
      </p:sp>
      <p:sp>
        <p:nvSpPr>
          <p:cNvPr id="31" name="Shape 29"/>
          <p:cNvSpPr/>
          <p:nvPr/>
        </p:nvSpPr>
        <p:spPr>
          <a:xfrm>
            <a:off x="0" y="2861656"/>
            <a:ext cx="54864" cy="380307"/>
          </a:xfrm>
          <a:prstGeom prst="rect">
            <a:avLst/>
          </a:prstGeom>
          <a:solidFill>
            <a:srgbClr val="5B21B6"/>
          </a:solidFill>
          <a:ln w="12700">
            <a:solidFill>
              <a:srgbClr val="5B21B6"/>
            </a:solidFill>
            <a:prstDash val="solid"/>
          </a:ln>
        </p:spPr>
        <p:txBody>
          <a:bodyPr/>
          <a:lstStyle/>
          <a:p>
            <a:endParaRPr lang="en-US"/>
          </a:p>
        </p:txBody>
      </p:sp>
      <p:sp>
        <p:nvSpPr>
          <p:cNvPr id="32" name="Text 30"/>
          <p:cNvSpPr/>
          <p:nvPr/>
        </p:nvSpPr>
        <p:spPr>
          <a:xfrm>
            <a:off x="182880" y="2861656"/>
            <a:ext cx="1371600" cy="380307"/>
          </a:xfrm>
          <a:prstGeom prst="rect">
            <a:avLst/>
          </a:prstGeom>
          <a:noFill/>
          <a:ln/>
        </p:spPr>
        <p:txBody>
          <a:bodyPr wrap="square" lIns="0" tIns="0" rIns="0" bIns="0" rtlCol="0" anchor="ctr"/>
          <a:lstStyle/>
          <a:p>
            <a:pPr marL="0" indent="0">
              <a:buNone/>
            </a:pPr>
            <a:r>
              <a:rPr lang="en-US" sz="1150" dirty="0">
                <a:solidFill>
                  <a:srgbClr val="6B93B0"/>
                </a:solidFill>
                <a:latin typeface="Calibri" pitchFamily="34" charset="0"/>
                <a:ea typeface="Calibri" pitchFamily="34" charset="-122"/>
                <a:cs typeface="Calibri" pitchFamily="34" charset="-120"/>
              </a:rPr>
              <a:t>9:35 – 9:40</a:t>
            </a:r>
            <a:endParaRPr lang="en-US" sz="1150" dirty="0"/>
          </a:p>
        </p:txBody>
      </p:sp>
      <p:sp>
        <p:nvSpPr>
          <p:cNvPr id="33" name="Text 31"/>
          <p:cNvSpPr/>
          <p:nvPr/>
        </p:nvSpPr>
        <p:spPr>
          <a:xfrm>
            <a:off x="1737360" y="2861656"/>
            <a:ext cx="6217920" cy="380307"/>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Break</a:t>
            </a:r>
            <a:endParaRPr lang="en-US" sz="1250" dirty="0"/>
          </a:p>
        </p:txBody>
      </p:sp>
      <p:sp>
        <p:nvSpPr>
          <p:cNvPr id="34" name="Text 32"/>
          <p:cNvSpPr/>
          <p:nvPr/>
        </p:nvSpPr>
        <p:spPr>
          <a:xfrm>
            <a:off x="8046720" y="2861656"/>
            <a:ext cx="1005840" cy="380307"/>
          </a:xfrm>
          <a:prstGeom prst="rect">
            <a:avLst/>
          </a:prstGeom>
          <a:noFill/>
          <a:ln/>
        </p:spPr>
        <p:txBody>
          <a:bodyPr wrap="square" lIns="0" tIns="0" rIns="0" bIns="0" rtlCol="0" anchor="ctr"/>
          <a:lstStyle/>
          <a:p>
            <a:pPr marL="0" indent="0" algn="r">
              <a:buNone/>
            </a:pPr>
            <a:r>
              <a:rPr lang="en-US" sz="1000" dirty="0">
                <a:solidFill>
                  <a:srgbClr val="5B21B6"/>
                </a:solidFill>
                <a:latin typeface="Calibri" pitchFamily="34" charset="0"/>
                <a:ea typeface="Calibri" pitchFamily="34" charset="-122"/>
                <a:cs typeface="Calibri" pitchFamily="34" charset="-120"/>
              </a:rPr>
              <a:t>Break</a:t>
            </a:r>
            <a:endParaRPr lang="en-US" sz="1000" dirty="0"/>
          </a:p>
        </p:txBody>
      </p:sp>
      <p:sp>
        <p:nvSpPr>
          <p:cNvPr id="35" name="Shape 33"/>
          <p:cNvSpPr/>
          <p:nvPr/>
        </p:nvSpPr>
        <p:spPr>
          <a:xfrm>
            <a:off x="0" y="3241964"/>
            <a:ext cx="9144000" cy="380307"/>
          </a:xfrm>
          <a:prstGeom prst="rect">
            <a:avLst/>
          </a:prstGeom>
          <a:solidFill>
            <a:srgbClr val="142952"/>
          </a:solidFill>
          <a:ln w="12700">
            <a:solidFill>
              <a:srgbClr val="142952"/>
            </a:solidFill>
            <a:prstDash val="solid"/>
          </a:ln>
        </p:spPr>
        <p:txBody>
          <a:bodyPr/>
          <a:lstStyle/>
          <a:p>
            <a:endParaRPr lang="en-US"/>
          </a:p>
        </p:txBody>
      </p:sp>
      <p:sp>
        <p:nvSpPr>
          <p:cNvPr id="36" name="Shape 34"/>
          <p:cNvSpPr/>
          <p:nvPr/>
        </p:nvSpPr>
        <p:spPr>
          <a:xfrm>
            <a:off x="0" y="3241964"/>
            <a:ext cx="54864" cy="380307"/>
          </a:xfrm>
          <a:prstGeom prst="rect">
            <a:avLst/>
          </a:prstGeom>
          <a:solidFill>
            <a:srgbClr val="F59E0B"/>
          </a:solidFill>
          <a:ln w="12700">
            <a:solidFill>
              <a:srgbClr val="F59E0B"/>
            </a:solidFill>
            <a:prstDash val="solid"/>
          </a:ln>
        </p:spPr>
        <p:txBody>
          <a:bodyPr/>
          <a:lstStyle/>
          <a:p>
            <a:endParaRPr lang="en-US"/>
          </a:p>
        </p:txBody>
      </p:sp>
      <p:sp>
        <p:nvSpPr>
          <p:cNvPr id="37" name="Text 35"/>
          <p:cNvSpPr/>
          <p:nvPr/>
        </p:nvSpPr>
        <p:spPr>
          <a:xfrm>
            <a:off x="182880" y="3241964"/>
            <a:ext cx="1371600" cy="380307"/>
          </a:xfrm>
          <a:prstGeom prst="rect">
            <a:avLst/>
          </a:prstGeom>
          <a:noFill/>
          <a:ln/>
        </p:spPr>
        <p:txBody>
          <a:bodyPr wrap="square" lIns="0" tIns="0" rIns="0" bIns="0" rtlCol="0" anchor="ctr"/>
          <a:lstStyle/>
          <a:p>
            <a:pPr marL="0" indent="0">
              <a:buNone/>
            </a:pPr>
            <a:r>
              <a:rPr lang="en-US" sz="1150" dirty="0">
                <a:solidFill>
                  <a:srgbClr val="6B93B0"/>
                </a:solidFill>
                <a:latin typeface="Calibri" pitchFamily="34" charset="0"/>
                <a:ea typeface="Calibri" pitchFamily="34" charset="-122"/>
                <a:cs typeface="Calibri" pitchFamily="34" charset="-120"/>
              </a:rPr>
              <a:t>9:40 – 10:00</a:t>
            </a:r>
            <a:endParaRPr lang="en-US" sz="1150" dirty="0"/>
          </a:p>
        </p:txBody>
      </p:sp>
      <p:sp>
        <p:nvSpPr>
          <p:cNvPr id="38" name="Text 36"/>
          <p:cNvSpPr/>
          <p:nvPr/>
        </p:nvSpPr>
        <p:spPr>
          <a:xfrm>
            <a:off x="1737360" y="3241964"/>
            <a:ext cx="6217920" cy="380307"/>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Lab 2: Data Types, Control Flow &amp; Methods</a:t>
            </a:r>
            <a:endParaRPr lang="en-US" sz="1250" dirty="0"/>
          </a:p>
        </p:txBody>
      </p:sp>
      <p:sp>
        <p:nvSpPr>
          <p:cNvPr id="39" name="Text 37"/>
          <p:cNvSpPr/>
          <p:nvPr/>
        </p:nvSpPr>
        <p:spPr>
          <a:xfrm>
            <a:off x="8046720" y="3241964"/>
            <a:ext cx="1005840" cy="380307"/>
          </a:xfrm>
          <a:prstGeom prst="rect">
            <a:avLst/>
          </a:prstGeom>
          <a:noFill/>
          <a:ln/>
        </p:spPr>
        <p:txBody>
          <a:bodyPr wrap="square" lIns="0" tIns="0" rIns="0" bIns="0" rtlCol="0" anchor="ctr"/>
          <a:lstStyle/>
          <a:p>
            <a:pPr marL="0" indent="0" algn="r">
              <a:buNone/>
            </a:pPr>
            <a:r>
              <a:rPr lang="en-US" sz="1000" dirty="0">
                <a:solidFill>
                  <a:srgbClr val="F59E0B"/>
                </a:solidFill>
                <a:latin typeface="Calibri" pitchFamily="34" charset="0"/>
                <a:ea typeface="Calibri" pitchFamily="34" charset="-122"/>
                <a:cs typeface="Calibri" pitchFamily="34" charset="-120"/>
              </a:rPr>
              <a:t>Lab</a:t>
            </a:r>
            <a:endParaRPr lang="en-US" sz="1000" dirty="0"/>
          </a:p>
        </p:txBody>
      </p:sp>
      <p:sp>
        <p:nvSpPr>
          <p:cNvPr id="40" name="Shape 38"/>
          <p:cNvSpPr/>
          <p:nvPr/>
        </p:nvSpPr>
        <p:spPr>
          <a:xfrm>
            <a:off x="0" y="3622271"/>
            <a:ext cx="9144000" cy="380307"/>
          </a:xfrm>
          <a:prstGeom prst="rect">
            <a:avLst/>
          </a:prstGeom>
          <a:solidFill>
            <a:srgbClr val="0F2040"/>
          </a:solidFill>
          <a:ln w="12700">
            <a:solidFill>
              <a:srgbClr val="0F2040"/>
            </a:solidFill>
            <a:prstDash val="solid"/>
          </a:ln>
        </p:spPr>
        <p:txBody>
          <a:bodyPr/>
          <a:lstStyle/>
          <a:p>
            <a:endParaRPr lang="en-US"/>
          </a:p>
        </p:txBody>
      </p:sp>
      <p:sp>
        <p:nvSpPr>
          <p:cNvPr id="41" name="Shape 39"/>
          <p:cNvSpPr/>
          <p:nvPr/>
        </p:nvSpPr>
        <p:spPr>
          <a:xfrm>
            <a:off x="0" y="3622271"/>
            <a:ext cx="54864" cy="380307"/>
          </a:xfrm>
          <a:prstGeom prst="rect">
            <a:avLst/>
          </a:prstGeom>
          <a:solidFill>
            <a:srgbClr val="00C2CB"/>
          </a:solidFill>
          <a:ln w="12700">
            <a:solidFill>
              <a:srgbClr val="00C2CB"/>
            </a:solidFill>
            <a:prstDash val="solid"/>
          </a:ln>
        </p:spPr>
        <p:txBody>
          <a:bodyPr/>
          <a:lstStyle/>
          <a:p>
            <a:endParaRPr lang="en-US"/>
          </a:p>
        </p:txBody>
      </p:sp>
      <p:sp>
        <p:nvSpPr>
          <p:cNvPr id="42" name="Text 40"/>
          <p:cNvSpPr/>
          <p:nvPr/>
        </p:nvSpPr>
        <p:spPr>
          <a:xfrm>
            <a:off x="182880" y="3622271"/>
            <a:ext cx="1371600" cy="380307"/>
          </a:xfrm>
          <a:prstGeom prst="rect">
            <a:avLst/>
          </a:prstGeom>
          <a:noFill/>
          <a:ln/>
        </p:spPr>
        <p:txBody>
          <a:bodyPr wrap="square" lIns="0" tIns="0" rIns="0" bIns="0" rtlCol="0" anchor="ctr"/>
          <a:lstStyle/>
          <a:p>
            <a:pPr marL="0" indent="0">
              <a:buNone/>
            </a:pPr>
            <a:r>
              <a:rPr lang="en-US" sz="1150" dirty="0">
                <a:solidFill>
                  <a:srgbClr val="6B93B0"/>
                </a:solidFill>
                <a:latin typeface="Calibri" pitchFamily="34" charset="0"/>
                <a:ea typeface="Calibri" pitchFamily="34" charset="-122"/>
                <a:cs typeface="Calibri" pitchFamily="34" charset="-120"/>
              </a:rPr>
              <a:t>10:00 – 10:40</a:t>
            </a:r>
            <a:endParaRPr lang="en-US" sz="1150" dirty="0"/>
          </a:p>
        </p:txBody>
      </p:sp>
      <p:sp>
        <p:nvSpPr>
          <p:cNvPr id="43" name="Text 41"/>
          <p:cNvSpPr/>
          <p:nvPr/>
        </p:nvSpPr>
        <p:spPr>
          <a:xfrm>
            <a:off x="1737360" y="3622271"/>
            <a:ext cx="6217920" cy="380307"/>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Section 3: Classes, Objects &amp; Inheritance</a:t>
            </a:r>
            <a:endParaRPr lang="en-US" sz="1250" dirty="0"/>
          </a:p>
        </p:txBody>
      </p:sp>
      <p:sp>
        <p:nvSpPr>
          <p:cNvPr id="44" name="Text 42"/>
          <p:cNvSpPr/>
          <p:nvPr/>
        </p:nvSpPr>
        <p:spPr>
          <a:xfrm>
            <a:off x="8046720" y="3622271"/>
            <a:ext cx="1005840" cy="380307"/>
          </a:xfrm>
          <a:prstGeom prst="rect">
            <a:avLst/>
          </a:prstGeom>
          <a:noFill/>
          <a:ln/>
        </p:spPr>
        <p:txBody>
          <a:bodyPr wrap="square" lIns="0" tIns="0" rIns="0" bIns="0" rtlCol="0" anchor="ctr"/>
          <a:lstStyle/>
          <a:p>
            <a:pPr marL="0" indent="0" algn="r">
              <a:buNone/>
            </a:pPr>
            <a:r>
              <a:rPr lang="en-US" sz="1000" dirty="0">
                <a:solidFill>
                  <a:srgbClr val="00C2CB"/>
                </a:solidFill>
                <a:latin typeface="Calibri" pitchFamily="34" charset="0"/>
                <a:ea typeface="Calibri" pitchFamily="34" charset="-122"/>
                <a:cs typeface="Calibri" pitchFamily="34" charset="-120"/>
              </a:rPr>
              <a:t>Instruction</a:t>
            </a:r>
            <a:endParaRPr lang="en-US" sz="1000" dirty="0"/>
          </a:p>
        </p:txBody>
      </p:sp>
      <p:sp>
        <p:nvSpPr>
          <p:cNvPr id="45" name="Shape 43"/>
          <p:cNvSpPr/>
          <p:nvPr/>
        </p:nvSpPr>
        <p:spPr>
          <a:xfrm>
            <a:off x="0" y="4002578"/>
            <a:ext cx="9144000" cy="380307"/>
          </a:xfrm>
          <a:prstGeom prst="rect">
            <a:avLst/>
          </a:prstGeom>
          <a:solidFill>
            <a:srgbClr val="142952"/>
          </a:solidFill>
          <a:ln w="12700">
            <a:solidFill>
              <a:srgbClr val="142952"/>
            </a:solidFill>
            <a:prstDash val="solid"/>
          </a:ln>
        </p:spPr>
        <p:txBody>
          <a:bodyPr/>
          <a:lstStyle/>
          <a:p>
            <a:endParaRPr lang="en-US"/>
          </a:p>
        </p:txBody>
      </p:sp>
      <p:sp>
        <p:nvSpPr>
          <p:cNvPr id="46" name="Shape 44"/>
          <p:cNvSpPr/>
          <p:nvPr/>
        </p:nvSpPr>
        <p:spPr>
          <a:xfrm>
            <a:off x="0" y="4002578"/>
            <a:ext cx="54864" cy="380307"/>
          </a:xfrm>
          <a:prstGeom prst="rect">
            <a:avLst/>
          </a:prstGeom>
          <a:solidFill>
            <a:srgbClr val="5B21B6"/>
          </a:solidFill>
          <a:ln w="12700">
            <a:solidFill>
              <a:srgbClr val="5B21B6"/>
            </a:solidFill>
            <a:prstDash val="solid"/>
          </a:ln>
        </p:spPr>
        <p:txBody>
          <a:bodyPr/>
          <a:lstStyle/>
          <a:p>
            <a:endParaRPr lang="en-US"/>
          </a:p>
        </p:txBody>
      </p:sp>
      <p:sp>
        <p:nvSpPr>
          <p:cNvPr id="47" name="Text 45"/>
          <p:cNvSpPr/>
          <p:nvPr/>
        </p:nvSpPr>
        <p:spPr>
          <a:xfrm>
            <a:off x="182880" y="4002578"/>
            <a:ext cx="1371600" cy="380307"/>
          </a:xfrm>
          <a:prstGeom prst="rect">
            <a:avLst/>
          </a:prstGeom>
          <a:noFill/>
          <a:ln/>
        </p:spPr>
        <p:txBody>
          <a:bodyPr wrap="square" lIns="0" tIns="0" rIns="0" bIns="0" rtlCol="0" anchor="ctr"/>
          <a:lstStyle/>
          <a:p>
            <a:pPr marL="0" indent="0">
              <a:buNone/>
            </a:pPr>
            <a:r>
              <a:rPr lang="en-US" sz="1150" dirty="0">
                <a:solidFill>
                  <a:srgbClr val="6B93B0"/>
                </a:solidFill>
                <a:latin typeface="Calibri" pitchFamily="34" charset="0"/>
                <a:ea typeface="Calibri" pitchFamily="34" charset="-122"/>
                <a:cs typeface="Calibri" pitchFamily="34" charset="-120"/>
              </a:rPr>
              <a:t>10:40 – 10:45</a:t>
            </a:r>
            <a:endParaRPr lang="en-US" sz="1150" dirty="0"/>
          </a:p>
        </p:txBody>
      </p:sp>
      <p:sp>
        <p:nvSpPr>
          <p:cNvPr id="48" name="Text 46"/>
          <p:cNvSpPr/>
          <p:nvPr/>
        </p:nvSpPr>
        <p:spPr>
          <a:xfrm>
            <a:off x="1737360" y="4002578"/>
            <a:ext cx="6217920" cy="380307"/>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Break</a:t>
            </a:r>
            <a:endParaRPr lang="en-US" sz="1250" dirty="0"/>
          </a:p>
        </p:txBody>
      </p:sp>
      <p:sp>
        <p:nvSpPr>
          <p:cNvPr id="49" name="Text 47"/>
          <p:cNvSpPr/>
          <p:nvPr/>
        </p:nvSpPr>
        <p:spPr>
          <a:xfrm>
            <a:off x="8046720" y="4002578"/>
            <a:ext cx="1005840" cy="380307"/>
          </a:xfrm>
          <a:prstGeom prst="rect">
            <a:avLst/>
          </a:prstGeom>
          <a:noFill/>
          <a:ln/>
        </p:spPr>
        <p:txBody>
          <a:bodyPr wrap="square" lIns="0" tIns="0" rIns="0" bIns="0" rtlCol="0" anchor="ctr"/>
          <a:lstStyle/>
          <a:p>
            <a:pPr marL="0" indent="0" algn="r">
              <a:buNone/>
            </a:pPr>
            <a:r>
              <a:rPr lang="en-US" sz="1000" dirty="0">
                <a:solidFill>
                  <a:srgbClr val="5B21B6"/>
                </a:solidFill>
                <a:latin typeface="Calibri" pitchFamily="34" charset="0"/>
                <a:ea typeface="Calibri" pitchFamily="34" charset="-122"/>
                <a:cs typeface="Calibri" pitchFamily="34" charset="-120"/>
              </a:rPr>
              <a:t>Break</a:t>
            </a:r>
            <a:endParaRPr lang="en-US" sz="1000" dirty="0"/>
          </a:p>
        </p:txBody>
      </p:sp>
      <p:sp>
        <p:nvSpPr>
          <p:cNvPr id="50" name="Shape 48"/>
          <p:cNvSpPr/>
          <p:nvPr/>
        </p:nvSpPr>
        <p:spPr>
          <a:xfrm>
            <a:off x="0" y="4382885"/>
            <a:ext cx="9144000" cy="380307"/>
          </a:xfrm>
          <a:prstGeom prst="rect">
            <a:avLst/>
          </a:prstGeom>
          <a:solidFill>
            <a:srgbClr val="0F2040"/>
          </a:solidFill>
          <a:ln w="12700">
            <a:solidFill>
              <a:srgbClr val="0F2040"/>
            </a:solidFill>
            <a:prstDash val="solid"/>
          </a:ln>
        </p:spPr>
        <p:txBody>
          <a:bodyPr/>
          <a:lstStyle/>
          <a:p>
            <a:endParaRPr lang="en-US"/>
          </a:p>
        </p:txBody>
      </p:sp>
      <p:sp>
        <p:nvSpPr>
          <p:cNvPr id="51" name="Shape 49"/>
          <p:cNvSpPr/>
          <p:nvPr/>
        </p:nvSpPr>
        <p:spPr>
          <a:xfrm>
            <a:off x="0" y="4382885"/>
            <a:ext cx="54864" cy="380307"/>
          </a:xfrm>
          <a:prstGeom prst="rect">
            <a:avLst/>
          </a:prstGeom>
          <a:solidFill>
            <a:srgbClr val="F59E0B"/>
          </a:solidFill>
          <a:ln w="12700">
            <a:solidFill>
              <a:srgbClr val="F59E0B"/>
            </a:solidFill>
            <a:prstDash val="solid"/>
          </a:ln>
        </p:spPr>
        <p:txBody>
          <a:bodyPr/>
          <a:lstStyle/>
          <a:p>
            <a:endParaRPr lang="en-US"/>
          </a:p>
        </p:txBody>
      </p:sp>
      <p:sp>
        <p:nvSpPr>
          <p:cNvPr id="52" name="Text 50"/>
          <p:cNvSpPr/>
          <p:nvPr/>
        </p:nvSpPr>
        <p:spPr>
          <a:xfrm>
            <a:off x="182880" y="4382885"/>
            <a:ext cx="1371600" cy="380307"/>
          </a:xfrm>
          <a:prstGeom prst="rect">
            <a:avLst/>
          </a:prstGeom>
          <a:noFill/>
          <a:ln/>
        </p:spPr>
        <p:txBody>
          <a:bodyPr wrap="square" lIns="0" tIns="0" rIns="0" bIns="0" rtlCol="0" anchor="ctr"/>
          <a:lstStyle/>
          <a:p>
            <a:pPr marL="0" indent="0">
              <a:buNone/>
            </a:pPr>
            <a:r>
              <a:rPr lang="en-US" sz="1150" dirty="0">
                <a:solidFill>
                  <a:srgbClr val="6B93B0"/>
                </a:solidFill>
                <a:latin typeface="Calibri" pitchFamily="34" charset="0"/>
                <a:ea typeface="Calibri" pitchFamily="34" charset="-122"/>
                <a:cs typeface="Calibri" pitchFamily="34" charset="-120"/>
              </a:rPr>
              <a:t>10:45 – 11:05</a:t>
            </a:r>
            <a:endParaRPr lang="en-US" sz="1150" dirty="0"/>
          </a:p>
        </p:txBody>
      </p:sp>
      <p:sp>
        <p:nvSpPr>
          <p:cNvPr id="53" name="Text 51"/>
          <p:cNvSpPr/>
          <p:nvPr/>
        </p:nvSpPr>
        <p:spPr>
          <a:xfrm>
            <a:off x="1737360" y="4382885"/>
            <a:ext cx="6217920" cy="380307"/>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Lab 3: Build the Book Class (DeweyLib M1–M4)</a:t>
            </a:r>
            <a:endParaRPr lang="en-US" sz="1250" dirty="0"/>
          </a:p>
        </p:txBody>
      </p:sp>
      <p:sp>
        <p:nvSpPr>
          <p:cNvPr id="54" name="Text 52"/>
          <p:cNvSpPr/>
          <p:nvPr/>
        </p:nvSpPr>
        <p:spPr>
          <a:xfrm>
            <a:off x="8046720" y="4382885"/>
            <a:ext cx="1005840" cy="380307"/>
          </a:xfrm>
          <a:prstGeom prst="rect">
            <a:avLst/>
          </a:prstGeom>
          <a:noFill/>
          <a:ln/>
        </p:spPr>
        <p:txBody>
          <a:bodyPr wrap="square" lIns="0" tIns="0" rIns="0" bIns="0" rtlCol="0" anchor="ctr"/>
          <a:lstStyle/>
          <a:p>
            <a:pPr marL="0" indent="0" algn="r">
              <a:buNone/>
            </a:pPr>
            <a:r>
              <a:rPr lang="en-US" sz="1000" dirty="0">
                <a:solidFill>
                  <a:srgbClr val="F59E0B"/>
                </a:solidFill>
                <a:latin typeface="Calibri" pitchFamily="34" charset="0"/>
                <a:ea typeface="Calibri" pitchFamily="34" charset="-122"/>
                <a:cs typeface="Calibri" pitchFamily="34" charset="-120"/>
              </a:rPr>
              <a:t>Lab</a:t>
            </a:r>
            <a:endParaRPr lang="en-US" sz="1000" dirty="0"/>
          </a:p>
        </p:txBody>
      </p:sp>
      <p:sp>
        <p:nvSpPr>
          <p:cNvPr id="55" name="Shape 53"/>
          <p:cNvSpPr/>
          <p:nvPr/>
        </p:nvSpPr>
        <p:spPr>
          <a:xfrm>
            <a:off x="0" y="4763193"/>
            <a:ext cx="9144000" cy="380307"/>
          </a:xfrm>
          <a:prstGeom prst="rect">
            <a:avLst/>
          </a:prstGeom>
          <a:solidFill>
            <a:srgbClr val="142952"/>
          </a:solidFill>
          <a:ln w="12700">
            <a:solidFill>
              <a:srgbClr val="142952"/>
            </a:solidFill>
            <a:prstDash val="solid"/>
          </a:ln>
        </p:spPr>
        <p:txBody>
          <a:bodyPr/>
          <a:lstStyle/>
          <a:p>
            <a:endParaRPr lang="en-US"/>
          </a:p>
        </p:txBody>
      </p:sp>
      <p:sp>
        <p:nvSpPr>
          <p:cNvPr id="56" name="Shape 54"/>
          <p:cNvSpPr/>
          <p:nvPr/>
        </p:nvSpPr>
        <p:spPr>
          <a:xfrm>
            <a:off x="0" y="4763193"/>
            <a:ext cx="54864" cy="380307"/>
          </a:xfrm>
          <a:prstGeom prst="rect">
            <a:avLst/>
          </a:prstGeom>
          <a:solidFill>
            <a:srgbClr val="00C2CB"/>
          </a:solidFill>
          <a:ln w="12700">
            <a:solidFill>
              <a:srgbClr val="00C2CB"/>
            </a:solidFill>
            <a:prstDash val="solid"/>
          </a:ln>
        </p:spPr>
        <p:txBody>
          <a:bodyPr/>
          <a:lstStyle/>
          <a:p>
            <a:endParaRPr lang="en-US"/>
          </a:p>
        </p:txBody>
      </p:sp>
      <p:sp>
        <p:nvSpPr>
          <p:cNvPr id="57" name="Text 55"/>
          <p:cNvSpPr/>
          <p:nvPr/>
        </p:nvSpPr>
        <p:spPr>
          <a:xfrm>
            <a:off x="182880" y="4763193"/>
            <a:ext cx="1371600" cy="380307"/>
          </a:xfrm>
          <a:prstGeom prst="rect">
            <a:avLst/>
          </a:prstGeom>
          <a:noFill/>
          <a:ln/>
        </p:spPr>
        <p:txBody>
          <a:bodyPr wrap="square" lIns="0" tIns="0" rIns="0" bIns="0" rtlCol="0" anchor="ctr"/>
          <a:lstStyle/>
          <a:p>
            <a:pPr marL="0" indent="0">
              <a:buNone/>
            </a:pPr>
            <a:r>
              <a:rPr lang="en-US" sz="1150" dirty="0">
                <a:solidFill>
                  <a:srgbClr val="6B93B0"/>
                </a:solidFill>
                <a:latin typeface="Calibri" pitchFamily="34" charset="0"/>
                <a:ea typeface="Calibri" pitchFamily="34" charset="-122"/>
                <a:cs typeface="Calibri" pitchFamily="34" charset="-120"/>
              </a:rPr>
              <a:t>11:05 – 11:30</a:t>
            </a:r>
            <a:endParaRPr lang="en-US" sz="1150" dirty="0"/>
          </a:p>
        </p:txBody>
      </p:sp>
      <p:sp>
        <p:nvSpPr>
          <p:cNvPr id="58" name="Text 56"/>
          <p:cNvSpPr/>
          <p:nvPr/>
        </p:nvSpPr>
        <p:spPr>
          <a:xfrm>
            <a:off x="1737360" y="4763193"/>
            <a:ext cx="6217920" cy="380307"/>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Section 4: Interfaces &amp; Generics + Day 1 Wrap-up</a:t>
            </a:r>
            <a:endParaRPr lang="en-US" sz="1250" dirty="0"/>
          </a:p>
        </p:txBody>
      </p:sp>
      <p:sp>
        <p:nvSpPr>
          <p:cNvPr id="59" name="Text 57"/>
          <p:cNvSpPr/>
          <p:nvPr/>
        </p:nvSpPr>
        <p:spPr>
          <a:xfrm>
            <a:off x="8046720" y="4763193"/>
            <a:ext cx="1005840" cy="380307"/>
          </a:xfrm>
          <a:prstGeom prst="rect">
            <a:avLst/>
          </a:prstGeom>
          <a:noFill/>
          <a:ln/>
        </p:spPr>
        <p:txBody>
          <a:bodyPr wrap="square" lIns="0" tIns="0" rIns="0" bIns="0" rtlCol="0" anchor="ctr"/>
          <a:lstStyle/>
          <a:p>
            <a:pPr marL="0" indent="0" algn="r">
              <a:buNone/>
            </a:pPr>
            <a:r>
              <a:rPr lang="en-US" sz="1000" dirty="0">
                <a:solidFill>
                  <a:srgbClr val="00C2CB"/>
                </a:solidFill>
                <a:latin typeface="Calibri" pitchFamily="34" charset="0"/>
                <a:ea typeface="Calibri" pitchFamily="34" charset="-122"/>
                <a:cs typeface="Calibri" pitchFamily="34" charset="-120"/>
              </a:rPr>
              <a:t>Instruction</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2040"/>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0C2CB"/>
          </a:solidFill>
          <a:ln w="12700">
            <a:solidFill>
              <a:srgbClr val="00C2CB"/>
            </a:solidFill>
            <a:prstDash val="solid"/>
          </a:ln>
        </p:spPr>
        <p:txBody>
          <a:bodyPr/>
          <a:lstStyle/>
          <a:p>
            <a:endParaRPr lang="en-US"/>
          </a:p>
        </p:txBody>
      </p:sp>
      <p:sp>
        <p:nvSpPr>
          <p:cNvPr id="3" name="Text 1"/>
          <p:cNvSpPr/>
          <p:nvPr/>
        </p:nvSpPr>
        <p:spPr>
          <a:xfrm>
            <a:off x="457200" y="73152"/>
            <a:ext cx="2743200" cy="411480"/>
          </a:xfrm>
          <a:prstGeom prst="rect">
            <a:avLst/>
          </a:prstGeom>
          <a:noFill/>
          <a:ln/>
        </p:spPr>
        <p:txBody>
          <a:bodyPr wrap="square" lIns="0" tIns="0" rIns="0" bIns="0" rtlCol="0" anchor="ctr"/>
          <a:lstStyle/>
          <a:p>
            <a:pPr marL="0" indent="0">
              <a:buNone/>
            </a:pPr>
            <a:r>
              <a:rPr lang="en-US" sz="1300" b="1" dirty="0">
                <a:solidFill>
                  <a:srgbClr val="0A1628"/>
                </a:solidFill>
                <a:latin typeface="Calibri" pitchFamily="34" charset="0"/>
                <a:ea typeface="Calibri" pitchFamily="34" charset="-122"/>
                <a:cs typeface="Calibri" pitchFamily="34" charset="-120"/>
              </a:rPr>
              <a:t>SECTION 1</a:t>
            </a:r>
            <a:endParaRPr lang="en-US" sz="1300" dirty="0"/>
          </a:p>
        </p:txBody>
      </p:sp>
      <p:sp>
        <p:nvSpPr>
          <p:cNvPr id="4" name="Text 2"/>
          <p:cNvSpPr/>
          <p:nvPr/>
        </p:nvSpPr>
        <p:spPr>
          <a:xfrm>
            <a:off x="6858000" y="73152"/>
            <a:ext cx="1828800" cy="411480"/>
          </a:xfrm>
          <a:prstGeom prst="rect">
            <a:avLst/>
          </a:prstGeom>
          <a:noFill/>
          <a:ln/>
        </p:spPr>
        <p:txBody>
          <a:bodyPr wrap="square" lIns="0" tIns="0" rIns="0" bIns="0" rtlCol="0" anchor="ctr"/>
          <a:lstStyle/>
          <a:p>
            <a:pPr marL="0" indent="0" algn="r">
              <a:buNone/>
            </a:pPr>
            <a:r>
              <a:rPr lang="en-US" sz="1200" dirty="0">
                <a:solidFill>
                  <a:srgbClr val="0A1628"/>
                </a:solidFill>
                <a:latin typeface="Calibri" pitchFamily="34" charset="0"/>
                <a:ea typeface="Calibri" pitchFamily="34" charset="-122"/>
                <a:cs typeface="Calibri" pitchFamily="34" charset="-120"/>
              </a:rPr>
              <a:t>8:05 – 8:40  (35 min)</a:t>
            </a:r>
            <a:endParaRPr lang="en-US" sz="1200" dirty="0"/>
          </a:p>
        </p:txBody>
      </p:sp>
      <p:sp>
        <p:nvSpPr>
          <p:cNvPr id="5" name="Text 3"/>
          <p:cNvSpPr/>
          <p:nvPr/>
        </p:nvSpPr>
        <p:spPr>
          <a:xfrm>
            <a:off x="457200" y="502920"/>
            <a:ext cx="8229600" cy="502920"/>
          </a:xfrm>
          <a:prstGeom prst="rect">
            <a:avLst/>
          </a:prstGeom>
          <a:noFill/>
          <a:ln/>
        </p:spPr>
        <p:txBody>
          <a:bodyPr wrap="square" lIns="0" tIns="0" rIns="0" bIns="0" rtlCol="0" anchor="ctr"/>
          <a:lstStyle/>
          <a:p>
            <a:pPr marL="0" indent="0">
              <a:buNone/>
            </a:pPr>
            <a:r>
              <a:rPr lang="en-US" sz="2400" b="1" dirty="0">
                <a:solidFill>
                  <a:srgbClr val="0A1628"/>
                </a:solidFill>
                <a:latin typeface="Calibri" pitchFamily="34" charset="0"/>
                <a:ea typeface="Calibri" pitchFamily="34" charset="-122"/>
                <a:cs typeface="Calibri" pitchFamily="34" charset="-120"/>
              </a:rPr>
              <a:t>Introduction to C#</a:t>
            </a:r>
            <a:endParaRPr lang="en-US" sz="2400" dirty="0"/>
          </a:p>
        </p:txBody>
      </p:sp>
      <p:sp>
        <p:nvSpPr>
          <p:cNvPr id="6" name="Text 4"/>
          <p:cNvSpPr/>
          <p:nvPr/>
        </p:nvSpPr>
        <p:spPr>
          <a:xfrm>
            <a:off x="457200" y="1234440"/>
            <a:ext cx="8229600" cy="3657600"/>
          </a:xfrm>
          <a:prstGeom prst="rect">
            <a:avLst/>
          </a:prstGeom>
          <a:noFill/>
          <a:ln/>
        </p:spPr>
        <p:txBody>
          <a:bodyPr wrap="square" rtlCol="0" anchor="t"/>
          <a:lstStyle/>
          <a:p>
            <a:pPr marL="342900" indent="-342900">
              <a:buSzPct val="100000"/>
              <a:buChar char="•"/>
            </a:pPr>
            <a:r>
              <a:rPr lang="en-US" sz="1400" dirty="0">
                <a:solidFill>
                  <a:srgbClr val="B8D4E8"/>
                </a:solidFill>
                <a:latin typeface="Calibri" pitchFamily="34" charset="0"/>
                <a:ea typeface="Calibri" pitchFamily="34" charset="-122"/>
                <a:cs typeface="Calibri" pitchFamily="34" charset="-120"/>
              </a:rPr>
              <a:t>What is C# and why it matters</a:t>
            </a:r>
            <a:endParaRPr lang="en-US" sz="1400" dirty="0"/>
          </a:p>
          <a:p>
            <a:pPr marL="342900" indent="-342900">
              <a:buSzPct val="100000"/>
              <a:buChar char="•"/>
            </a:pPr>
            <a:r>
              <a:rPr lang="en-US" sz="1400" dirty="0">
                <a:solidFill>
                  <a:srgbClr val="B8D4E8"/>
                </a:solidFill>
                <a:latin typeface="Calibri" pitchFamily="34" charset="0"/>
                <a:ea typeface="Calibri" pitchFamily="34" charset="-122"/>
                <a:cs typeface="Calibri" pitchFamily="34" charset="-120"/>
              </a:rPr>
              <a:t>History of C# — from 2002 to today</a:t>
            </a:r>
            <a:endParaRPr lang="en-US" sz="1400" dirty="0"/>
          </a:p>
          <a:p>
            <a:pPr marL="342900" indent="-342900">
              <a:buSzPct val="100000"/>
              <a:buChar char="•"/>
            </a:pPr>
            <a:r>
              <a:rPr lang="en-US" sz="1400" dirty="0">
                <a:solidFill>
                  <a:srgbClr val="B8D4E8"/>
                </a:solidFill>
                <a:latin typeface="Calibri" pitchFamily="34" charset="0"/>
                <a:ea typeface="Calibri" pitchFamily="34" charset="-122"/>
                <a:cs typeface="Calibri" pitchFamily="34" charset="-120"/>
              </a:rPr>
              <a:t>Key features of the language</a:t>
            </a:r>
            <a:endParaRPr lang="en-US" sz="1400" dirty="0"/>
          </a:p>
          <a:p>
            <a:pPr marL="342900" indent="-342900">
              <a:buSzPct val="100000"/>
              <a:buChar char="•"/>
            </a:pPr>
            <a:r>
              <a:rPr lang="en-US" sz="1400" dirty="0">
                <a:solidFill>
                  <a:srgbClr val="B8D4E8"/>
                </a:solidFill>
                <a:latin typeface="Calibri" pitchFamily="34" charset="0"/>
                <a:ea typeface="Calibri" pitchFamily="34" charset="-122"/>
                <a:cs typeface="Calibri" pitchFamily="34" charset="-120"/>
              </a:rPr>
              <a:t>The .NET Framework, CLR, and the execution model</a:t>
            </a:r>
            <a:endParaRPr lang="en-US" sz="1400" dirty="0"/>
          </a:p>
          <a:p>
            <a:pPr marL="342900" indent="-342900">
              <a:buSzPct val="100000"/>
              <a:buChar char="•"/>
            </a:pPr>
            <a:r>
              <a:rPr lang="en-US" sz="1400" dirty="0">
                <a:solidFill>
                  <a:srgbClr val="B8D4E8"/>
                </a:solidFill>
                <a:latin typeface="Calibri" pitchFamily="34" charset="0"/>
                <a:ea typeface="Calibri" pitchFamily="34" charset="-122"/>
                <a:cs typeface="Calibri" pitchFamily="34" charset="-120"/>
              </a:rPr>
              <a:t>Types of C# applications</a:t>
            </a:r>
            <a:endParaRPr lang="en-US" sz="1400" dirty="0"/>
          </a:p>
          <a:p>
            <a:pPr marL="342900" indent="-342900">
              <a:buSzPct val="100000"/>
              <a:buChar char="•"/>
            </a:pPr>
            <a:r>
              <a:rPr lang="en-US" sz="1400" dirty="0">
                <a:solidFill>
                  <a:srgbClr val="B8D4E8"/>
                </a:solidFill>
                <a:latin typeface="Calibri" pitchFamily="34" charset="0"/>
                <a:ea typeface="Calibri" pitchFamily="34" charset="-122"/>
                <a:cs typeface="Calibri" pitchFamily="34" charset="-120"/>
              </a:rPr>
              <a:t>Your development environment — VS Code, the CLI, and Intellisense</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142952"/>
          </a:solidFill>
          <a:ln w="12700">
            <a:solidFill>
              <a:srgbClr val="142952"/>
            </a:solidFill>
            <a:prstDash val="solid"/>
          </a:ln>
        </p:spPr>
        <p:txBody>
          <a:bodyPr/>
          <a:lstStyle/>
          <a:p>
            <a:endParaRPr lang="en-US"/>
          </a:p>
        </p:txBody>
      </p:sp>
      <p:sp>
        <p:nvSpPr>
          <p:cNvPr id="3" name="Shape 1"/>
          <p:cNvSpPr/>
          <p:nvPr/>
        </p:nvSpPr>
        <p:spPr>
          <a:xfrm>
            <a:off x="0" y="713232"/>
            <a:ext cx="9144000" cy="45720"/>
          </a:xfrm>
          <a:prstGeom prst="rect">
            <a:avLst/>
          </a:prstGeom>
          <a:solidFill>
            <a:srgbClr val="00C2CB"/>
          </a:solidFill>
          <a:ln w="12700">
            <a:solidFill>
              <a:srgbClr val="00C2CB"/>
            </a:solidFill>
            <a:prstDash val="solid"/>
          </a:ln>
        </p:spPr>
        <p:txBody>
          <a:bodyPr/>
          <a:lstStyle/>
          <a:p>
            <a:endParaRPr lang="en-US"/>
          </a:p>
        </p:txBody>
      </p:sp>
      <p:sp>
        <p:nvSpPr>
          <p:cNvPr id="4" name="Text 2"/>
          <p:cNvSpPr/>
          <p:nvPr/>
        </p:nvSpPr>
        <p:spPr>
          <a:xfrm>
            <a:off x="365760" y="91440"/>
            <a:ext cx="8412480" cy="548640"/>
          </a:xfrm>
          <a:prstGeom prst="rect">
            <a:avLst/>
          </a:prstGeom>
          <a:noFill/>
          <a:ln/>
        </p:spPr>
        <p:txBody>
          <a:bodyPr wrap="square" lIns="0" tIns="0" rIns="0" bIns="0"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What is C#?</a:t>
            </a:r>
            <a:endParaRPr lang="en-US" sz="2100" dirty="0"/>
          </a:p>
        </p:txBody>
      </p:sp>
      <p:sp>
        <p:nvSpPr>
          <p:cNvPr id="5" name="Text 3"/>
          <p:cNvSpPr/>
          <p:nvPr/>
        </p:nvSpPr>
        <p:spPr>
          <a:xfrm>
            <a:off x="365760" y="868680"/>
            <a:ext cx="8412480" cy="4023360"/>
          </a:xfrm>
          <a:prstGeom prst="rect">
            <a:avLst/>
          </a:prstGeom>
          <a:noFill/>
          <a:ln/>
        </p:spPr>
        <p:txBody>
          <a:bodyPr wrap="square" rtlCol="0" anchor="t"/>
          <a:lstStyle/>
          <a:p>
            <a:pPr marL="342900" indent="-342900">
              <a:buSzPct val="100000"/>
              <a:buChar char="•"/>
            </a:pPr>
            <a:r>
              <a:rPr lang="en-US" sz="1400" dirty="0">
                <a:solidFill>
                  <a:srgbClr val="B8D4E8"/>
                </a:solidFill>
                <a:latin typeface="Calibri" pitchFamily="34" charset="0"/>
                <a:ea typeface="Calibri" pitchFamily="34" charset="-122"/>
                <a:cs typeface="Calibri" pitchFamily="34" charset="-120"/>
              </a:rPr>
              <a:t>C# (pronounced 'C sharp') is a modern, strongly-typed, object-oriented language developed by Microsoft — first released in 2002 with .NET 1.0</a:t>
            </a:r>
            <a:endParaRPr lang="en-US" sz="1400" dirty="0"/>
          </a:p>
          <a:p>
            <a:pPr marL="342900" indent="-342900">
              <a:buSzPct val="100000"/>
              <a:buChar char="•"/>
            </a:pPr>
            <a:r>
              <a:rPr lang="en-US" sz="1400" dirty="0">
                <a:solidFill>
                  <a:srgbClr val="B8D4E8"/>
                </a:solidFill>
                <a:latin typeface="Calibri" pitchFamily="34" charset="0"/>
                <a:ea typeface="Calibri" pitchFamily="34" charset="-122"/>
                <a:cs typeface="Calibri" pitchFamily="34" charset="-120"/>
              </a:rPr>
              <a:t>Managed language: your code runs inside the Common Language Runtime (CLR), which handles memory, exceptions, and security</a:t>
            </a:r>
            <a:endParaRPr lang="en-US" sz="1400" dirty="0"/>
          </a:p>
          <a:p>
            <a:pPr marL="342900" indent="-342900">
              <a:buSzPct val="100000"/>
              <a:buChar char="•"/>
            </a:pPr>
            <a:r>
              <a:rPr lang="en-US" sz="1400" dirty="0">
                <a:solidFill>
                  <a:srgbClr val="B8D4E8"/>
                </a:solidFill>
                <a:latin typeface="Calibri" pitchFamily="34" charset="0"/>
                <a:ea typeface="Calibri" pitchFamily="34" charset="-122"/>
                <a:cs typeface="Calibri" pitchFamily="34" charset="-120"/>
              </a:rPr>
              <a:t>Multi-paradigm: OOP first, but also supports functional, async, and generic programming styles</a:t>
            </a:r>
            <a:endParaRPr lang="en-US" sz="1400" dirty="0"/>
          </a:p>
          <a:p>
            <a:pPr marL="342900" indent="-342900">
              <a:buSzPct val="100000"/>
              <a:buChar char="•"/>
            </a:pPr>
            <a:r>
              <a:rPr lang="en-US" sz="1400" dirty="0">
                <a:solidFill>
                  <a:srgbClr val="B8D4E8"/>
                </a:solidFill>
                <a:latin typeface="Calibri" pitchFamily="34" charset="0"/>
                <a:ea typeface="Calibri" pitchFamily="34" charset="-122"/>
                <a:cs typeface="Calibri" pitchFamily="34" charset="-120"/>
              </a:rPr>
              <a:t>Cross-platform since .NET Core (2016): runs on Windows, Linux, macOS, iOS, Android, and WebAssembly</a:t>
            </a:r>
            <a:endParaRPr lang="en-US" sz="1400" dirty="0"/>
          </a:p>
          <a:p>
            <a:pPr marL="342900" indent="-342900">
              <a:buSzPct val="100000"/>
              <a:buChar char="•"/>
            </a:pPr>
            <a:r>
              <a:rPr lang="en-US" sz="1400" dirty="0">
                <a:solidFill>
                  <a:srgbClr val="B8D4E8"/>
                </a:solidFill>
                <a:latin typeface="Calibri" pitchFamily="34" charset="0"/>
                <a:ea typeface="Calibri" pitchFamily="34" charset="-122"/>
                <a:cs typeface="Calibri" pitchFamily="34" charset="-120"/>
              </a:rPr>
              <a:t>Consistently top-10 in developer surveys — backed by Microsoft, open-sourced on GitHub</a:t>
            </a:r>
            <a:endParaRPr lang="en-US" sz="1400" dirty="0"/>
          </a:p>
        </p:txBody>
      </p:sp>
      <p:sp>
        <p:nvSpPr>
          <p:cNvPr id="6" name="Shape 4"/>
          <p:cNvSpPr/>
          <p:nvPr/>
        </p:nvSpPr>
        <p:spPr>
          <a:xfrm>
            <a:off x="7498080" y="137160"/>
            <a:ext cx="1463040" cy="420624"/>
          </a:xfrm>
          <a:prstGeom prst="rect">
            <a:avLst/>
          </a:prstGeom>
          <a:solidFill>
            <a:srgbClr val="F59E0B"/>
          </a:solidFill>
          <a:ln w="12700">
            <a:solidFill>
              <a:srgbClr val="F59E0B"/>
            </a:solidFill>
            <a:prstDash val="solid"/>
          </a:ln>
        </p:spPr>
        <p:txBody>
          <a:bodyPr/>
          <a:lstStyle/>
          <a:p>
            <a:endParaRPr lang="en-US"/>
          </a:p>
        </p:txBody>
      </p:sp>
      <p:sp>
        <p:nvSpPr>
          <p:cNvPr id="7" name="Text 5"/>
          <p:cNvSpPr/>
          <p:nvPr/>
        </p:nvSpPr>
        <p:spPr>
          <a:xfrm>
            <a:off x="7498080" y="118872"/>
            <a:ext cx="1463040" cy="457200"/>
          </a:xfrm>
          <a:prstGeom prst="rect">
            <a:avLst/>
          </a:prstGeom>
          <a:noFill/>
          <a:ln/>
        </p:spPr>
        <p:txBody>
          <a:bodyPr wrap="square" lIns="0" tIns="0" rIns="0" bIns="0" rtlCol="0" anchor="ctr"/>
          <a:lstStyle/>
          <a:p>
            <a:pPr marL="0" indent="0" algn="ctr">
              <a:buNone/>
            </a:pPr>
            <a:r>
              <a:rPr lang="en-US" sz="1100" b="1" dirty="0">
                <a:solidFill>
                  <a:srgbClr val="0A1628"/>
                </a:solidFill>
                <a:latin typeface="Calibri" pitchFamily="34" charset="0"/>
                <a:ea typeface="Calibri" pitchFamily="34" charset="-122"/>
                <a:cs typeface="Calibri" pitchFamily="34" charset="-120"/>
              </a:rPr>
              <a:t>⏱ 8:05 – 8:15</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142952"/>
          </a:solidFill>
          <a:ln w="12700">
            <a:solidFill>
              <a:srgbClr val="142952"/>
            </a:solidFill>
            <a:prstDash val="solid"/>
          </a:ln>
        </p:spPr>
        <p:txBody>
          <a:bodyPr/>
          <a:lstStyle/>
          <a:p>
            <a:endParaRPr lang="en-US"/>
          </a:p>
        </p:txBody>
      </p:sp>
      <p:sp>
        <p:nvSpPr>
          <p:cNvPr id="3" name="Shape 1"/>
          <p:cNvSpPr/>
          <p:nvPr/>
        </p:nvSpPr>
        <p:spPr>
          <a:xfrm>
            <a:off x="0" y="713232"/>
            <a:ext cx="9144000" cy="45720"/>
          </a:xfrm>
          <a:prstGeom prst="rect">
            <a:avLst/>
          </a:prstGeom>
          <a:solidFill>
            <a:srgbClr val="00C2CB"/>
          </a:solidFill>
          <a:ln w="12700">
            <a:solidFill>
              <a:srgbClr val="00C2CB"/>
            </a:solidFill>
            <a:prstDash val="solid"/>
          </a:ln>
        </p:spPr>
        <p:txBody>
          <a:bodyPr/>
          <a:lstStyle/>
          <a:p>
            <a:endParaRPr lang="en-US"/>
          </a:p>
        </p:txBody>
      </p:sp>
      <p:sp>
        <p:nvSpPr>
          <p:cNvPr id="4" name="Text 2"/>
          <p:cNvSpPr/>
          <p:nvPr/>
        </p:nvSpPr>
        <p:spPr>
          <a:xfrm>
            <a:off x="365760" y="91440"/>
            <a:ext cx="8412480" cy="548640"/>
          </a:xfrm>
          <a:prstGeom prst="rect">
            <a:avLst/>
          </a:prstGeom>
          <a:noFill/>
          <a:ln/>
        </p:spPr>
        <p:txBody>
          <a:bodyPr wrap="square" lIns="0" tIns="0" rIns="0" bIns="0"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History of C# at a Glance</a:t>
            </a:r>
            <a:endParaRPr lang="en-US" sz="2100" dirty="0"/>
          </a:p>
        </p:txBody>
      </p:sp>
      <p:sp>
        <p:nvSpPr>
          <p:cNvPr id="5" name="Shape 3"/>
          <p:cNvSpPr/>
          <p:nvPr/>
        </p:nvSpPr>
        <p:spPr>
          <a:xfrm>
            <a:off x="320040" y="914400"/>
            <a:ext cx="4114800" cy="1234440"/>
          </a:xfrm>
          <a:prstGeom prst="rect">
            <a:avLst/>
          </a:prstGeom>
          <a:solidFill>
            <a:srgbClr val="142952"/>
          </a:solidFill>
          <a:ln w="19050">
            <a:solidFill>
              <a:srgbClr val="6B93B0">
                <a:alpha val="45000"/>
              </a:srgbClr>
            </a:solidFill>
            <a:prstDash val="solid"/>
          </a:ln>
          <a:effectLst>
            <a:outerShdw blurRad="63500" dist="25400" dir="8100000" algn="bl" rotWithShape="0">
              <a:srgbClr val="000000">
                <a:alpha val="18000"/>
              </a:srgbClr>
            </a:outerShdw>
          </a:effectLst>
        </p:spPr>
        <p:txBody>
          <a:bodyPr/>
          <a:lstStyle/>
          <a:p>
            <a:endParaRPr lang="en-US"/>
          </a:p>
        </p:txBody>
      </p:sp>
      <p:sp>
        <p:nvSpPr>
          <p:cNvPr id="6" name="Shape 4"/>
          <p:cNvSpPr/>
          <p:nvPr/>
        </p:nvSpPr>
        <p:spPr>
          <a:xfrm>
            <a:off x="320040" y="914400"/>
            <a:ext cx="4114800" cy="36576"/>
          </a:xfrm>
          <a:prstGeom prst="rect">
            <a:avLst/>
          </a:prstGeom>
          <a:solidFill>
            <a:srgbClr val="6B93B0"/>
          </a:solidFill>
          <a:ln w="12700">
            <a:solidFill>
              <a:srgbClr val="6B93B0"/>
            </a:solidFill>
            <a:prstDash val="solid"/>
          </a:ln>
        </p:spPr>
        <p:txBody>
          <a:bodyPr/>
          <a:lstStyle/>
          <a:p>
            <a:endParaRPr lang="en-US"/>
          </a:p>
        </p:txBody>
      </p:sp>
      <p:sp>
        <p:nvSpPr>
          <p:cNvPr id="7" name="Text 5"/>
          <p:cNvSpPr/>
          <p:nvPr/>
        </p:nvSpPr>
        <p:spPr>
          <a:xfrm>
            <a:off x="429768" y="987552"/>
            <a:ext cx="3931920" cy="292608"/>
          </a:xfrm>
          <a:prstGeom prst="rect">
            <a:avLst/>
          </a:prstGeom>
          <a:noFill/>
          <a:ln/>
        </p:spPr>
        <p:txBody>
          <a:bodyPr wrap="square" lIns="0" tIns="0" rIns="0" bIns="0" rtlCol="0" anchor="ctr"/>
          <a:lstStyle/>
          <a:p>
            <a:pPr marL="0" indent="0">
              <a:buNone/>
            </a:pPr>
            <a:r>
              <a:rPr lang="en-US" sz="1200" b="1" dirty="0">
                <a:solidFill>
                  <a:srgbClr val="6B93B0"/>
                </a:solidFill>
                <a:latin typeface="Calibri" pitchFamily="34" charset="0"/>
                <a:ea typeface="Calibri" pitchFamily="34" charset="-122"/>
                <a:cs typeface="Calibri" pitchFamily="34" charset="-120"/>
              </a:rPr>
              <a:t>C# 1.0 — 2002</a:t>
            </a:r>
            <a:endParaRPr lang="en-US" sz="1200" dirty="0"/>
          </a:p>
        </p:txBody>
      </p:sp>
      <p:sp>
        <p:nvSpPr>
          <p:cNvPr id="8" name="Text 6"/>
          <p:cNvSpPr/>
          <p:nvPr/>
        </p:nvSpPr>
        <p:spPr>
          <a:xfrm>
            <a:off x="429768" y="1298448"/>
            <a:ext cx="3931920" cy="731520"/>
          </a:xfrm>
          <a:prstGeom prst="rect">
            <a:avLst/>
          </a:prstGeom>
          <a:noFill/>
          <a:ln/>
        </p:spPr>
        <p:txBody>
          <a:bodyPr wrap="square" lIns="0" tIns="0" rIns="0" bIns="0" rtlCol="0" anchor="t"/>
          <a:lstStyle/>
          <a:p>
            <a:pPr marL="0" indent="0">
              <a:buNone/>
            </a:pPr>
            <a:r>
              <a:rPr lang="en-US" sz="1100" dirty="0">
                <a:solidFill>
                  <a:srgbClr val="B8D4E8"/>
                </a:solidFill>
                <a:latin typeface="Calibri" pitchFamily="34" charset="0"/>
                <a:ea typeface="Calibri" pitchFamily="34" charset="-122"/>
                <a:cs typeface="Calibri" pitchFamily="34" charset="-120"/>
              </a:rPr>
              <a:t>Classes, interfaces, delegates, events. The core OOP model.</a:t>
            </a:r>
            <a:endParaRPr lang="en-US" sz="1100" dirty="0"/>
          </a:p>
        </p:txBody>
      </p:sp>
      <p:sp>
        <p:nvSpPr>
          <p:cNvPr id="9" name="Shape 7"/>
          <p:cNvSpPr/>
          <p:nvPr/>
        </p:nvSpPr>
        <p:spPr>
          <a:xfrm>
            <a:off x="4572000" y="914400"/>
            <a:ext cx="4114800" cy="1234440"/>
          </a:xfrm>
          <a:prstGeom prst="rect">
            <a:avLst/>
          </a:prstGeom>
          <a:solidFill>
            <a:srgbClr val="142952"/>
          </a:solidFill>
          <a:ln w="19050">
            <a:solidFill>
              <a:srgbClr val="00C2CB">
                <a:alpha val="45000"/>
              </a:srgbClr>
            </a:solidFill>
            <a:prstDash val="solid"/>
          </a:ln>
          <a:effectLst>
            <a:outerShdw blurRad="63500" dist="25400" dir="8100000" algn="bl" rotWithShape="0">
              <a:srgbClr val="000000">
                <a:alpha val="18000"/>
              </a:srgbClr>
            </a:outerShdw>
          </a:effectLst>
        </p:spPr>
        <p:txBody>
          <a:bodyPr/>
          <a:lstStyle/>
          <a:p>
            <a:endParaRPr lang="en-US"/>
          </a:p>
        </p:txBody>
      </p:sp>
      <p:sp>
        <p:nvSpPr>
          <p:cNvPr id="10" name="Shape 8"/>
          <p:cNvSpPr/>
          <p:nvPr/>
        </p:nvSpPr>
        <p:spPr>
          <a:xfrm>
            <a:off x="4572000" y="914400"/>
            <a:ext cx="4114800" cy="36576"/>
          </a:xfrm>
          <a:prstGeom prst="rect">
            <a:avLst/>
          </a:prstGeom>
          <a:solidFill>
            <a:srgbClr val="00C2CB"/>
          </a:solidFill>
          <a:ln w="12700">
            <a:solidFill>
              <a:srgbClr val="00C2CB"/>
            </a:solidFill>
            <a:prstDash val="solid"/>
          </a:ln>
        </p:spPr>
        <p:txBody>
          <a:bodyPr/>
          <a:lstStyle/>
          <a:p>
            <a:endParaRPr lang="en-US"/>
          </a:p>
        </p:txBody>
      </p:sp>
      <p:sp>
        <p:nvSpPr>
          <p:cNvPr id="11" name="Text 9"/>
          <p:cNvSpPr/>
          <p:nvPr/>
        </p:nvSpPr>
        <p:spPr>
          <a:xfrm>
            <a:off x="4681728" y="987552"/>
            <a:ext cx="3931920" cy="292608"/>
          </a:xfrm>
          <a:prstGeom prst="rect">
            <a:avLst/>
          </a:prstGeom>
          <a:noFill/>
          <a:ln/>
        </p:spPr>
        <p:txBody>
          <a:bodyPr wrap="square" lIns="0" tIns="0" rIns="0" bIns="0" rtlCol="0" anchor="ctr"/>
          <a:lstStyle/>
          <a:p>
            <a:pPr marL="0" indent="0">
              <a:buNone/>
            </a:pPr>
            <a:r>
              <a:rPr lang="en-US" sz="1200" b="1" dirty="0">
                <a:solidFill>
                  <a:srgbClr val="00C2CB"/>
                </a:solidFill>
                <a:latin typeface="Calibri" pitchFamily="34" charset="0"/>
                <a:ea typeface="Calibri" pitchFamily="34" charset="-122"/>
                <a:cs typeface="Calibri" pitchFamily="34" charset="-120"/>
              </a:rPr>
              <a:t>C# 2.0 — 2005</a:t>
            </a:r>
            <a:endParaRPr lang="en-US" sz="1200" dirty="0"/>
          </a:p>
        </p:txBody>
      </p:sp>
      <p:sp>
        <p:nvSpPr>
          <p:cNvPr id="12" name="Text 10"/>
          <p:cNvSpPr/>
          <p:nvPr/>
        </p:nvSpPr>
        <p:spPr>
          <a:xfrm>
            <a:off x="4681728" y="1298448"/>
            <a:ext cx="3931920" cy="731520"/>
          </a:xfrm>
          <a:prstGeom prst="rect">
            <a:avLst/>
          </a:prstGeom>
          <a:noFill/>
          <a:ln/>
        </p:spPr>
        <p:txBody>
          <a:bodyPr wrap="square" lIns="0" tIns="0" rIns="0" bIns="0" rtlCol="0" anchor="t"/>
          <a:lstStyle/>
          <a:p>
            <a:pPr marL="0" indent="0">
              <a:buNone/>
            </a:pPr>
            <a:r>
              <a:rPr lang="en-US" sz="1100" dirty="0">
                <a:solidFill>
                  <a:srgbClr val="B8D4E8"/>
                </a:solidFill>
                <a:latin typeface="Calibri" pitchFamily="34" charset="0"/>
                <a:ea typeface="Calibri" pitchFamily="34" charset="-122"/>
                <a:cs typeface="Calibri" pitchFamily="34" charset="-120"/>
              </a:rPr>
              <a:t>Generics, nullable types, anonymous methods — the productivity leap</a:t>
            </a:r>
            <a:endParaRPr lang="en-US" sz="1100" dirty="0"/>
          </a:p>
        </p:txBody>
      </p:sp>
      <p:sp>
        <p:nvSpPr>
          <p:cNvPr id="13" name="Shape 11"/>
          <p:cNvSpPr/>
          <p:nvPr/>
        </p:nvSpPr>
        <p:spPr>
          <a:xfrm>
            <a:off x="320040" y="2286000"/>
            <a:ext cx="4114800" cy="1234440"/>
          </a:xfrm>
          <a:prstGeom prst="rect">
            <a:avLst/>
          </a:prstGeom>
          <a:solidFill>
            <a:srgbClr val="142952"/>
          </a:solidFill>
          <a:ln w="19050">
            <a:solidFill>
              <a:srgbClr val="00C2CB">
                <a:alpha val="45000"/>
              </a:srgbClr>
            </a:solidFill>
            <a:prstDash val="solid"/>
          </a:ln>
          <a:effectLst>
            <a:outerShdw blurRad="63500" dist="25400" dir="8100000" algn="bl" rotWithShape="0">
              <a:srgbClr val="000000">
                <a:alpha val="18000"/>
              </a:srgbClr>
            </a:outerShdw>
          </a:effectLst>
        </p:spPr>
        <p:txBody>
          <a:bodyPr/>
          <a:lstStyle/>
          <a:p>
            <a:endParaRPr lang="en-US"/>
          </a:p>
        </p:txBody>
      </p:sp>
      <p:sp>
        <p:nvSpPr>
          <p:cNvPr id="14" name="Shape 12"/>
          <p:cNvSpPr/>
          <p:nvPr/>
        </p:nvSpPr>
        <p:spPr>
          <a:xfrm>
            <a:off x="320040" y="2286000"/>
            <a:ext cx="4114800" cy="36576"/>
          </a:xfrm>
          <a:prstGeom prst="rect">
            <a:avLst/>
          </a:prstGeom>
          <a:solidFill>
            <a:srgbClr val="00C2CB"/>
          </a:solidFill>
          <a:ln w="12700">
            <a:solidFill>
              <a:srgbClr val="00C2CB"/>
            </a:solidFill>
            <a:prstDash val="solid"/>
          </a:ln>
        </p:spPr>
        <p:txBody>
          <a:bodyPr/>
          <a:lstStyle/>
          <a:p>
            <a:endParaRPr lang="en-US"/>
          </a:p>
        </p:txBody>
      </p:sp>
      <p:sp>
        <p:nvSpPr>
          <p:cNvPr id="15" name="Text 13"/>
          <p:cNvSpPr/>
          <p:nvPr/>
        </p:nvSpPr>
        <p:spPr>
          <a:xfrm>
            <a:off x="429768" y="2359152"/>
            <a:ext cx="3931920" cy="292608"/>
          </a:xfrm>
          <a:prstGeom prst="rect">
            <a:avLst/>
          </a:prstGeom>
          <a:noFill/>
          <a:ln/>
        </p:spPr>
        <p:txBody>
          <a:bodyPr wrap="square" lIns="0" tIns="0" rIns="0" bIns="0" rtlCol="0" anchor="ctr"/>
          <a:lstStyle/>
          <a:p>
            <a:pPr marL="0" indent="0">
              <a:buNone/>
            </a:pPr>
            <a:r>
              <a:rPr lang="en-US" sz="1200" b="1" dirty="0">
                <a:solidFill>
                  <a:srgbClr val="00C2CB"/>
                </a:solidFill>
                <a:latin typeface="Calibri" pitchFamily="34" charset="0"/>
                <a:ea typeface="Calibri" pitchFamily="34" charset="-122"/>
                <a:cs typeface="Calibri" pitchFamily="34" charset="-120"/>
              </a:rPr>
              <a:t>C# 3.0 — 2007</a:t>
            </a:r>
            <a:endParaRPr lang="en-US" sz="1200" dirty="0"/>
          </a:p>
        </p:txBody>
      </p:sp>
      <p:sp>
        <p:nvSpPr>
          <p:cNvPr id="16" name="Text 14"/>
          <p:cNvSpPr/>
          <p:nvPr/>
        </p:nvSpPr>
        <p:spPr>
          <a:xfrm>
            <a:off x="429768" y="2670048"/>
            <a:ext cx="3931920" cy="731520"/>
          </a:xfrm>
          <a:prstGeom prst="rect">
            <a:avLst/>
          </a:prstGeom>
          <a:noFill/>
          <a:ln/>
        </p:spPr>
        <p:txBody>
          <a:bodyPr wrap="square" lIns="0" tIns="0" rIns="0" bIns="0" rtlCol="0" anchor="t"/>
          <a:lstStyle/>
          <a:p>
            <a:pPr marL="0" indent="0">
              <a:buNone/>
            </a:pPr>
            <a:r>
              <a:rPr lang="en-US" sz="1100" dirty="0">
                <a:solidFill>
                  <a:srgbClr val="B8D4E8"/>
                </a:solidFill>
                <a:latin typeface="Calibri" pitchFamily="34" charset="0"/>
                <a:ea typeface="Calibri" pitchFamily="34" charset="-122"/>
                <a:cs typeface="Calibri" pitchFamily="34" charset="-120"/>
              </a:rPr>
              <a:t>LINQ, lambda expressions, var, extension methods</a:t>
            </a:r>
            <a:endParaRPr lang="en-US" sz="1100" dirty="0"/>
          </a:p>
        </p:txBody>
      </p:sp>
      <p:sp>
        <p:nvSpPr>
          <p:cNvPr id="17" name="Shape 15"/>
          <p:cNvSpPr/>
          <p:nvPr/>
        </p:nvSpPr>
        <p:spPr>
          <a:xfrm>
            <a:off x="4572000" y="2286000"/>
            <a:ext cx="4114800" cy="1234440"/>
          </a:xfrm>
          <a:prstGeom prst="rect">
            <a:avLst/>
          </a:prstGeom>
          <a:solidFill>
            <a:srgbClr val="142952"/>
          </a:solidFill>
          <a:ln w="19050">
            <a:solidFill>
              <a:srgbClr val="F59E0B">
                <a:alpha val="45000"/>
              </a:srgbClr>
            </a:solidFill>
            <a:prstDash val="solid"/>
          </a:ln>
          <a:effectLst>
            <a:outerShdw blurRad="63500" dist="25400" dir="8100000" algn="bl" rotWithShape="0">
              <a:srgbClr val="000000">
                <a:alpha val="18000"/>
              </a:srgbClr>
            </a:outerShdw>
          </a:effectLst>
        </p:spPr>
        <p:txBody>
          <a:bodyPr/>
          <a:lstStyle/>
          <a:p>
            <a:endParaRPr lang="en-US"/>
          </a:p>
        </p:txBody>
      </p:sp>
      <p:sp>
        <p:nvSpPr>
          <p:cNvPr id="18" name="Shape 16"/>
          <p:cNvSpPr/>
          <p:nvPr/>
        </p:nvSpPr>
        <p:spPr>
          <a:xfrm>
            <a:off x="4572000" y="2286000"/>
            <a:ext cx="4114800" cy="36576"/>
          </a:xfrm>
          <a:prstGeom prst="rect">
            <a:avLst/>
          </a:prstGeom>
          <a:solidFill>
            <a:srgbClr val="F59E0B"/>
          </a:solidFill>
          <a:ln w="12700">
            <a:solidFill>
              <a:srgbClr val="F59E0B"/>
            </a:solidFill>
            <a:prstDash val="solid"/>
          </a:ln>
        </p:spPr>
        <p:txBody>
          <a:bodyPr/>
          <a:lstStyle/>
          <a:p>
            <a:endParaRPr lang="en-US"/>
          </a:p>
        </p:txBody>
      </p:sp>
      <p:sp>
        <p:nvSpPr>
          <p:cNvPr id="19" name="Text 17"/>
          <p:cNvSpPr/>
          <p:nvPr/>
        </p:nvSpPr>
        <p:spPr>
          <a:xfrm>
            <a:off x="4681728" y="2359152"/>
            <a:ext cx="3931920" cy="292608"/>
          </a:xfrm>
          <a:prstGeom prst="rect">
            <a:avLst/>
          </a:prstGeom>
          <a:noFill/>
          <a:ln/>
        </p:spPr>
        <p:txBody>
          <a:bodyPr wrap="square" lIns="0" tIns="0" rIns="0" bIns="0" rtlCol="0" anchor="ctr"/>
          <a:lstStyle/>
          <a:p>
            <a:pPr marL="0" indent="0">
              <a:buNone/>
            </a:pPr>
            <a:r>
              <a:rPr lang="en-US" sz="1200" b="1" dirty="0">
                <a:solidFill>
                  <a:srgbClr val="F59E0B"/>
                </a:solidFill>
                <a:latin typeface="Calibri" pitchFamily="34" charset="0"/>
                <a:ea typeface="Calibri" pitchFamily="34" charset="-122"/>
                <a:cs typeface="Calibri" pitchFamily="34" charset="-120"/>
              </a:rPr>
              <a:t>C# 5.0 — 2012</a:t>
            </a:r>
            <a:endParaRPr lang="en-US" sz="1200" dirty="0"/>
          </a:p>
        </p:txBody>
      </p:sp>
      <p:sp>
        <p:nvSpPr>
          <p:cNvPr id="20" name="Text 18"/>
          <p:cNvSpPr/>
          <p:nvPr/>
        </p:nvSpPr>
        <p:spPr>
          <a:xfrm>
            <a:off x="4681728" y="2670048"/>
            <a:ext cx="3931920" cy="731520"/>
          </a:xfrm>
          <a:prstGeom prst="rect">
            <a:avLst/>
          </a:prstGeom>
          <a:noFill/>
          <a:ln/>
        </p:spPr>
        <p:txBody>
          <a:bodyPr wrap="square" lIns="0" tIns="0" rIns="0" bIns="0" rtlCol="0" anchor="t"/>
          <a:lstStyle/>
          <a:p>
            <a:pPr marL="0" indent="0">
              <a:buNone/>
            </a:pPr>
            <a:r>
              <a:rPr lang="en-US" sz="1100" dirty="0">
                <a:solidFill>
                  <a:srgbClr val="B8D4E8"/>
                </a:solidFill>
                <a:latin typeface="Calibri" pitchFamily="34" charset="0"/>
                <a:ea typeface="Calibri" pitchFamily="34" charset="-122"/>
                <a:cs typeface="Calibri" pitchFamily="34" charset="-120"/>
              </a:rPr>
              <a:t>async / await — async programming became mainstream</a:t>
            </a:r>
            <a:endParaRPr lang="en-US" sz="1100" dirty="0"/>
          </a:p>
        </p:txBody>
      </p:sp>
      <p:sp>
        <p:nvSpPr>
          <p:cNvPr id="21" name="Shape 19"/>
          <p:cNvSpPr/>
          <p:nvPr/>
        </p:nvSpPr>
        <p:spPr>
          <a:xfrm>
            <a:off x="320040" y="3657600"/>
            <a:ext cx="4114800" cy="1234440"/>
          </a:xfrm>
          <a:prstGeom prst="rect">
            <a:avLst/>
          </a:prstGeom>
          <a:solidFill>
            <a:srgbClr val="142952"/>
          </a:solidFill>
          <a:ln w="19050">
            <a:solidFill>
              <a:srgbClr val="F59E0B">
                <a:alpha val="45000"/>
              </a:srgbClr>
            </a:solidFill>
            <a:prstDash val="solid"/>
          </a:ln>
          <a:effectLst>
            <a:outerShdw blurRad="63500" dist="25400" dir="8100000" algn="bl" rotWithShape="0">
              <a:srgbClr val="000000">
                <a:alpha val="18000"/>
              </a:srgbClr>
            </a:outerShdw>
          </a:effectLst>
        </p:spPr>
        <p:txBody>
          <a:bodyPr/>
          <a:lstStyle/>
          <a:p>
            <a:endParaRPr lang="en-US"/>
          </a:p>
        </p:txBody>
      </p:sp>
      <p:sp>
        <p:nvSpPr>
          <p:cNvPr id="22" name="Shape 20"/>
          <p:cNvSpPr/>
          <p:nvPr/>
        </p:nvSpPr>
        <p:spPr>
          <a:xfrm>
            <a:off x="320040" y="3657600"/>
            <a:ext cx="4114800" cy="36576"/>
          </a:xfrm>
          <a:prstGeom prst="rect">
            <a:avLst/>
          </a:prstGeom>
          <a:solidFill>
            <a:srgbClr val="F59E0B"/>
          </a:solidFill>
          <a:ln w="12700">
            <a:solidFill>
              <a:srgbClr val="F59E0B"/>
            </a:solidFill>
            <a:prstDash val="solid"/>
          </a:ln>
        </p:spPr>
        <p:txBody>
          <a:bodyPr/>
          <a:lstStyle/>
          <a:p>
            <a:endParaRPr lang="en-US"/>
          </a:p>
        </p:txBody>
      </p:sp>
      <p:sp>
        <p:nvSpPr>
          <p:cNvPr id="23" name="Text 21"/>
          <p:cNvSpPr/>
          <p:nvPr/>
        </p:nvSpPr>
        <p:spPr>
          <a:xfrm>
            <a:off x="429768" y="3730752"/>
            <a:ext cx="3931920" cy="292608"/>
          </a:xfrm>
          <a:prstGeom prst="rect">
            <a:avLst/>
          </a:prstGeom>
          <a:noFill/>
          <a:ln/>
        </p:spPr>
        <p:txBody>
          <a:bodyPr wrap="square" lIns="0" tIns="0" rIns="0" bIns="0" rtlCol="0" anchor="ctr"/>
          <a:lstStyle/>
          <a:p>
            <a:pPr marL="0" indent="0">
              <a:buNone/>
            </a:pPr>
            <a:r>
              <a:rPr lang="en-US" sz="1200" b="1" dirty="0">
                <a:solidFill>
                  <a:srgbClr val="F59E0B"/>
                </a:solidFill>
                <a:latin typeface="Calibri" pitchFamily="34" charset="0"/>
                <a:ea typeface="Calibri" pitchFamily="34" charset="-122"/>
                <a:cs typeface="Calibri" pitchFamily="34" charset="-120"/>
              </a:rPr>
              <a:t>C# 8–10 — 2019+</a:t>
            </a:r>
            <a:endParaRPr lang="en-US" sz="1200" dirty="0"/>
          </a:p>
        </p:txBody>
      </p:sp>
      <p:sp>
        <p:nvSpPr>
          <p:cNvPr id="24" name="Text 22"/>
          <p:cNvSpPr/>
          <p:nvPr/>
        </p:nvSpPr>
        <p:spPr>
          <a:xfrm>
            <a:off x="429768" y="4041648"/>
            <a:ext cx="3931920" cy="731520"/>
          </a:xfrm>
          <a:prstGeom prst="rect">
            <a:avLst/>
          </a:prstGeom>
          <a:noFill/>
          <a:ln/>
        </p:spPr>
        <p:txBody>
          <a:bodyPr wrap="square" lIns="0" tIns="0" rIns="0" bIns="0" rtlCol="0" anchor="t"/>
          <a:lstStyle/>
          <a:p>
            <a:pPr marL="0" indent="0">
              <a:buNone/>
            </a:pPr>
            <a:r>
              <a:rPr lang="en-US" sz="1100" dirty="0">
                <a:solidFill>
                  <a:srgbClr val="B8D4E8"/>
                </a:solidFill>
                <a:latin typeface="Calibri" pitchFamily="34" charset="0"/>
                <a:ea typeface="Calibri" pitchFamily="34" charset="-122"/>
                <a:cs typeface="Calibri" pitchFamily="34" charset="-120"/>
              </a:rPr>
              <a:t>Records, switch expressions, nullable reference types, pattern matching</a:t>
            </a:r>
            <a:endParaRPr lang="en-US" sz="1100" dirty="0"/>
          </a:p>
        </p:txBody>
      </p:sp>
      <p:sp>
        <p:nvSpPr>
          <p:cNvPr id="25" name="Shape 23"/>
          <p:cNvSpPr/>
          <p:nvPr/>
        </p:nvSpPr>
        <p:spPr>
          <a:xfrm>
            <a:off x="4572000" y="3657600"/>
            <a:ext cx="4114800" cy="1234440"/>
          </a:xfrm>
          <a:prstGeom prst="rect">
            <a:avLst/>
          </a:prstGeom>
          <a:solidFill>
            <a:srgbClr val="142952"/>
          </a:solidFill>
          <a:ln w="19050">
            <a:solidFill>
              <a:srgbClr val="10B981">
                <a:alpha val="45000"/>
              </a:srgbClr>
            </a:solidFill>
            <a:prstDash val="solid"/>
          </a:ln>
          <a:effectLst>
            <a:outerShdw blurRad="63500" dist="25400" dir="8100000" algn="bl" rotWithShape="0">
              <a:srgbClr val="000000">
                <a:alpha val="18000"/>
              </a:srgbClr>
            </a:outerShdw>
          </a:effectLst>
        </p:spPr>
        <p:txBody>
          <a:bodyPr/>
          <a:lstStyle/>
          <a:p>
            <a:endParaRPr lang="en-US"/>
          </a:p>
        </p:txBody>
      </p:sp>
      <p:sp>
        <p:nvSpPr>
          <p:cNvPr id="26" name="Shape 24"/>
          <p:cNvSpPr/>
          <p:nvPr/>
        </p:nvSpPr>
        <p:spPr>
          <a:xfrm>
            <a:off x="4572000" y="3657600"/>
            <a:ext cx="4114800" cy="36576"/>
          </a:xfrm>
          <a:prstGeom prst="rect">
            <a:avLst/>
          </a:prstGeom>
          <a:solidFill>
            <a:srgbClr val="10B981"/>
          </a:solidFill>
          <a:ln w="12700">
            <a:solidFill>
              <a:srgbClr val="10B981"/>
            </a:solidFill>
            <a:prstDash val="solid"/>
          </a:ln>
        </p:spPr>
        <p:txBody>
          <a:bodyPr/>
          <a:lstStyle/>
          <a:p>
            <a:endParaRPr lang="en-US"/>
          </a:p>
        </p:txBody>
      </p:sp>
      <p:sp>
        <p:nvSpPr>
          <p:cNvPr id="27" name="Text 25"/>
          <p:cNvSpPr/>
          <p:nvPr/>
        </p:nvSpPr>
        <p:spPr>
          <a:xfrm>
            <a:off x="4681728" y="3730752"/>
            <a:ext cx="3931920" cy="292608"/>
          </a:xfrm>
          <a:prstGeom prst="rect">
            <a:avLst/>
          </a:prstGeom>
          <a:noFill/>
          <a:ln/>
        </p:spPr>
        <p:txBody>
          <a:bodyPr wrap="square" lIns="0" tIns="0" rIns="0" bIns="0" rtlCol="0" anchor="ctr"/>
          <a:lstStyle/>
          <a:p>
            <a:pPr marL="0" indent="0">
              <a:buNone/>
            </a:pPr>
            <a:r>
              <a:rPr lang="en-US" sz="1200" b="1" dirty="0">
                <a:solidFill>
                  <a:srgbClr val="10B981"/>
                </a:solidFill>
                <a:latin typeface="Calibri" pitchFamily="34" charset="0"/>
                <a:ea typeface="Calibri" pitchFamily="34" charset="-122"/>
                <a:cs typeface="Calibri" pitchFamily="34" charset="-120"/>
              </a:rPr>
              <a:t>C# 12 — 2023</a:t>
            </a:r>
            <a:endParaRPr lang="en-US" sz="1200" dirty="0"/>
          </a:p>
        </p:txBody>
      </p:sp>
      <p:sp>
        <p:nvSpPr>
          <p:cNvPr id="28" name="Text 26"/>
          <p:cNvSpPr/>
          <p:nvPr/>
        </p:nvSpPr>
        <p:spPr>
          <a:xfrm>
            <a:off x="4681728" y="4041648"/>
            <a:ext cx="3931920" cy="731520"/>
          </a:xfrm>
          <a:prstGeom prst="rect">
            <a:avLst/>
          </a:prstGeom>
          <a:noFill/>
          <a:ln/>
        </p:spPr>
        <p:txBody>
          <a:bodyPr wrap="square" lIns="0" tIns="0" rIns="0" bIns="0" rtlCol="0" anchor="t"/>
          <a:lstStyle/>
          <a:p>
            <a:pPr marL="0" indent="0">
              <a:buNone/>
            </a:pPr>
            <a:r>
              <a:rPr lang="en-US" sz="1100" dirty="0">
                <a:solidFill>
                  <a:srgbClr val="B8D4E8"/>
                </a:solidFill>
                <a:latin typeface="Calibri" pitchFamily="34" charset="0"/>
                <a:ea typeface="Calibri" pitchFamily="34" charset="-122"/>
                <a:cs typeface="Calibri" pitchFamily="34" charset="-120"/>
              </a:rPr>
              <a:t>Collection expressions, primary constructors, alias any type</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142952"/>
          </a:solidFill>
          <a:ln w="12700">
            <a:solidFill>
              <a:srgbClr val="142952"/>
            </a:solidFill>
            <a:prstDash val="solid"/>
          </a:ln>
        </p:spPr>
        <p:txBody>
          <a:bodyPr/>
          <a:lstStyle/>
          <a:p>
            <a:endParaRPr lang="en-US"/>
          </a:p>
        </p:txBody>
      </p:sp>
      <p:sp>
        <p:nvSpPr>
          <p:cNvPr id="3" name="Shape 1"/>
          <p:cNvSpPr/>
          <p:nvPr/>
        </p:nvSpPr>
        <p:spPr>
          <a:xfrm>
            <a:off x="0" y="713232"/>
            <a:ext cx="9144000" cy="45720"/>
          </a:xfrm>
          <a:prstGeom prst="rect">
            <a:avLst/>
          </a:prstGeom>
          <a:solidFill>
            <a:srgbClr val="00C2CB"/>
          </a:solidFill>
          <a:ln w="12700">
            <a:solidFill>
              <a:srgbClr val="00C2CB"/>
            </a:solidFill>
            <a:prstDash val="solid"/>
          </a:ln>
        </p:spPr>
        <p:txBody>
          <a:bodyPr/>
          <a:lstStyle/>
          <a:p>
            <a:endParaRPr lang="en-US"/>
          </a:p>
        </p:txBody>
      </p:sp>
      <p:sp>
        <p:nvSpPr>
          <p:cNvPr id="4" name="Text 2"/>
          <p:cNvSpPr/>
          <p:nvPr/>
        </p:nvSpPr>
        <p:spPr>
          <a:xfrm>
            <a:off x="365760" y="91440"/>
            <a:ext cx="8412480" cy="548640"/>
          </a:xfrm>
          <a:prstGeom prst="rect">
            <a:avLst/>
          </a:prstGeom>
          <a:noFill/>
          <a:ln/>
        </p:spPr>
        <p:txBody>
          <a:bodyPr wrap="square" lIns="0" tIns="0" rIns="0" bIns="0"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Key Language Features</a:t>
            </a:r>
            <a:endParaRPr lang="en-US" sz="2100" dirty="0"/>
          </a:p>
        </p:txBody>
      </p:sp>
      <p:sp>
        <p:nvSpPr>
          <p:cNvPr id="5" name="Text 3"/>
          <p:cNvSpPr/>
          <p:nvPr/>
        </p:nvSpPr>
        <p:spPr>
          <a:xfrm>
            <a:off x="365760" y="868680"/>
            <a:ext cx="8412480" cy="4023360"/>
          </a:xfrm>
          <a:prstGeom prst="rect">
            <a:avLst/>
          </a:prstGeom>
          <a:noFill/>
          <a:ln/>
        </p:spPr>
        <p:txBody>
          <a:bodyPr wrap="square" rtlCol="0" anchor="t"/>
          <a:lstStyle/>
          <a:p>
            <a:pPr marL="342900" indent="-342900">
              <a:buSzPct val="100000"/>
              <a:buChar char="•"/>
            </a:pPr>
            <a:r>
              <a:rPr lang="en-US" sz="1400" dirty="0">
                <a:solidFill>
                  <a:srgbClr val="B8D4E8"/>
                </a:solidFill>
                <a:latin typeface="Calibri" pitchFamily="34" charset="0"/>
                <a:ea typeface="Calibri" pitchFamily="34" charset="-122"/>
                <a:cs typeface="Calibri" pitchFamily="34" charset="-120"/>
              </a:rPr>
              <a:t>Type safety: the compiler catches type errors before you run — fewer runtime surprises</a:t>
            </a:r>
            <a:endParaRPr lang="en-US" sz="1400" dirty="0"/>
          </a:p>
          <a:p>
            <a:pPr marL="342900" indent="-342900">
              <a:buSzPct val="100000"/>
              <a:buChar char="•"/>
            </a:pPr>
            <a:r>
              <a:rPr lang="en-US" sz="1400" dirty="0">
                <a:solidFill>
                  <a:srgbClr val="B8D4E8"/>
                </a:solidFill>
                <a:latin typeface="Calibri" pitchFamily="34" charset="0"/>
                <a:ea typeface="Calibri" pitchFamily="34" charset="-122"/>
                <a:cs typeface="Calibri" pitchFamily="34" charset="-120"/>
              </a:rPr>
              <a:t>Automatic memory management: the Garbage Collector reclaims memory; you rarely write free()</a:t>
            </a:r>
            <a:endParaRPr lang="en-US" sz="1400" dirty="0"/>
          </a:p>
          <a:p>
            <a:pPr marL="342900" indent="-342900">
              <a:buSzPct val="100000"/>
              <a:buChar char="•"/>
            </a:pPr>
            <a:r>
              <a:rPr lang="en-US" sz="1400" dirty="0">
                <a:solidFill>
                  <a:srgbClr val="B8D4E8"/>
                </a:solidFill>
                <a:latin typeface="Calibri" pitchFamily="34" charset="0"/>
                <a:ea typeface="Calibri" pitchFamily="34" charset="-122"/>
                <a:cs typeface="Calibri" pitchFamily="34" charset="-120"/>
              </a:rPr>
              <a:t>Unified type system: everything inherits from System.Object — primitives and classes play together</a:t>
            </a:r>
            <a:endParaRPr lang="en-US" sz="1400" dirty="0"/>
          </a:p>
          <a:p>
            <a:pPr marL="342900" indent="-342900">
              <a:buSzPct val="100000"/>
              <a:buChar char="•"/>
            </a:pPr>
            <a:r>
              <a:rPr lang="en-US" sz="1400" dirty="0">
                <a:solidFill>
                  <a:srgbClr val="B8D4E8"/>
                </a:solidFill>
                <a:latin typeface="Calibri" pitchFamily="34" charset="0"/>
                <a:ea typeface="Calibri" pitchFamily="34" charset="-122"/>
                <a:cs typeface="Calibri" pitchFamily="34" charset="-120"/>
              </a:rPr>
              <a:t>Rich standard library: collections, I/O, networking, JSON, cryptography — batteries included</a:t>
            </a:r>
            <a:endParaRPr lang="en-US" sz="1400" dirty="0"/>
          </a:p>
          <a:p>
            <a:pPr marL="342900" indent="-342900">
              <a:buSzPct val="100000"/>
              <a:buChar char="•"/>
            </a:pPr>
            <a:r>
              <a:rPr lang="en-US" sz="1400" dirty="0">
                <a:solidFill>
                  <a:srgbClr val="B8D4E8"/>
                </a:solidFill>
                <a:latin typeface="Calibri" pitchFamily="34" charset="0"/>
                <a:ea typeface="Calibri" pitchFamily="34" charset="-122"/>
                <a:cs typeface="Calibri" pitchFamily="34" charset="-120"/>
              </a:rPr>
              <a:t>First-class async: async/await is woven into the language, not bolted on</a:t>
            </a:r>
            <a:endParaRPr lang="en-US" sz="1400" dirty="0"/>
          </a:p>
          <a:p>
            <a:pPr marL="342900" indent="-342900">
              <a:buSzPct val="100000"/>
              <a:buChar char="•"/>
            </a:pPr>
            <a:r>
              <a:rPr lang="en-US" sz="1400" dirty="0">
                <a:solidFill>
                  <a:srgbClr val="B8D4E8"/>
                </a:solidFill>
                <a:latin typeface="Calibri" pitchFamily="34" charset="0"/>
                <a:ea typeface="Calibri" pitchFamily="34" charset="-122"/>
                <a:cs typeface="Calibri" pitchFamily="34" charset="-120"/>
              </a:rPr>
              <a:t>Modern syntax evolution: records, pattern matching, top-level statements keep code concise</a:t>
            </a:r>
            <a:endParaRPr lang="en-US" sz="1400" dirty="0"/>
          </a:p>
          <a:p>
            <a:pPr marL="342900" indent="-342900">
              <a:buSzPct val="100000"/>
              <a:buChar char="•"/>
            </a:pPr>
            <a:r>
              <a:rPr lang="en-US" sz="1400" dirty="0">
                <a:solidFill>
                  <a:srgbClr val="B8D4E8"/>
                </a:solidFill>
                <a:latin typeface="Calibri" pitchFamily="34" charset="0"/>
                <a:ea typeface="Calibri" pitchFamily="34" charset="-122"/>
                <a:cs typeface="Calibri" pitchFamily="34" charset="-120"/>
              </a:rPr>
              <a:t>Excellent tooling: Visual Studio / VS Code + IntelliSense + built-in debugger + dotnet CLI</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142952"/>
          </a:solidFill>
          <a:ln w="12700">
            <a:solidFill>
              <a:srgbClr val="142952"/>
            </a:solidFill>
            <a:prstDash val="solid"/>
          </a:ln>
        </p:spPr>
        <p:txBody>
          <a:bodyPr/>
          <a:lstStyle/>
          <a:p>
            <a:endParaRPr lang="en-US"/>
          </a:p>
        </p:txBody>
      </p:sp>
      <p:sp>
        <p:nvSpPr>
          <p:cNvPr id="3" name="Shape 1"/>
          <p:cNvSpPr/>
          <p:nvPr/>
        </p:nvSpPr>
        <p:spPr>
          <a:xfrm>
            <a:off x="0" y="713232"/>
            <a:ext cx="9144000" cy="45720"/>
          </a:xfrm>
          <a:prstGeom prst="rect">
            <a:avLst/>
          </a:prstGeom>
          <a:solidFill>
            <a:srgbClr val="00C2CB"/>
          </a:solidFill>
          <a:ln w="12700">
            <a:solidFill>
              <a:srgbClr val="00C2CB"/>
            </a:solidFill>
            <a:prstDash val="solid"/>
          </a:ln>
        </p:spPr>
        <p:txBody>
          <a:bodyPr/>
          <a:lstStyle/>
          <a:p>
            <a:endParaRPr lang="en-US"/>
          </a:p>
        </p:txBody>
      </p:sp>
      <p:sp>
        <p:nvSpPr>
          <p:cNvPr id="4" name="Text 2"/>
          <p:cNvSpPr/>
          <p:nvPr/>
        </p:nvSpPr>
        <p:spPr>
          <a:xfrm>
            <a:off x="365760" y="91440"/>
            <a:ext cx="8412480" cy="548640"/>
          </a:xfrm>
          <a:prstGeom prst="rect">
            <a:avLst/>
          </a:prstGeom>
          <a:noFill/>
          <a:ln/>
        </p:spPr>
        <p:txBody>
          <a:bodyPr wrap="square" lIns="0" tIns="0" rIns="0" bIns="0"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.NET Framework, CLR &amp; the Execution Model</a:t>
            </a:r>
            <a:endParaRPr lang="en-US" sz="2100" dirty="0"/>
          </a:p>
        </p:txBody>
      </p:sp>
      <p:sp>
        <p:nvSpPr>
          <p:cNvPr id="5" name="Shape 3"/>
          <p:cNvSpPr/>
          <p:nvPr/>
        </p:nvSpPr>
        <p:spPr>
          <a:xfrm>
            <a:off x="320040" y="914400"/>
            <a:ext cx="4114800" cy="1828800"/>
          </a:xfrm>
          <a:prstGeom prst="rect">
            <a:avLst/>
          </a:prstGeom>
          <a:solidFill>
            <a:srgbClr val="142952"/>
          </a:solidFill>
          <a:ln w="19050">
            <a:solidFill>
              <a:srgbClr val="00C2CB">
                <a:alpha val="45000"/>
              </a:srgbClr>
            </a:solidFill>
            <a:prstDash val="solid"/>
          </a:ln>
          <a:effectLst>
            <a:outerShdw blurRad="63500" dist="25400" dir="8100000" algn="bl" rotWithShape="0">
              <a:srgbClr val="000000">
                <a:alpha val="18000"/>
              </a:srgbClr>
            </a:outerShdw>
          </a:effectLst>
        </p:spPr>
        <p:txBody>
          <a:bodyPr/>
          <a:lstStyle/>
          <a:p>
            <a:endParaRPr lang="en-US"/>
          </a:p>
        </p:txBody>
      </p:sp>
      <p:sp>
        <p:nvSpPr>
          <p:cNvPr id="6" name="Shape 4"/>
          <p:cNvSpPr/>
          <p:nvPr/>
        </p:nvSpPr>
        <p:spPr>
          <a:xfrm>
            <a:off x="320040" y="914400"/>
            <a:ext cx="4114800" cy="36576"/>
          </a:xfrm>
          <a:prstGeom prst="rect">
            <a:avLst/>
          </a:prstGeom>
          <a:solidFill>
            <a:srgbClr val="00C2CB"/>
          </a:solidFill>
          <a:ln w="12700">
            <a:solidFill>
              <a:srgbClr val="00C2CB"/>
            </a:solidFill>
            <a:prstDash val="solid"/>
          </a:ln>
        </p:spPr>
        <p:txBody>
          <a:bodyPr/>
          <a:lstStyle/>
          <a:p>
            <a:endParaRPr lang="en-US"/>
          </a:p>
        </p:txBody>
      </p:sp>
      <p:sp>
        <p:nvSpPr>
          <p:cNvPr id="7" name="Text 5"/>
          <p:cNvSpPr/>
          <p:nvPr/>
        </p:nvSpPr>
        <p:spPr>
          <a:xfrm>
            <a:off x="429768" y="987552"/>
            <a:ext cx="3931920" cy="292608"/>
          </a:xfrm>
          <a:prstGeom prst="rect">
            <a:avLst/>
          </a:prstGeom>
          <a:noFill/>
          <a:ln/>
        </p:spPr>
        <p:txBody>
          <a:bodyPr wrap="square" lIns="0" tIns="0" rIns="0" bIns="0" rtlCol="0" anchor="ctr"/>
          <a:lstStyle/>
          <a:p>
            <a:pPr marL="0" indent="0">
              <a:buNone/>
            </a:pPr>
            <a:r>
              <a:rPr lang="en-US" sz="1200" b="1" dirty="0">
                <a:solidFill>
                  <a:srgbClr val="00C2CB"/>
                </a:solidFill>
                <a:latin typeface="Calibri" pitchFamily="34" charset="0"/>
                <a:ea typeface="Calibri" pitchFamily="34" charset="-122"/>
                <a:cs typeface="Calibri" pitchFamily="34" charset="-120"/>
              </a:rPr>
              <a:t>C# Source Code (.cs)</a:t>
            </a:r>
            <a:endParaRPr lang="en-US" sz="1200" dirty="0"/>
          </a:p>
        </p:txBody>
      </p:sp>
      <p:sp>
        <p:nvSpPr>
          <p:cNvPr id="8" name="Text 6"/>
          <p:cNvSpPr/>
          <p:nvPr/>
        </p:nvSpPr>
        <p:spPr>
          <a:xfrm>
            <a:off x="429768" y="1298448"/>
            <a:ext cx="3931920" cy="1325880"/>
          </a:xfrm>
          <a:prstGeom prst="rect">
            <a:avLst/>
          </a:prstGeom>
          <a:noFill/>
          <a:ln/>
        </p:spPr>
        <p:txBody>
          <a:bodyPr wrap="square" lIns="0" tIns="0" rIns="0" bIns="0" rtlCol="0" anchor="t"/>
          <a:lstStyle/>
          <a:p>
            <a:pPr marL="0" indent="0">
              <a:buNone/>
            </a:pPr>
            <a:r>
              <a:rPr lang="en-US" sz="1100" dirty="0">
                <a:solidFill>
                  <a:srgbClr val="B8D4E8"/>
                </a:solidFill>
                <a:latin typeface="Calibri" pitchFamily="34" charset="0"/>
                <a:ea typeface="Calibri" pitchFamily="34" charset="-122"/>
                <a:cs typeface="Calibri" pitchFamily="34" charset="-120"/>
              </a:rPr>
              <a:t>You write human-readable code in .cs files</a:t>
            </a:r>
            <a:endParaRPr lang="en-US" sz="1100" dirty="0"/>
          </a:p>
        </p:txBody>
      </p:sp>
      <p:sp>
        <p:nvSpPr>
          <p:cNvPr id="9" name="Shape 7"/>
          <p:cNvSpPr/>
          <p:nvPr/>
        </p:nvSpPr>
        <p:spPr>
          <a:xfrm>
            <a:off x="4572000" y="914400"/>
            <a:ext cx="4114800" cy="1828800"/>
          </a:xfrm>
          <a:prstGeom prst="rect">
            <a:avLst/>
          </a:prstGeom>
          <a:solidFill>
            <a:srgbClr val="142952"/>
          </a:solidFill>
          <a:ln w="19050">
            <a:solidFill>
              <a:srgbClr val="00C2CB">
                <a:alpha val="45000"/>
              </a:srgbClr>
            </a:solidFill>
            <a:prstDash val="solid"/>
          </a:ln>
          <a:effectLst>
            <a:outerShdw blurRad="63500" dist="25400" dir="8100000" algn="bl" rotWithShape="0">
              <a:srgbClr val="000000">
                <a:alpha val="18000"/>
              </a:srgbClr>
            </a:outerShdw>
          </a:effectLst>
        </p:spPr>
        <p:txBody>
          <a:bodyPr/>
          <a:lstStyle/>
          <a:p>
            <a:endParaRPr lang="en-US"/>
          </a:p>
        </p:txBody>
      </p:sp>
      <p:sp>
        <p:nvSpPr>
          <p:cNvPr id="10" name="Shape 8"/>
          <p:cNvSpPr/>
          <p:nvPr/>
        </p:nvSpPr>
        <p:spPr>
          <a:xfrm>
            <a:off x="4572000" y="914400"/>
            <a:ext cx="4114800" cy="36576"/>
          </a:xfrm>
          <a:prstGeom prst="rect">
            <a:avLst/>
          </a:prstGeom>
          <a:solidFill>
            <a:srgbClr val="00C2CB"/>
          </a:solidFill>
          <a:ln w="12700">
            <a:solidFill>
              <a:srgbClr val="00C2CB"/>
            </a:solidFill>
            <a:prstDash val="solid"/>
          </a:ln>
        </p:spPr>
        <p:txBody>
          <a:bodyPr/>
          <a:lstStyle/>
          <a:p>
            <a:endParaRPr lang="en-US"/>
          </a:p>
        </p:txBody>
      </p:sp>
      <p:sp>
        <p:nvSpPr>
          <p:cNvPr id="11" name="Text 9"/>
          <p:cNvSpPr/>
          <p:nvPr/>
        </p:nvSpPr>
        <p:spPr>
          <a:xfrm>
            <a:off x="4681728" y="987552"/>
            <a:ext cx="3931920" cy="292608"/>
          </a:xfrm>
          <a:prstGeom prst="rect">
            <a:avLst/>
          </a:prstGeom>
          <a:noFill/>
          <a:ln/>
        </p:spPr>
        <p:txBody>
          <a:bodyPr wrap="square" lIns="0" tIns="0" rIns="0" bIns="0" rtlCol="0" anchor="ctr"/>
          <a:lstStyle/>
          <a:p>
            <a:pPr marL="0" indent="0">
              <a:buNone/>
            </a:pPr>
            <a:r>
              <a:rPr lang="en-US" sz="1200" b="1" dirty="0">
                <a:solidFill>
                  <a:srgbClr val="00C2CB"/>
                </a:solidFill>
                <a:latin typeface="Calibri" pitchFamily="34" charset="0"/>
                <a:ea typeface="Calibri" pitchFamily="34" charset="-122"/>
                <a:cs typeface="Calibri" pitchFamily="34" charset="-120"/>
              </a:rPr>
              <a:t>Roslyn Compiler</a:t>
            </a:r>
            <a:endParaRPr lang="en-US" sz="1200" dirty="0"/>
          </a:p>
        </p:txBody>
      </p:sp>
      <p:sp>
        <p:nvSpPr>
          <p:cNvPr id="12" name="Text 10"/>
          <p:cNvSpPr/>
          <p:nvPr/>
        </p:nvSpPr>
        <p:spPr>
          <a:xfrm>
            <a:off x="4681728" y="1298448"/>
            <a:ext cx="3931920" cy="1325880"/>
          </a:xfrm>
          <a:prstGeom prst="rect">
            <a:avLst/>
          </a:prstGeom>
          <a:noFill/>
          <a:ln/>
        </p:spPr>
        <p:txBody>
          <a:bodyPr wrap="square" lIns="0" tIns="0" rIns="0" bIns="0" rtlCol="0" anchor="t"/>
          <a:lstStyle/>
          <a:p>
            <a:pPr marL="0" indent="0">
              <a:buNone/>
            </a:pPr>
            <a:r>
              <a:rPr lang="en-US" sz="1100" dirty="0">
                <a:solidFill>
                  <a:srgbClr val="B8D4E8"/>
                </a:solidFill>
                <a:latin typeface="Calibri" pitchFamily="34" charset="0"/>
                <a:ea typeface="Calibri" pitchFamily="34" charset="-122"/>
                <a:cs typeface="Calibri" pitchFamily="34" charset="-120"/>
              </a:rPr>
              <a:t>Compiles source → Intermediate Language (IL) bytecode — not yet machine code</a:t>
            </a:r>
            <a:endParaRPr lang="en-US" sz="1100" dirty="0"/>
          </a:p>
        </p:txBody>
      </p:sp>
      <p:sp>
        <p:nvSpPr>
          <p:cNvPr id="13" name="Shape 11"/>
          <p:cNvSpPr/>
          <p:nvPr/>
        </p:nvSpPr>
        <p:spPr>
          <a:xfrm>
            <a:off x="320040" y="2880360"/>
            <a:ext cx="4114800" cy="1828800"/>
          </a:xfrm>
          <a:prstGeom prst="rect">
            <a:avLst/>
          </a:prstGeom>
          <a:solidFill>
            <a:srgbClr val="142952"/>
          </a:solidFill>
          <a:ln w="19050">
            <a:solidFill>
              <a:srgbClr val="F59E0B">
                <a:alpha val="45000"/>
              </a:srgbClr>
            </a:solidFill>
            <a:prstDash val="solid"/>
          </a:ln>
          <a:effectLst>
            <a:outerShdw blurRad="63500" dist="25400" dir="8100000" algn="bl" rotWithShape="0">
              <a:srgbClr val="000000">
                <a:alpha val="18000"/>
              </a:srgbClr>
            </a:outerShdw>
          </a:effectLst>
        </p:spPr>
        <p:txBody>
          <a:bodyPr/>
          <a:lstStyle/>
          <a:p>
            <a:endParaRPr lang="en-US"/>
          </a:p>
        </p:txBody>
      </p:sp>
      <p:sp>
        <p:nvSpPr>
          <p:cNvPr id="14" name="Shape 12"/>
          <p:cNvSpPr/>
          <p:nvPr/>
        </p:nvSpPr>
        <p:spPr>
          <a:xfrm>
            <a:off x="320040" y="2880360"/>
            <a:ext cx="4114800" cy="36576"/>
          </a:xfrm>
          <a:prstGeom prst="rect">
            <a:avLst/>
          </a:prstGeom>
          <a:solidFill>
            <a:srgbClr val="F59E0B"/>
          </a:solidFill>
          <a:ln w="12700">
            <a:solidFill>
              <a:srgbClr val="F59E0B"/>
            </a:solidFill>
            <a:prstDash val="solid"/>
          </a:ln>
        </p:spPr>
        <p:txBody>
          <a:bodyPr/>
          <a:lstStyle/>
          <a:p>
            <a:endParaRPr lang="en-US"/>
          </a:p>
        </p:txBody>
      </p:sp>
      <p:sp>
        <p:nvSpPr>
          <p:cNvPr id="15" name="Text 13"/>
          <p:cNvSpPr/>
          <p:nvPr/>
        </p:nvSpPr>
        <p:spPr>
          <a:xfrm>
            <a:off x="429768" y="2953512"/>
            <a:ext cx="3931920" cy="292608"/>
          </a:xfrm>
          <a:prstGeom prst="rect">
            <a:avLst/>
          </a:prstGeom>
          <a:noFill/>
          <a:ln/>
        </p:spPr>
        <p:txBody>
          <a:bodyPr wrap="square" lIns="0" tIns="0" rIns="0" bIns="0" rtlCol="0" anchor="ctr"/>
          <a:lstStyle/>
          <a:p>
            <a:pPr marL="0" indent="0">
              <a:buNone/>
            </a:pPr>
            <a:r>
              <a:rPr lang="en-US" sz="1200" b="1" dirty="0">
                <a:solidFill>
                  <a:srgbClr val="F59E0B"/>
                </a:solidFill>
                <a:latin typeface="Calibri" pitchFamily="34" charset="0"/>
                <a:ea typeface="Calibri" pitchFamily="34" charset="-122"/>
                <a:cs typeface="Calibri" pitchFamily="34" charset="-120"/>
              </a:rPr>
              <a:t>Common Language Runtime</a:t>
            </a:r>
            <a:endParaRPr lang="en-US" sz="1200" dirty="0"/>
          </a:p>
        </p:txBody>
      </p:sp>
      <p:sp>
        <p:nvSpPr>
          <p:cNvPr id="16" name="Text 14"/>
          <p:cNvSpPr/>
          <p:nvPr/>
        </p:nvSpPr>
        <p:spPr>
          <a:xfrm>
            <a:off x="429768" y="3264408"/>
            <a:ext cx="3931920" cy="1325880"/>
          </a:xfrm>
          <a:prstGeom prst="rect">
            <a:avLst/>
          </a:prstGeom>
          <a:noFill/>
          <a:ln/>
        </p:spPr>
        <p:txBody>
          <a:bodyPr wrap="square" lIns="0" tIns="0" rIns="0" bIns="0" rtlCol="0" anchor="t"/>
          <a:lstStyle/>
          <a:p>
            <a:pPr marL="0" indent="0">
              <a:buNone/>
            </a:pPr>
            <a:r>
              <a:rPr lang="en-US" sz="1100" dirty="0">
                <a:solidFill>
                  <a:srgbClr val="B8D4E8"/>
                </a:solidFill>
                <a:latin typeface="Calibri" pitchFamily="34" charset="0"/>
                <a:ea typeface="Calibri" pitchFamily="34" charset="-122"/>
                <a:cs typeface="Calibri" pitchFamily="34" charset="-120"/>
              </a:rPr>
              <a:t>The CLR JIT-compiles IL → native machine code at runtime. Also manages: memory (GC), exceptions, security, threading</a:t>
            </a:r>
            <a:endParaRPr lang="en-US" sz="1100" dirty="0"/>
          </a:p>
        </p:txBody>
      </p:sp>
      <p:sp>
        <p:nvSpPr>
          <p:cNvPr id="17" name="Shape 15"/>
          <p:cNvSpPr/>
          <p:nvPr/>
        </p:nvSpPr>
        <p:spPr>
          <a:xfrm>
            <a:off x="4572000" y="2880360"/>
            <a:ext cx="4114800" cy="1828800"/>
          </a:xfrm>
          <a:prstGeom prst="rect">
            <a:avLst/>
          </a:prstGeom>
          <a:solidFill>
            <a:srgbClr val="142952"/>
          </a:solidFill>
          <a:ln w="19050">
            <a:solidFill>
              <a:srgbClr val="10B981">
                <a:alpha val="45000"/>
              </a:srgbClr>
            </a:solidFill>
            <a:prstDash val="solid"/>
          </a:ln>
          <a:effectLst>
            <a:outerShdw blurRad="63500" dist="25400" dir="8100000" algn="bl" rotWithShape="0">
              <a:srgbClr val="000000">
                <a:alpha val="18000"/>
              </a:srgbClr>
            </a:outerShdw>
          </a:effectLst>
        </p:spPr>
        <p:txBody>
          <a:bodyPr/>
          <a:lstStyle/>
          <a:p>
            <a:endParaRPr lang="en-US"/>
          </a:p>
        </p:txBody>
      </p:sp>
      <p:sp>
        <p:nvSpPr>
          <p:cNvPr id="18" name="Shape 16"/>
          <p:cNvSpPr/>
          <p:nvPr/>
        </p:nvSpPr>
        <p:spPr>
          <a:xfrm>
            <a:off x="4572000" y="2880360"/>
            <a:ext cx="4114800" cy="36576"/>
          </a:xfrm>
          <a:prstGeom prst="rect">
            <a:avLst/>
          </a:prstGeom>
          <a:solidFill>
            <a:srgbClr val="10B981"/>
          </a:solidFill>
          <a:ln w="12700">
            <a:solidFill>
              <a:srgbClr val="10B981"/>
            </a:solidFill>
            <a:prstDash val="solid"/>
          </a:ln>
        </p:spPr>
        <p:txBody>
          <a:bodyPr/>
          <a:lstStyle/>
          <a:p>
            <a:endParaRPr lang="en-US"/>
          </a:p>
        </p:txBody>
      </p:sp>
      <p:sp>
        <p:nvSpPr>
          <p:cNvPr id="19" name="Text 17"/>
          <p:cNvSpPr/>
          <p:nvPr/>
        </p:nvSpPr>
        <p:spPr>
          <a:xfrm>
            <a:off x="4681728" y="2953512"/>
            <a:ext cx="3931920" cy="292608"/>
          </a:xfrm>
          <a:prstGeom prst="rect">
            <a:avLst/>
          </a:prstGeom>
          <a:noFill/>
          <a:ln/>
        </p:spPr>
        <p:txBody>
          <a:bodyPr wrap="square" lIns="0" tIns="0" rIns="0" bIns="0" rtlCol="0" anchor="ctr"/>
          <a:lstStyle/>
          <a:p>
            <a:pPr marL="0" indent="0">
              <a:buNone/>
            </a:pPr>
            <a:r>
              <a:rPr lang="en-US" sz="1200" b="1" dirty="0">
                <a:solidFill>
                  <a:srgbClr val="10B981"/>
                </a:solidFill>
                <a:latin typeface="Calibri" pitchFamily="34" charset="0"/>
                <a:ea typeface="Calibri" pitchFamily="34" charset="-122"/>
                <a:cs typeface="Calibri" pitchFamily="34" charset="-120"/>
              </a:rPr>
              <a:t>.NET SDK &amp; BCL</a:t>
            </a:r>
            <a:endParaRPr lang="en-US" sz="1200" dirty="0"/>
          </a:p>
        </p:txBody>
      </p:sp>
      <p:sp>
        <p:nvSpPr>
          <p:cNvPr id="20" name="Text 18"/>
          <p:cNvSpPr/>
          <p:nvPr/>
        </p:nvSpPr>
        <p:spPr>
          <a:xfrm>
            <a:off x="4681728" y="3264408"/>
            <a:ext cx="3931920" cy="1325880"/>
          </a:xfrm>
          <a:prstGeom prst="rect">
            <a:avLst/>
          </a:prstGeom>
          <a:noFill/>
          <a:ln/>
        </p:spPr>
        <p:txBody>
          <a:bodyPr wrap="square" lIns="0" tIns="0" rIns="0" bIns="0" rtlCol="0" anchor="t"/>
          <a:lstStyle/>
          <a:p>
            <a:pPr marL="0" indent="0">
              <a:buNone/>
            </a:pPr>
            <a:r>
              <a:rPr lang="en-US" sz="1100" dirty="0">
                <a:solidFill>
                  <a:srgbClr val="B8D4E8"/>
                </a:solidFill>
                <a:latin typeface="Calibri" pitchFamily="34" charset="0"/>
                <a:ea typeface="Calibri" pitchFamily="34" charset="-122"/>
                <a:cs typeface="Calibri" pitchFamily="34" charset="-120"/>
              </a:rPr>
              <a:t>Base Class Library: collections, IO, networking, JSON, HTTP — everything already written for you</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142952"/>
          </a:solidFill>
          <a:ln w="12700">
            <a:solidFill>
              <a:srgbClr val="142952"/>
            </a:solidFill>
            <a:prstDash val="solid"/>
          </a:ln>
        </p:spPr>
        <p:txBody>
          <a:bodyPr/>
          <a:lstStyle/>
          <a:p>
            <a:endParaRPr lang="en-US"/>
          </a:p>
        </p:txBody>
      </p:sp>
      <p:sp>
        <p:nvSpPr>
          <p:cNvPr id="3" name="Shape 1"/>
          <p:cNvSpPr/>
          <p:nvPr/>
        </p:nvSpPr>
        <p:spPr>
          <a:xfrm>
            <a:off x="0" y="713232"/>
            <a:ext cx="9144000" cy="45720"/>
          </a:xfrm>
          <a:prstGeom prst="rect">
            <a:avLst/>
          </a:prstGeom>
          <a:solidFill>
            <a:srgbClr val="00C2CB"/>
          </a:solidFill>
          <a:ln w="12700">
            <a:solidFill>
              <a:srgbClr val="00C2CB"/>
            </a:solidFill>
            <a:prstDash val="solid"/>
          </a:ln>
        </p:spPr>
        <p:txBody>
          <a:bodyPr/>
          <a:lstStyle/>
          <a:p>
            <a:endParaRPr lang="en-US"/>
          </a:p>
        </p:txBody>
      </p:sp>
      <p:sp>
        <p:nvSpPr>
          <p:cNvPr id="4" name="Text 2"/>
          <p:cNvSpPr/>
          <p:nvPr/>
        </p:nvSpPr>
        <p:spPr>
          <a:xfrm>
            <a:off x="365760" y="91440"/>
            <a:ext cx="8412480" cy="548640"/>
          </a:xfrm>
          <a:prstGeom prst="rect">
            <a:avLst/>
          </a:prstGeom>
          <a:noFill/>
          <a:ln/>
        </p:spPr>
        <p:txBody>
          <a:bodyPr wrap="square" lIns="0" tIns="0" rIns="0" bIns="0"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C# Application Types</a:t>
            </a:r>
            <a:endParaRPr lang="en-US" sz="2100" dirty="0"/>
          </a:p>
        </p:txBody>
      </p:sp>
      <p:sp>
        <p:nvSpPr>
          <p:cNvPr id="5" name="Text 3"/>
          <p:cNvSpPr/>
          <p:nvPr/>
        </p:nvSpPr>
        <p:spPr>
          <a:xfrm>
            <a:off x="365760" y="868680"/>
            <a:ext cx="4160520" cy="4023360"/>
          </a:xfrm>
          <a:prstGeom prst="rect">
            <a:avLst/>
          </a:prstGeom>
          <a:noFill/>
          <a:ln/>
        </p:spPr>
        <p:txBody>
          <a:bodyPr wrap="square" rtlCol="0" anchor="t"/>
          <a:lstStyle/>
          <a:p>
            <a:pPr marL="342900" indent="-342900">
              <a:buSzPct val="100000"/>
              <a:buChar char="•"/>
            </a:pPr>
            <a:r>
              <a:rPr lang="en-US" sz="1350" dirty="0">
                <a:solidFill>
                  <a:srgbClr val="B8D4E8"/>
                </a:solidFill>
                <a:latin typeface="Calibri" pitchFamily="34" charset="0"/>
                <a:ea typeface="Calibri" pitchFamily="34" charset="-122"/>
                <a:cs typeface="Calibri" pitchFamily="34" charset="-120"/>
              </a:rPr>
              <a:t>Console applications — command-line tools, scripts, teaching examples (what we use in this class)</a:t>
            </a:r>
            <a:endParaRPr lang="en-US" sz="1350" dirty="0"/>
          </a:p>
          <a:p>
            <a:pPr marL="342900" indent="-342900">
              <a:buSzPct val="100000"/>
              <a:buChar char="•"/>
            </a:pPr>
            <a:r>
              <a:rPr lang="en-US" sz="1350" dirty="0">
                <a:solidFill>
                  <a:srgbClr val="B8D4E8"/>
                </a:solidFill>
                <a:latin typeface="Calibri" pitchFamily="34" charset="0"/>
                <a:ea typeface="Calibri" pitchFamily="34" charset="-122"/>
                <a:cs typeface="Calibri" pitchFamily="34" charset="-120"/>
              </a:rPr>
              <a:t>ASP.NET Core Web Applications — MVC websites, Razor Pages, Blazor WebAssembly</a:t>
            </a:r>
            <a:endParaRPr lang="en-US" sz="1350" dirty="0"/>
          </a:p>
          <a:p>
            <a:pPr marL="342900" indent="-342900">
              <a:buSzPct val="100000"/>
              <a:buChar char="•"/>
            </a:pPr>
            <a:r>
              <a:rPr lang="en-US" sz="1350" dirty="0">
                <a:solidFill>
                  <a:srgbClr val="B8D4E8"/>
                </a:solidFill>
                <a:latin typeface="Calibri" pitchFamily="34" charset="0"/>
                <a:ea typeface="Calibri" pitchFamily="34" charset="-122"/>
                <a:cs typeface="Calibri" pitchFamily="34" charset="-120"/>
              </a:rPr>
              <a:t>ASP.NET Core Web APIs — REST/JSON APIs powering mobile apps and SPAs</a:t>
            </a:r>
            <a:endParaRPr lang="en-US" sz="1350" dirty="0"/>
          </a:p>
          <a:p>
            <a:pPr marL="342900" indent="-342900">
              <a:buSzPct val="100000"/>
              <a:buChar char="•"/>
            </a:pPr>
            <a:r>
              <a:rPr lang="en-US" sz="1350" dirty="0">
                <a:solidFill>
                  <a:srgbClr val="B8D4E8"/>
                </a:solidFill>
                <a:latin typeface="Calibri" pitchFamily="34" charset="0"/>
                <a:ea typeface="Calibri" pitchFamily="34" charset="-122"/>
                <a:cs typeface="Calibri" pitchFamily="34" charset="-120"/>
              </a:rPr>
              <a:t>.NET MAUI — cross-platform native mobile &amp; desktop apps (iOS, Android, Windows, macOS)</a:t>
            </a:r>
            <a:endParaRPr lang="en-US" sz="1350" dirty="0"/>
          </a:p>
          <a:p>
            <a:pPr marL="342900" indent="-342900">
              <a:buSzPct val="100000"/>
              <a:buChar char="•"/>
            </a:pPr>
            <a:r>
              <a:rPr lang="en-US" sz="1350" dirty="0">
                <a:solidFill>
                  <a:srgbClr val="B8D4E8"/>
                </a:solidFill>
                <a:latin typeface="Calibri" pitchFamily="34" charset="0"/>
                <a:ea typeface="Calibri" pitchFamily="34" charset="-122"/>
                <a:cs typeface="Calibri" pitchFamily="34" charset="-120"/>
              </a:rPr>
              <a:t>WPF / WinForms — Windows desktop applications (legacy but still widely used in enterprise)</a:t>
            </a:r>
            <a:endParaRPr lang="en-US" sz="1350" dirty="0"/>
          </a:p>
          <a:p>
            <a:pPr marL="342900" indent="-342900">
              <a:buSzPct val="100000"/>
              <a:buChar char="•"/>
            </a:pPr>
            <a:r>
              <a:rPr lang="en-US" sz="1350" dirty="0">
                <a:solidFill>
                  <a:srgbClr val="B8D4E8"/>
                </a:solidFill>
                <a:latin typeface="Calibri" pitchFamily="34" charset="0"/>
                <a:ea typeface="Calibri" pitchFamily="34" charset="-122"/>
                <a:cs typeface="Calibri" pitchFamily="34" charset="-120"/>
              </a:rPr>
              <a:t>Azure Functions / Worker Services — serverless and background processing</a:t>
            </a:r>
            <a:endParaRPr lang="en-US" sz="1350" dirty="0"/>
          </a:p>
          <a:p>
            <a:pPr marL="342900" indent="-342900">
              <a:buSzPct val="100000"/>
              <a:buChar char="•"/>
            </a:pPr>
            <a:r>
              <a:rPr lang="en-US" sz="1350" dirty="0">
                <a:solidFill>
                  <a:srgbClr val="B8D4E8"/>
                </a:solidFill>
                <a:latin typeface="Calibri" pitchFamily="34" charset="0"/>
                <a:ea typeface="Calibri" pitchFamily="34" charset="-122"/>
                <a:cs typeface="Calibri" pitchFamily="34" charset="-120"/>
              </a:rPr>
              <a:t>Unity — game development using C# scripting</a:t>
            </a:r>
            <a:endParaRPr lang="en-US" sz="1350" dirty="0"/>
          </a:p>
        </p:txBody>
      </p:sp>
      <p:sp>
        <p:nvSpPr>
          <p:cNvPr id="6" name="Shape 4"/>
          <p:cNvSpPr/>
          <p:nvPr/>
        </p:nvSpPr>
        <p:spPr>
          <a:xfrm>
            <a:off x="4617720" y="896112"/>
            <a:ext cx="18288" cy="3931920"/>
          </a:xfrm>
          <a:prstGeom prst="rect">
            <a:avLst/>
          </a:prstGeom>
          <a:solidFill>
            <a:srgbClr val="00C2CB">
              <a:alpha val="45000"/>
            </a:srgbClr>
          </a:solidFill>
          <a:ln w="12700">
            <a:solidFill>
              <a:srgbClr val="00C2CB">
                <a:alpha val="45000"/>
              </a:srgbClr>
            </a:solidFill>
            <a:prstDash val="solid"/>
          </a:ln>
        </p:spPr>
        <p:txBody>
          <a:bodyPr/>
          <a:lstStyle/>
          <a:p>
            <a:endParaRPr lang="en-US"/>
          </a:p>
        </p:txBody>
      </p:sp>
      <p:sp>
        <p:nvSpPr>
          <p:cNvPr id="7" name="Text 5"/>
          <p:cNvSpPr/>
          <p:nvPr/>
        </p:nvSpPr>
        <p:spPr>
          <a:xfrm>
            <a:off x="4754880" y="868680"/>
            <a:ext cx="4160520" cy="4023360"/>
          </a:xfrm>
          <a:prstGeom prst="rect">
            <a:avLst/>
          </a:prstGeom>
          <a:noFill/>
          <a:ln/>
        </p:spPr>
        <p:txBody>
          <a:bodyPr wrap="square" rtlCol="0" anchor="t"/>
          <a:lstStyle/>
          <a:p>
            <a:pPr marL="342900" indent="-342900">
              <a:buSzPct val="100000"/>
              <a:buChar char="•"/>
            </a:pPr>
            <a:r>
              <a:rPr lang="en-US" sz="1350" dirty="0">
                <a:solidFill>
                  <a:srgbClr val="B8D4E8"/>
                </a:solidFill>
                <a:latin typeface="Calibri" pitchFamily="34" charset="0"/>
                <a:ea typeface="Calibri" pitchFamily="34" charset="-122"/>
                <a:cs typeface="Calibri" pitchFamily="34" charset="-120"/>
              </a:rPr>
              <a:t>All share the same C# language and BCL</a:t>
            </a:r>
            <a:endParaRPr lang="en-US" sz="1350" dirty="0"/>
          </a:p>
          <a:p>
            <a:pPr marL="342900" indent="-342900">
              <a:buSzPct val="100000"/>
              <a:buChar char="•"/>
            </a:pPr>
            <a:r>
              <a:rPr lang="en-US" sz="1350" dirty="0">
                <a:solidFill>
                  <a:srgbClr val="B8D4E8"/>
                </a:solidFill>
                <a:latin typeface="Calibri" pitchFamily="34" charset="0"/>
                <a:ea typeface="Calibri" pitchFamily="34" charset="-122"/>
                <a:cs typeface="Calibri" pitchFamily="34" charset="-120"/>
              </a:rPr>
              <a:t>We cover Console (fundamentals) and ASP.NET Core Web API (Day 2 capstone)</a:t>
            </a:r>
            <a:endParaRPr lang="en-US" sz="1350" dirty="0"/>
          </a:p>
          <a:p>
            <a:pPr marL="342900" indent="-342900">
              <a:buSzPct val="100000"/>
              <a:buChar char="•"/>
            </a:pPr>
            <a:r>
              <a:rPr lang="en-US" sz="1350" dirty="0">
                <a:solidFill>
                  <a:srgbClr val="B8D4E8"/>
                </a:solidFill>
                <a:latin typeface="Calibri" pitchFamily="34" charset="0"/>
                <a:ea typeface="Calibri" pitchFamily="34" charset="-122"/>
                <a:cs typeface="Calibri" pitchFamily="34" charset="-120"/>
              </a:rPr>
              <a:t>Your DeweyLib project ends as a fully working REST API</a:t>
            </a:r>
            <a:endParaRPr lang="en-US" sz="1350" dirty="0"/>
          </a:p>
          <a:p>
            <a:pPr marL="342900" indent="-342900">
              <a:buSzPct val="100000"/>
              <a:buChar char="•"/>
            </a:pPr>
            <a:r>
              <a:rPr lang="en-US" sz="1350" dirty="0">
                <a:solidFill>
                  <a:srgbClr val="B8D4E8"/>
                </a:solidFill>
                <a:latin typeface="Calibri" pitchFamily="34" charset="0"/>
                <a:ea typeface="Calibri" pitchFamily="34" charset="-122"/>
                <a:cs typeface="Calibri" pitchFamily="34" charset="-120"/>
              </a:rPr>
              <a:t>Skills transfer directly across all types</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142952"/>
          </a:solidFill>
          <a:ln w="12700">
            <a:solidFill>
              <a:srgbClr val="142952"/>
            </a:solidFill>
            <a:prstDash val="solid"/>
          </a:ln>
        </p:spPr>
        <p:txBody>
          <a:bodyPr/>
          <a:lstStyle/>
          <a:p>
            <a:endParaRPr lang="en-US"/>
          </a:p>
        </p:txBody>
      </p:sp>
      <p:sp>
        <p:nvSpPr>
          <p:cNvPr id="3" name="Shape 1"/>
          <p:cNvSpPr/>
          <p:nvPr/>
        </p:nvSpPr>
        <p:spPr>
          <a:xfrm>
            <a:off x="0" y="713232"/>
            <a:ext cx="9144000" cy="45720"/>
          </a:xfrm>
          <a:prstGeom prst="rect">
            <a:avLst/>
          </a:prstGeom>
          <a:solidFill>
            <a:srgbClr val="00C2CB"/>
          </a:solidFill>
          <a:ln w="12700">
            <a:solidFill>
              <a:srgbClr val="00C2CB"/>
            </a:solidFill>
            <a:prstDash val="solid"/>
          </a:ln>
        </p:spPr>
        <p:txBody>
          <a:bodyPr/>
          <a:lstStyle/>
          <a:p>
            <a:endParaRPr lang="en-US"/>
          </a:p>
        </p:txBody>
      </p:sp>
      <p:sp>
        <p:nvSpPr>
          <p:cNvPr id="4" name="Text 2"/>
          <p:cNvSpPr/>
          <p:nvPr/>
        </p:nvSpPr>
        <p:spPr>
          <a:xfrm>
            <a:off x="365760" y="91440"/>
            <a:ext cx="8412480" cy="548640"/>
          </a:xfrm>
          <a:prstGeom prst="rect">
            <a:avLst/>
          </a:prstGeom>
          <a:noFill/>
          <a:ln/>
        </p:spPr>
        <p:txBody>
          <a:bodyPr wrap="square" lIns="0" tIns="0" rIns="0" bIns="0"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Your Development Environment</a:t>
            </a:r>
            <a:endParaRPr lang="en-US" sz="2100" dirty="0"/>
          </a:p>
        </p:txBody>
      </p:sp>
      <p:sp>
        <p:nvSpPr>
          <p:cNvPr id="5" name="Text 3"/>
          <p:cNvSpPr/>
          <p:nvPr/>
        </p:nvSpPr>
        <p:spPr>
          <a:xfrm>
            <a:off x="365760" y="868680"/>
            <a:ext cx="4160520" cy="4023360"/>
          </a:xfrm>
          <a:prstGeom prst="rect">
            <a:avLst/>
          </a:prstGeom>
          <a:noFill/>
          <a:ln/>
        </p:spPr>
        <p:txBody>
          <a:bodyPr wrap="square" rtlCol="0" anchor="t"/>
          <a:lstStyle/>
          <a:p>
            <a:pPr marL="342900" indent="-342900">
              <a:buSzPct val="100000"/>
              <a:buChar char="•"/>
            </a:pPr>
            <a:r>
              <a:rPr lang="en-US" sz="1350" dirty="0">
                <a:solidFill>
                  <a:srgbClr val="B8D4E8"/>
                </a:solidFill>
                <a:latin typeface="Calibri" pitchFamily="34" charset="0"/>
                <a:ea typeface="Calibri" pitchFamily="34" charset="-122"/>
                <a:cs typeface="Calibri" pitchFamily="34" charset="-120"/>
              </a:rPr>
              <a:t>dotnet CLI — the backbone: dotnet new / build / run / test / add package</a:t>
            </a:r>
            <a:endParaRPr lang="en-US" sz="1350" dirty="0"/>
          </a:p>
          <a:p>
            <a:pPr marL="342900" indent="-342900">
              <a:buSzPct val="100000"/>
              <a:buChar char="•"/>
            </a:pPr>
            <a:r>
              <a:rPr lang="en-US" sz="1350" dirty="0">
                <a:solidFill>
                  <a:srgbClr val="B8D4E8"/>
                </a:solidFill>
                <a:latin typeface="Calibri" pitchFamily="34" charset="0"/>
                <a:ea typeface="Calibri" pitchFamily="34" charset="-122"/>
                <a:cs typeface="Calibri" pitchFamily="34" charset="-120"/>
              </a:rPr>
              <a:t>VS Code + C# Dev Kit — free, cross-platform, IntelliSense, debugger, test explorer</a:t>
            </a:r>
            <a:endParaRPr lang="en-US" sz="1350" dirty="0"/>
          </a:p>
          <a:p>
            <a:pPr marL="342900" indent="-342900">
              <a:buSzPct val="100000"/>
              <a:buChar char="•"/>
            </a:pPr>
            <a:r>
              <a:rPr lang="en-US" sz="1350" dirty="0">
                <a:solidFill>
                  <a:srgbClr val="B8D4E8"/>
                </a:solidFill>
                <a:latin typeface="Calibri" pitchFamily="34" charset="0"/>
                <a:ea typeface="Calibri" pitchFamily="34" charset="-122"/>
                <a:cs typeface="Calibri" pitchFamily="34" charset="-120"/>
              </a:rPr>
              <a:t>Visual Studio 2026 Community — full IDE, free, officially supports .NET 10. VS 2022 v17.14+ also works (install .NET 10 SDK separately — expect warning NETSDK1233, but builds and runs fine)</a:t>
            </a:r>
            <a:endParaRPr lang="en-US" sz="1350" dirty="0"/>
          </a:p>
          <a:p>
            <a:pPr marL="342900" indent="-342900">
              <a:buSzPct val="100000"/>
              <a:buChar char="•"/>
            </a:pPr>
            <a:r>
              <a:rPr lang="en-US" sz="1350" dirty="0">
                <a:solidFill>
                  <a:srgbClr val="B8D4E8"/>
                </a:solidFill>
                <a:latin typeface="Calibri" pitchFamily="34" charset="0"/>
                <a:ea typeface="Calibri" pitchFamily="34" charset="-122"/>
                <a:cs typeface="Calibri" pitchFamily="34" charset="-120"/>
              </a:rPr>
              <a:t>NuGet — the .NET package manager (like npm for JavaScript)</a:t>
            </a:r>
            <a:endParaRPr lang="en-US" sz="1350" dirty="0"/>
          </a:p>
          <a:p>
            <a:pPr marL="342900" indent="-342900">
              <a:buSzPct val="100000"/>
              <a:buChar char="•"/>
            </a:pPr>
            <a:r>
              <a:rPr lang="en-US" sz="1350" dirty="0">
                <a:solidFill>
                  <a:srgbClr val="B8D4E8"/>
                </a:solidFill>
                <a:latin typeface="Calibri" pitchFamily="34" charset="0"/>
                <a:ea typeface="Calibri" pitchFamily="34" charset="-122"/>
                <a:cs typeface="Calibri" pitchFamily="34" charset="-120"/>
              </a:rPr>
              <a:t>Watch mode: dotnet watch run — recompiles and restarts on file save (great for demos)</a:t>
            </a:r>
            <a:endParaRPr lang="en-US" sz="1350" dirty="0"/>
          </a:p>
          <a:p>
            <a:pPr marL="342900" indent="-342900">
              <a:buSzPct val="100000"/>
              <a:buChar char="•"/>
            </a:pPr>
            <a:r>
              <a:rPr lang="en-US" sz="1350" dirty="0">
                <a:solidFill>
                  <a:srgbClr val="B8D4E8"/>
                </a:solidFill>
                <a:latin typeface="Calibri" pitchFamily="34" charset="0"/>
                <a:ea typeface="Calibri" pitchFamily="34" charset="-122"/>
                <a:cs typeface="Calibri" pitchFamily="34" charset="-120"/>
              </a:rPr>
              <a:t>Key shortcuts in VS Code: F5 debug, Ctrl+. quick fix, Ctrl+Shift+P command palette</a:t>
            </a:r>
            <a:endParaRPr lang="en-US" sz="1350" dirty="0"/>
          </a:p>
        </p:txBody>
      </p:sp>
      <p:sp>
        <p:nvSpPr>
          <p:cNvPr id="6" name="Shape 4"/>
          <p:cNvSpPr/>
          <p:nvPr/>
        </p:nvSpPr>
        <p:spPr>
          <a:xfrm>
            <a:off x="4617720" y="896112"/>
            <a:ext cx="18288" cy="3931920"/>
          </a:xfrm>
          <a:prstGeom prst="rect">
            <a:avLst/>
          </a:prstGeom>
          <a:solidFill>
            <a:srgbClr val="00C2CB">
              <a:alpha val="45000"/>
            </a:srgbClr>
          </a:solidFill>
          <a:ln w="12700">
            <a:solidFill>
              <a:srgbClr val="00C2CB">
                <a:alpha val="45000"/>
              </a:srgbClr>
            </a:solidFill>
            <a:prstDash val="solid"/>
          </a:ln>
        </p:spPr>
        <p:txBody>
          <a:bodyPr/>
          <a:lstStyle/>
          <a:p>
            <a:endParaRPr lang="en-US"/>
          </a:p>
        </p:txBody>
      </p:sp>
      <p:sp>
        <p:nvSpPr>
          <p:cNvPr id="7" name="Text 5"/>
          <p:cNvSpPr/>
          <p:nvPr/>
        </p:nvSpPr>
        <p:spPr>
          <a:xfrm>
            <a:off x="4754880" y="868680"/>
            <a:ext cx="4160520" cy="4023360"/>
          </a:xfrm>
          <a:prstGeom prst="rect">
            <a:avLst/>
          </a:prstGeom>
          <a:noFill/>
          <a:ln/>
        </p:spPr>
        <p:txBody>
          <a:bodyPr wrap="square" rtlCol="0" anchor="t"/>
          <a:lstStyle/>
          <a:p>
            <a:pPr marL="342900" indent="-342900">
              <a:buSzPct val="100000"/>
              <a:buChar char="•"/>
            </a:pPr>
            <a:r>
              <a:rPr lang="en-US" sz="1350" dirty="0">
                <a:solidFill>
                  <a:srgbClr val="B8D4E8"/>
                </a:solidFill>
                <a:latin typeface="Calibri" pitchFamily="34" charset="0"/>
                <a:ea typeface="Calibri" pitchFamily="34" charset="-122"/>
                <a:cs typeface="Calibri" pitchFamily="34" charset="-120"/>
              </a:rPr>
              <a:t>dotnet new console -n MyApp</a:t>
            </a:r>
            <a:endParaRPr lang="en-US" sz="1350" dirty="0"/>
          </a:p>
          <a:p>
            <a:pPr marL="342900" indent="-342900">
              <a:buSzPct val="100000"/>
              <a:buChar char="•"/>
            </a:pPr>
            <a:r>
              <a:rPr lang="en-US" sz="1350" dirty="0">
                <a:solidFill>
                  <a:srgbClr val="B8D4E8"/>
                </a:solidFill>
                <a:latin typeface="Calibri" pitchFamily="34" charset="0"/>
                <a:ea typeface="Calibri" pitchFamily="34" charset="-122"/>
                <a:cs typeface="Calibri" pitchFamily="34" charset="-120"/>
              </a:rPr>
              <a:t>dotnet run</a:t>
            </a:r>
            <a:endParaRPr lang="en-US" sz="1350" dirty="0"/>
          </a:p>
          <a:p>
            <a:pPr marL="342900" indent="-342900">
              <a:buSzPct val="100000"/>
              <a:buChar char="•"/>
            </a:pPr>
            <a:r>
              <a:rPr lang="en-US" sz="1350" dirty="0">
                <a:solidFill>
                  <a:srgbClr val="B8D4E8"/>
                </a:solidFill>
                <a:latin typeface="Calibri" pitchFamily="34" charset="0"/>
                <a:ea typeface="Calibri" pitchFamily="34" charset="-122"/>
                <a:cs typeface="Calibri" pitchFamily="34" charset="-120"/>
              </a:rPr>
              <a:t>dotnet add package Newtonsoft.Json</a:t>
            </a:r>
            <a:endParaRPr lang="en-US" sz="1350" dirty="0"/>
          </a:p>
          <a:p>
            <a:pPr marL="342900" indent="-342900">
              <a:buSzPct val="100000"/>
              <a:buChar char="•"/>
            </a:pPr>
            <a:r>
              <a:rPr lang="en-US" sz="1350" dirty="0">
                <a:solidFill>
                  <a:srgbClr val="B8D4E8"/>
                </a:solidFill>
                <a:latin typeface="Calibri" pitchFamily="34" charset="0"/>
                <a:ea typeface="Calibri" pitchFamily="34" charset="-122"/>
                <a:cs typeface="Calibri" pitchFamily="34" charset="-120"/>
              </a:rPr>
              <a:t>dotnet test</a:t>
            </a:r>
            <a:endParaRPr lang="en-US" sz="1350" dirty="0"/>
          </a:p>
          <a:p>
            <a:pPr marL="342900" indent="-342900">
              <a:buSzPct val="100000"/>
              <a:buChar char="•"/>
            </a:pPr>
            <a:r>
              <a:rPr lang="en-US" sz="1350" dirty="0">
                <a:solidFill>
                  <a:srgbClr val="B8D4E8"/>
                </a:solidFill>
                <a:latin typeface="Calibri" pitchFamily="34" charset="0"/>
                <a:ea typeface="Calibri" pitchFamily="34" charset="-122"/>
                <a:cs typeface="Calibri" pitchFamily="34" charset="-120"/>
              </a:rPr>
              <a:t>dotnet publish -c Release</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621792"/>
          </a:xfrm>
          <a:prstGeom prst="rect">
            <a:avLst/>
          </a:prstGeom>
          <a:solidFill>
            <a:srgbClr val="0D15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21792"/>
            <a:ext cx="9144000" cy="36576"/>
          </a:xfrm>
          <a:prstGeom prst="rect">
            <a:avLst/>
          </a:prstGeom>
          <a:solidFill>
            <a:srgbClr val="00C2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0040" y="64008"/>
            <a:ext cx="8503920" cy="502920"/>
          </a:xfrm>
          <a:prstGeom prst="rect">
            <a:avLst/>
          </a:prstGeom>
          <a:noFill/>
        </p:spPr>
        <p:txBody>
          <a:bodyPr wrap="square">
            <a:spAutoFit/>
          </a:bodyPr>
          <a:lstStyle/>
          <a:p>
            <a:r>
              <a:rPr sz="1700" b="1">
                <a:solidFill>
                  <a:srgbClr val="00C2CB"/>
                </a:solidFill>
                <a:latin typeface="Calibri"/>
              </a:rPr>
              <a:t>⌨  Your First Project — Folder Structure</a:t>
            </a:r>
          </a:p>
        </p:txBody>
      </p:sp>
      <p:sp>
        <p:nvSpPr>
          <p:cNvPr id="5" name="TextBox 4"/>
          <p:cNvSpPr txBox="1"/>
          <p:nvPr/>
        </p:nvSpPr>
        <p:spPr>
          <a:xfrm>
            <a:off x="274320" y="713232"/>
            <a:ext cx="8595360" cy="3327400"/>
          </a:xfrm>
          <a:prstGeom prst="rect">
            <a:avLst/>
          </a:prstGeom>
          <a:noFill/>
        </p:spPr>
        <p:txBody>
          <a:bodyPr wrap="square">
            <a:spAutoFit/>
          </a:bodyPr>
          <a:lstStyle/>
          <a:p>
            <a:r>
              <a:rPr sz="1200" b="1">
                <a:solidFill>
                  <a:srgbClr val="FFC107"/>
                </a:solidFill>
                <a:latin typeface="Courier New"/>
              </a:rPr>
              <a:t>$ dotnet new console -n HelloCSharp</a:t>
            </a:r>
          </a:p>
          <a:p>
            <a:endParaRPr sz="1200" b="1">
              <a:solidFill>
                <a:srgbClr val="FFC107"/>
              </a:solidFill>
              <a:latin typeface="Courier New"/>
            </a:endParaRPr>
          </a:p>
          <a:p>
            <a:r>
              <a:rPr sz="1200">
                <a:solidFill>
                  <a:srgbClr val="A8D8F0"/>
                </a:solidFill>
                <a:latin typeface="Courier New"/>
              </a:rPr>
              <a:t>HelloCSharp/                  ← project folder (matches -n name)</a:t>
            </a:r>
          </a:p>
          <a:p>
            <a:r>
              <a:rPr sz="1200">
                <a:solidFill>
                  <a:srgbClr val="A8D8F0"/>
                </a:solidFill>
                <a:latin typeface="Courier New"/>
              </a:rPr>
              <a:t>├── HelloCSharp.csproj        ← project file: target framework, settings</a:t>
            </a:r>
          </a:p>
          <a:p>
            <a:r>
              <a:rPr sz="1200">
                <a:solidFill>
                  <a:srgbClr val="A8D8F0"/>
                </a:solidFill>
                <a:latin typeface="Courier New"/>
              </a:rPr>
              <a:t>├── Program.cs                ← YOUR CODE lives here</a:t>
            </a:r>
          </a:p>
          <a:p>
            <a:r>
              <a:rPr sz="1200">
                <a:solidFill>
                  <a:srgbClr val="A8D8F0"/>
                </a:solidFill>
                <a:latin typeface="Courier New"/>
              </a:rPr>
              <a:t>├── obj/                      ← build scratch space (ignore)</a:t>
            </a:r>
          </a:p>
          <a:p>
            <a:r>
              <a:rPr sz="1200">
                <a:solidFill>
                  <a:srgbClr val="A8D8F0"/>
                </a:solidFill>
                <a:latin typeface="Courier New"/>
              </a:rPr>
              <a:t>└── bin/                      ← compiled output (ignore)</a:t>
            </a:r>
          </a:p>
          <a:p>
            <a:endParaRPr sz="1200">
              <a:solidFill>
                <a:srgbClr val="A8D8F0"/>
              </a:solidFill>
              <a:latin typeface="Courier New"/>
            </a:endParaRPr>
          </a:p>
          <a:p>
            <a:r>
              <a:rPr sz="1200" b="1">
                <a:solidFill>
                  <a:srgbClr val="FFC107"/>
                </a:solidFill>
                <a:latin typeface="Courier New"/>
              </a:rPr>
              <a:t>$ cd HelloCSharp</a:t>
            </a:r>
          </a:p>
          <a:p>
            <a:r>
              <a:rPr sz="1200" b="1">
                <a:solidFill>
                  <a:srgbClr val="FFC107"/>
                </a:solidFill>
                <a:latin typeface="Courier New"/>
              </a:rPr>
              <a:t>$ code .                      ← opens this folder in VS Code</a:t>
            </a:r>
          </a:p>
          <a:p>
            <a:endParaRPr sz="1200" b="1">
              <a:solidFill>
                <a:srgbClr val="FFC107"/>
              </a:solidFill>
              <a:latin typeface="Courier New"/>
            </a:endParaRPr>
          </a:p>
          <a:p>
            <a:r>
              <a:rPr sz="1200">
                <a:solidFill>
                  <a:srgbClr val="A8D8F0"/>
                </a:solidFill>
                <a:latin typeface="Courier New"/>
              </a:rPr>
              <a:t>// Program.cs already contains a working program:</a:t>
            </a:r>
          </a:p>
          <a:p>
            <a:r>
              <a:rPr sz="1200">
                <a:solidFill>
                  <a:srgbClr val="A8D8F0"/>
                </a:solidFill>
                <a:latin typeface="Courier New"/>
              </a:rPr>
              <a:t>Console.WriteLine("Hello, World!");</a:t>
            </a:r>
          </a:p>
          <a:p>
            <a:endParaRPr sz="1200">
              <a:solidFill>
                <a:srgbClr val="A8D8F0"/>
              </a:solidFill>
              <a:latin typeface="Courier New"/>
            </a:endParaRPr>
          </a:p>
          <a:p>
            <a:r>
              <a:rPr sz="1200" b="1">
                <a:solidFill>
                  <a:srgbClr val="FFC107"/>
                </a:solidFill>
                <a:latin typeface="Courier New"/>
              </a:rPr>
              <a:t>$ dotnet run                  ← builds + runs, prints: Hello, World!</a:t>
            </a:r>
          </a:p>
        </p:txBody>
      </p:sp>
      <p:sp>
        <p:nvSpPr>
          <p:cNvPr id="6" name="TextBox 5"/>
          <p:cNvSpPr txBox="1"/>
          <p:nvPr/>
        </p:nvSpPr>
        <p:spPr>
          <a:xfrm>
            <a:off x="274320" y="4040760"/>
            <a:ext cx="8595360" cy="700000"/>
          </a:xfrm>
          <a:prstGeom prst="rect">
            <a:avLst/>
          </a:prstGeom>
          <a:noFill/>
        </p:spPr>
        <p:txBody>
          <a:bodyPr wrap="square">
            <a:spAutoFit/>
          </a:bodyPr>
          <a:lstStyle/>
          <a:p>
            <a:r>
              <a:rPr sz="1100" i="1">
                <a:solidFill>
                  <a:srgbClr val="6B93B0"/>
                </a:solidFill>
                <a:latin typeface="Calibri"/>
              </a:rPr>
              <a:t>💡 obj/ and bin/ are regenerated automatically — never edit them, and it's safe to delete them. Program.cs is the only file you'll touch as a beginner.</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0F2040"/>
        </a:solidFill>
        <a:effectLst/>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1A3A60"/>
          </a:solidFill>
          <a:ln w="12700">
            <a:solidFill>
              <a:srgbClr val="1A3A60"/>
            </a:solidFill>
            <a:prstDash val="solid"/>
          </a:ln>
        </p:spPr>
        <p:txBody>
          <a:bodyPr/>
          <a:lstStyle/>
          <a:p>
            <a:endParaRPr lang="en-US"/>
          </a:p>
        </p:txBody>
      </p:sp>
      <p:sp>
        <p:nvSpPr>
          <p:cNvPr id="3" name="Shape 1"/>
          <p:cNvSpPr/>
          <p:nvPr/>
        </p:nvSpPr>
        <p:spPr>
          <a:xfrm>
            <a:off x="0" y="713232"/>
            <a:ext cx="9144000" cy="45720"/>
          </a:xfrm>
          <a:prstGeom prst="rect">
            <a:avLst/>
          </a:prstGeom>
          <a:solidFill>
            <a:srgbClr val="F59E0B"/>
          </a:solidFill>
          <a:ln w="12700">
            <a:solidFill>
              <a:srgbClr val="F59E0B"/>
            </a:solidFill>
            <a:prstDash val="solid"/>
          </a:ln>
        </p:spPr>
        <p:txBody>
          <a:bodyPr/>
          <a:lstStyle/>
          <a:p>
            <a:endParaRPr lang="en-US"/>
          </a:p>
        </p:txBody>
      </p:sp>
      <p:sp>
        <p:nvSpPr>
          <p:cNvPr id="4" name="Text 2"/>
          <p:cNvSpPr/>
          <p:nvPr/>
        </p:nvSpPr>
        <p:spPr>
          <a:xfrm>
            <a:off x="365760" y="91440"/>
            <a:ext cx="6858000" cy="530352"/>
          </a:xfrm>
          <a:prstGeom prst="rect">
            <a:avLst/>
          </a:prstGeom>
          <a:noFill/>
          <a:ln/>
        </p:spPr>
        <p:txBody>
          <a:bodyPr wrap="square" lIns="0" tIns="0" rIns="0" bIns="0" rtlCol="0" anchor="ctr"/>
          <a:lstStyle/>
          <a:p>
            <a:pPr marL="0" indent="0">
              <a:buNone/>
            </a:pPr>
            <a:r>
              <a:rPr lang="en-US" sz="1900" b="1" dirty="0">
                <a:solidFill>
                  <a:srgbClr val="F59E0B"/>
                </a:solidFill>
                <a:latin typeface="Calibri" pitchFamily="34" charset="0"/>
                <a:ea typeface="Calibri" pitchFamily="34" charset="-122"/>
                <a:cs typeface="Calibri" pitchFamily="34" charset="-120"/>
              </a:rPr>
              <a:t>🧪  LAB 1  ·  Hello C# — First Console Program</a:t>
            </a:r>
            <a:endParaRPr lang="en-US" sz="1900" dirty="0"/>
          </a:p>
        </p:txBody>
      </p:sp>
      <p:sp>
        <p:nvSpPr>
          <p:cNvPr id="5" name="Text 3"/>
          <p:cNvSpPr/>
          <p:nvPr/>
        </p:nvSpPr>
        <p:spPr>
          <a:xfrm>
            <a:off x="7315200" y="164592"/>
            <a:ext cx="1645920" cy="365760"/>
          </a:xfrm>
          <a:prstGeom prst="rect">
            <a:avLst/>
          </a:prstGeom>
          <a:noFill/>
          <a:ln/>
        </p:spPr>
        <p:txBody>
          <a:bodyPr wrap="square" lIns="0" tIns="0" rIns="0" bIns="0" rtlCol="0" anchor="ctr"/>
          <a:lstStyle/>
          <a:p>
            <a:pPr marL="0" indent="0" algn="r">
              <a:buNone/>
            </a:pPr>
            <a:r>
              <a:rPr lang="en-US" sz="1300" dirty="0">
                <a:solidFill>
                  <a:srgbClr val="B8D4E8"/>
                </a:solidFill>
                <a:latin typeface="Calibri" pitchFamily="34" charset="0"/>
                <a:ea typeface="Calibri" pitchFamily="34" charset="-122"/>
                <a:cs typeface="Calibri" pitchFamily="34" charset="-120"/>
              </a:rPr>
              <a:t>⏱ 15 min</a:t>
            </a:r>
            <a:endParaRPr lang="en-US" sz="1300" dirty="0"/>
          </a:p>
        </p:txBody>
      </p:sp>
      <p:sp>
        <p:nvSpPr>
          <p:cNvPr id="6" name="Text 4"/>
          <p:cNvSpPr/>
          <p:nvPr/>
        </p:nvSpPr>
        <p:spPr>
          <a:xfrm>
            <a:off x="365760" y="841248"/>
            <a:ext cx="4114800" cy="329184"/>
          </a:xfrm>
          <a:prstGeom prst="rect">
            <a:avLst/>
          </a:prstGeom>
          <a:noFill/>
          <a:ln/>
        </p:spPr>
        <p:txBody>
          <a:bodyPr wrap="square" lIns="0" tIns="0" rIns="0" bIns="0" rtlCol="0" anchor="ctr"/>
          <a:lstStyle/>
          <a:p>
            <a:pPr marL="0" indent="0">
              <a:buNone/>
            </a:pPr>
            <a:r>
              <a:rPr lang="en-US" sz="1300" b="1" dirty="0">
                <a:solidFill>
                  <a:srgbClr val="F59E0B"/>
                </a:solidFill>
                <a:latin typeface="Calibri" pitchFamily="34" charset="0"/>
                <a:ea typeface="Calibri" pitchFamily="34" charset="-122"/>
                <a:cs typeface="Calibri" pitchFamily="34" charset="-120"/>
              </a:rPr>
              <a:t>You will:</a:t>
            </a:r>
            <a:endParaRPr lang="en-US" sz="1300" dirty="0"/>
          </a:p>
        </p:txBody>
      </p:sp>
      <p:sp>
        <p:nvSpPr>
          <p:cNvPr id="7" name="Text 5"/>
          <p:cNvSpPr/>
          <p:nvPr/>
        </p:nvSpPr>
        <p:spPr>
          <a:xfrm>
            <a:off x="365760" y="1188720"/>
            <a:ext cx="4114800" cy="2560320"/>
          </a:xfrm>
          <a:prstGeom prst="rect">
            <a:avLst/>
          </a:prstGeom>
          <a:noFill/>
          <a:ln/>
        </p:spPr>
        <p:txBody>
          <a:bodyPr wrap="square" rtlCol="0" anchor="t"/>
          <a:lstStyle/>
          <a:p>
            <a:pPr marL="342900" indent="-342900">
              <a:buSzPct val="100000"/>
              <a:buChar char="•"/>
            </a:pPr>
            <a:r>
              <a:rPr lang="en-US" sz="1300" dirty="0">
                <a:solidFill>
                  <a:srgbClr val="B8D4E8"/>
                </a:solidFill>
                <a:latin typeface="Calibri" pitchFamily="34" charset="0"/>
                <a:ea typeface="Calibri" pitchFamily="34" charset="-122"/>
                <a:cs typeface="Calibri" pitchFamily="34" charset="-120"/>
              </a:rPr>
              <a:t>Create and run a .NET console app from scratch</a:t>
            </a:r>
            <a:endParaRPr lang="en-US" sz="1300" dirty="0"/>
          </a:p>
          <a:p>
            <a:pPr marL="342900" indent="-342900">
              <a:buSzPct val="100000"/>
              <a:buChar char="•"/>
            </a:pPr>
            <a:r>
              <a:rPr lang="en-US" sz="1300" dirty="0">
                <a:solidFill>
                  <a:srgbClr val="B8D4E8"/>
                </a:solidFill>
                <a:latin typeface="Calibri" pitchFamily="34" charset="0"/>
                <a:ea typeface="Calibri" pitchFamily="34" charset="-122"/>
                <a:cs typeface="Calibri" pitchFamily="34" charset="-120"/>
              </a:rPr>
              <a:t>Use Console.Write/WriteLine and string interpolation</a:t>
            </a:r>
            <a:endParaRPr lang="en-US" sz="1300" dirty="0"/>
          </a:p>
          <a:p>
            <a:pPr marL="342900" indent="-342900">
              <a:buSzPct val="100000"/>
              <a:buChar char="•"/>
            </a:pPr>
            <a:r>
              <a:rPr lang="en-US" sz="1300" dirty="0">
                <a:solidFill>
                  <a:srgbClr val="B8D4E8"/>
                </a:solidFill>
                <a:latin typeface="Calibri" pitchFamily="34" charset="0"/>
                <a:ea typeface="Calibri" pitchFamily="34" charset="-122"/>
                <a:cs typeface="Calibri" pitchFamily="34" charset="-120"/>
              </a:rPr>
              <a:t>Read input from the user and format output</a:t>
            </a:r>
            <a:endParaRPr lang="en-US" sz="1300" dirty="0"/>
          </a:p>
          <a:p>
            <a:pPr marL="342900" indent="-342900">
              <a:buSzPct val="100000"/>
              <a:buChar char="•"/>
            </a:pPr>
            <a:r>
              <a:rPr lang="en-US" sz="1300" dirty="0">
                <a:solidFill>
                  <a:srgbClr val="B8D4E8"/>
                </a:solidFill>
                <a:latin typeface="Calibri" pitchFamily="34" charset="0"/>
                <a:ea typeface="Calibri" pitchFamily="34" charset="-122"/>
                <a:cs typeface="Calibri" pitchFamily="34" charset="-120"/>
              </a:rPr>
              <a:t>Understand the project structure (.csproj, Program.cs)</a:t>
            </a:r>
            <a:endParaRPr lang="en-US" sz="1300" dirty="0"/>
          </a:p>
        </p:txBody>
      </p:sp>
      <p:sp>
        <p:nvSpPr>
          <p:cNvPr id="8" name="Shape 6"/>
          <p:cNvSpPr/>
          <p:nvPr/>
        </p:nvSpPr>
        <p:spPr>
          <a:xfrm>
            <a:off x="4617720" y="841248"/>
            <a:ext cx="18288" cy="3200400"/>
          </a:xfrm>
          <a:prstGeom prst="rect">
            <a:avLst/>
          </a:prstGeom>
          <a:solidFill>
            <a:srgbClr val="F59E0B">
              <a:alpha val="30000"/>
            </a:srgbClr>
          </a:solidFill>
          <a:ln w="12700">
            <a:solidFill>
              <a:srgbClr val="F59E0B">
                <a:alpha val="30000"/>
              </a:srgbClr>
            </a:solidFill>
            <a:prstDash val="solid"/>
          </a:ln>
        </p:spPr>
        <p:txBody>
          <a:bodyPr/>
          <a:lstStyle/>
          <a:p>
            <a:endParaRPr lang="en-US"/>
          </a:p>
        </p:txBody>
      </p:sp>
      <p:sp>
        <p:nvSpPr>
          <p:cNvPr id="9" name="Text 7"/>
          <p:cNvSpPr/>
          <p:nvPr/>
        </p:nvSpPr>
        <p:spPr>
          <a:xfrm>
            <a:off x="4754880" y="841248"/>
            <a:ext cx="4114800" cy="329184"/>
          </a:xfrm>
          <a:prstGeom prst="rect">
            <a:avLst/>
          </a:prstGeom>
          <a:noFill/>
          <a:ln/>
        </p:spPr>
        <p:txBody>
          <a:bodyPr wrap="square" lIns="0" tIns="0" rIns="0" bIns="0" rtlCol="0" anchor="ctr"/>
          <a:lstStyle/>
          <a:p>
            <a:pPr marL="0" indent="0">
              <a:buNone/>
            </a:pPr>
            <a:r>
              <a:rPr lang="en-US" sz="1300" b="1" dirty="0">
                <a:solidFill>
                  <a:srgbClr val="F59E0B"/>
                </a:solidFill>
                <a:latin typeface="Calibri" pitchFamily="34" charset="0"/>
                <a:ea typeface="Calibri" pitchFamily="34" charset="-122"/>
                <a:cs typeface="Calibri" pitchFamily="34" charset="-120"/>
              </a:rPr>
              <a:t>Steps:</a:t>
            </a:r>
            <a:endParaRPr lang="en-US" sz="1300" dirty="0"/>
          </a:p>
        </p:txBody>
      </p:sp>
      <p:sp>
        <p:nvSpPr>
          <p:cNvPr id="10" name="Text 8"/>
          <p:cNvSpPr/>
          <p:nvPr/>
        </p:nvSpPr>
        <p:spPr>
          <a:xfrm>
            <a:off x="4754880" y="1188720"/>
            <a:ext cx="4114800" cy="2560320"/>
          </a:xfrm>
          <a:prstGeom prst="rect">
            <a:avLst/>
          </a:prstGeom>
          <a:noFill/>
          <a:ln/>
        </p:spPr>
        <p:txBody>
          <a:bodyPr wrap="square" rtlCol="0" anchor="t"/>
          <a:lstStyle/>
          <a:p>
            <a:pPr marL="342900" indent="-342900">
              <a:buSzPct val="100000"/>
              <a:buChar char="•"/>
            </a:pPr>
            <a:r>
              <a:rPr lang="en-US" sz="1300" dirty="0">
                <a:solidFill>
                  <a:srgbClr val="B8D4E8"/>
                </a:solidFill>
                <a:latin typeface="Calibri" pitchFamily="34" charset="0"/>
                <a:ea typeface="Calibri" pitchFamily="34" charset="-122"/>
                <a:cs typeface="Calibri" pitchFamily="34" charset="-120"/>
              </a:rPr>
              <a:t>dotnet new console -n HelloCSharp — create the project</a:t>
            </a:r>
            <a:endParaRPr lang="en-US" sz="1300" dirty="0"/>
          </a:p>
          <a:p>
            <a:pPr marL="342900" indent="-342900">
              <a:buSzPct val="100000"/>
              <a:buChar char="•"/>
            </a:pPr>
            <a:r>
              <a:rPr lang="en-US" sz="1300" dirty="0">
                <a:solidFill>
                  <a:srgbClr val="B8D4E8"/>
                </a:solidFill>
                <a:latin typeface="Calibri" pitchFamily="34" charset="0"/>
                <a:ea typeface="Calibri" pitchFamily="34" charset="-122"/>
                <a:cs typeface="Calibri" pitchFamily="34" charset="-120"/>
              </a:rPr>
              <a:t>Open in VS Code: code HelloCSharp</a:t>
            </a:r>
            <a:endParaRPr lang="en-US" sz="1300" dirty="0"/>
          </a:p>
          <a:p>
            <a:pPr marL="342900" indent="-342900">
              <a:buSzPct val="100000"/>
              <a:buChar char="•"/>
            </a:pPr>
            <a:r>
              <a:rPr lang="en-US" sz="1300" dirty="0">
                <a:solidFill>
                  <a:srgbClr val="B8D4E8"/>
                </a:solidFill>
                <a:latin typeface="Calibri" pitchFamily="34" charset="0"/>
                <a:ea typeface="Calibri" pitchFamily="34" charset="-122"/>
                <a:cs typeface="Calibri" pitchFamily="34" charset="-120"/>
              </a:rPr>
              <a:t>Edit Program.cs: print name, date, and a greeting</a:t>
            </a:r>
            <a:endParaRPr lang="en-US" sz="1300" dirty="0"/>
          </a:p>
          <a:p>
            <a:pPr marL="342900" indent="-342900">
              <a:buSzPct val="100000"/>
              <a:buChar char="•"/>
            </a:pPr>
            <a:r>
              <a:rPr lang="en-US" sz="1300" dirty="0">
                <a:solidFill>
                  <a:srgbClr val="B8D4E8"/>
                </a:solidFill>
                <a:latin typeface="Calibri" pitchFamily="34" charset="0"/>
                <a:ea typeface="Calibri" pitchFamily="34" charset="-122"/>
                <a:cs typeface="Calibri" pitchFamily="34" charset="-120"/>
              </a:rPr>
              <a:t>dotnet run — see it work</a:t>
            </a:r>
            <a:endParaRPr lang="en-US" sz="1300" dirty="0"/>
          </a:p>
          <a:p>
            <a:pPr marL="342900" indent="-342900">
              <a:buSzPct val="100000"/>
              <a:buChar char="•"/>
            </a:pPr>
            <a:r>
              <a:rPr lang="en-US" sz="1300" dirty="0">
                <a:solidFill>
                  <a:srgbClr val="B8D4E8"/>
                </a:solidFill>
                <a:latin typeface="Calibri" pitchFamily="34" charset="0"/>
                <a:ea typeface="Calibri" pitchFamily="34" charset="-122"/>
                <a:cs typeface="Calibri" pitchFamily="34" charset="-120"/>
              </a:rPr>
              <a:t>Add: ask the user's name with Console.ReadLine(), greet them</a:t>
            </a:r>
            <a:endParaRPr lang="en-US" sz="1300" dirty="0"/>
          </a:p>
          <a:p>
            <a:pPr marL="342900" indent="-342900">
              <a:buSzPct val="100000"/>
              <a:buChar char="•"/>
            </a:pPr>
            <a:r>
              <a:rPr lang="en-US" sz="1300" dirty="0">
                <a:solidFill>
                  <a:srgbClr val="B8D4E8"/>
                </a:solidFill>
                <a:latin typeface="Calibri" pitchFamily="34" charset="0"/>
                <a:ea typeface="Calibri" pitchFamily="34" charset="-122"/>
                <a:cs typeface="Calibri" pitchFamily="34" charset="-120"/>
              </a:rPr>
              <a:t>🌶 Add a multiplication table for 1–5</a:t>
            </a:r>
            <a:endParaRPr lang="en-US" sz="1300" dirty="0"/>
          </a:p>
        </p:txBody>
      </p:sp>
      <p:sp>
        <p:nvSpPr>
          <p:cNvPr id="11" name="Shape 9"/>
          <p:cNvSpPr/>
          <p:nvPr/>
        </p:nvSpPr>
        <p:spPr>
          <a:xfrm>
            <a:off x="274320" y="4023360"/>
            <a:ext cx="8595360" cy="685800"/>
          </a:xfrm>
          <a:prstGeom prst="rect">
            <a:avLst/>
          </a:prstGeom>
          <a:solidFill>
            <a:srgbClr val="0A2040"/>
          </a:solidFill>
          <a:ln w="12700">
            <a:solidFill>
              <a:srgbClr val="00C2CB">
                <a:alpha val="50000"/>
              </a:srgbClr>
            </a:solidFill>
            <a:prstDash val="solid"/>
          </a:ln>
          <a:effectLst>
            <a:outerShdw blurRad="63500" dist="25400" dir="8100000" algn="bl" rotWithShape="0">
              <a:srgbClr val="000000">
                <a:alpha val="18000"/>
              </a:srgbClr>
            </a:outerShdw>
          </a:effectLst>
        </p:spPr>
        <p:txBody>
          <a:bodyPr/>
          <a:lstStyle/>
          <a:p>
            <a:endParaRPr lang="en-US"/>
          </a:p>
        </p:txBody>
      </p:sp>
      <p:sp>
        <p:nvSpPr>
          <p:cNvPr id="12" name="Text 10"/>
          <p:cNvSpPr/>
          <p:nvPr/>
        </p:nvSpPr>
        <p:spPr>
          <a:xfrm>
            <a:off x="457200" y="4096512"/>
            <a:ext cx="8229600" cy="502920"/>
          </a:xfrm>
          <a:prstGeom prst="rect">
            <a:avLst/>
          </a:prstGeom>
          <a:noFill/>
          <a:ln/>
        </p:spPr>
        <p:txBody>
          <a:bodyPr wrap="square" lIns="0" tIns="0" rIns="0" bIns="0" rtlCol="0" anchor="ctr"/>
          <a:lstStyle/>
          <a:p>
            <a:pPr marL="0" indent="0">
              <a:buNone/>
            </a:pPr>
            <a:r>
              <a:rPr lang="en-US" sz="1150" i="1" dirty="0">
                <a:solidFill>
                  <a:srgbClr val="B8D4E8"/>
                </a:solidFill>
                <a:latin typeface="Calibri" pitchFamily="34" charset="0"/>
                <a:ea typeface="Calibri" pitchFamily="34" charset="-122"/>
                <a:cs typeface="Calibri" pitchFamily="34" charset="-120"/>
              </a:rPr>
              <a:t>💡 Instructor tip: Have everyone share screen and run 'dotnet --version' before starting — catches setup issues immediately.</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F2040"/>
          </a:solidFill>
          <a:ln w="12700">
            <a:solidFill>
              <a:srgbClr val="0F2040"/>
            </a:solidFill>
            <a:prstDash val="solid"/>
          </a:ln>
        </p:spPr>
        <p:txBody>
          <a:bodyPr/>
          <a:lstStyle/>
          <a:p>
            <a:endParaRPr lang="en-US"/>
          </a:p>
        </p:txBody>
      </p:sp>
      <p:sp>
        <p:nvSpPr>
          <p:cNvPr id="3" name="Shape 1"/>
          <p:cNvSpPr/>
          <p:nvPr/>
        </p:nvSpPr>
        <p:spPr>
          <a:xfrm>
            <a:off x="3200400" y="457200"/>
            <a:ext cx="2743200" cy="2743200"/>
          </a:xfrm>
          <a:prstGeom prst="ellipse">
            <a:avLst/>
          </a:prstGeom>
          <a:solidFill>
            <a:srgbClr val="00C2CB">
              <a:alpha val="12000"/>
            </a:srgbClr>
          </a:solidFill>
          <a:ln w="12700">
            <a:solidFill>
              <a:srgbClr val="00C2CB">
                <a:alpha val="25000"/>
              </a:srgbClr>
            </a:solidFill>
            <a:prstDash val="solid"/>
          </a:ln>
        </p:spPr>
        <p:txBody>
          <a:bodyPr/>
          <a:lstStyle/>
          <a:p>
            <a:endParaRPr lang="en-US"/>
          </a:p>
        </p:txBody>
      </p:sp>
      <p:sp>
        <p:nvSpPr>
          <p:cNvPr id="4" name="Text 2"/>
          <p:cNvSpPr/>
          <p:nvPr/>
        </p:nvSpPr>
        <p:spPr>
          <a:xfrm>
            <a:off x="3200400" y="548640"/>
            <a:ext cx="2743200" cy="1828800"/>
          </a:xfrm>
          <a:prstGeom prst="rect">
            <a:avLst/>
          </a:prstGeom>
          <a:noFill/>
          <a:ln/>
        </p:spPr>
        <p:txBody>
          <a:bodyPr wrap="square" rtlCol="0" anchor="ctr"/>
          <a:lstStyle/>
          <a:p>
            <a:pPr marL="0" indent="0" algn="ctr">
              <a:buNone/>
            </a:pPr>
            <a:r>
              <a:rPr lang="en-US" sz="6000" dirty="0">
                <a:solidFill>
                  <a:srgbClr val="000000"/>
                </a:solidFill>
                <a:latin typeface="Segoe UI Emoji" pitchFamily="34" charset="0"/>
                <a:ea typeface="Segoe UI Emoji" pitchFamily="34" charset="-122"/>
                <a:cs typeface="Segoe UI Emoji" pitchFamily="34" charset="-120"/>
              </a:rPr>
              <a:t>📊</a:t>
            </a:r>
            <a:endParaRPr lang="en-US" sz="6000" dirty="0"/>
          </a:p>
        </p:txBody>
      </p:sp>
      <p:sp>
        <p:nvSpPr>
          <p:cNvPr id="5" name="Shape 3"/>
          <p:cNvSpPr/>
          <p:nvPr/>
        </p:nvSpPr>
        <p:spPr>
          <a:xfrm>
            <a:off x="2286000" y="2743200"/>
            <a:ext cx="4572000" cy="411480"/>
          </a:xfrm>
          <a:prstGeom prst="rect">
            <a:avLst/>
          </a:prstGeom>
          <a:solidFill>
            <a:srgbClr val="00C2CB"/>
          </a:solidFill>
          <a:ln w="12700">
            <a:solidFill>
              <a:srgbClr val="00C2CB"/>
            </a:solidFill>
            <a:prstDash val="solid"/>
          </a:ln>
        </p:spPr>
        <p:txBody>
          <a:bodyPr/>
          <a:lstStyle/>
          <a:p>
            <a:endParaRPr lang="en-US"/>
          </a:p>
        </p:txBody>
      </p:sp>
      <p:sp>
        <p:nvSpPr>
          <p:cNvPr id="6" name="Text 4"/>
          <p:cNvSpPr/>
          <p:nvPr/>
        </p:nvSpPr>
        <p:spPr>
          <a:xfrm>
            <a:off x="2286000" y="2724912"/>
            <a:ext cx="4572000" cy="448056"/>
          </a:xfrm>
          <a:prstGeom prst="rect">
            <a:avLst/>
          </a:prstGeom>
          <a:noFill/>
          <a:ln/>
        </p:spPr>
        <p:txBody>
          <a:bodyPr wrap="square" lIns="0" tIns="0" rIns="0" bIns="0" rtlCol="0" anchor="ctr"/>
          <a:lstStyle/>
          <a:p>
            <a:pPr marL="0" indent="0" algn="ctr">
              <a:buNone/>
            </a:pPr>
            <a:r>
              <a:rPr lang="en-US" sz="1400" b="1" dirty="0">
                <a:solidFill>
                  <a:srgbClr val="0A1628"/>
                </a:solidFill>
                <a:latin typeface="Calibri" pitchFamily="34" charset="0"/>
                <a:ea typeface="Calibri" pitchFamily="34" charset="-122"/>
                <a:cs typeface="Calibri" pitchFamily="34" charset="-120"/>
              </a:rPr>
              <a:t>QUICK POLL</a:t>
            </a:r>
            <a:endParaRPr lang="en-US" sz="1400" dirty="0"/>
          </a:p>
        </p:txBody>
      </p:sp>
      <p:sp>
        <p:nvSpPr>
          <p:cNvPr id="7" name="Text 5"/>
          <p:cNvSpPr/>
          <p:nvPr/>
        </p:nvSpPr>
        <p:spPr>
          <a:xfrm>
            <a:off x="731520" y="3291840"/>
            <a:ext cx="7680960" cy="1463040"/>
          </a:xfrm>
          <a:prstGeom prst="rect">
            <a:avLst/>
          </a:prstGeom>
          <a:noFill/>
          <a:ln/>
        </p:spPr>
        <p:txBody>
          <a:bodyPr wrap="square" rtlCol="0" anchor="ctr"/>
          <a:lstStyle/>
          <a:p>
            <a:pPr marL="0" indent="0" algn="ctr">
              <a:buNone/>
            </a:pPr>
            <a:r>
              <a:rPr lang="en-US" sz="1900" dirty="0">
                <a:solidFill>
                  <a:srgbClr val="FFFFFF"/>
                </a:solidFill>
                <a:latin typeface="Calibri" pitchFamily="34" charset="0"/>
                <a:ea typeface="Calibri" pitchFamily="34" charset="-122"/>
                <a:cs typeface="Calibri" pitchFamily="34" charset="-120"/>
              </a:rPr>
              <a:t>What's your current C# experience level?</a:t>
            </a:r>
            <a:endParaRPr lang="en-US" sz="1900" dirty="0"/>
          </a:p>
          <a:p>
            <a:pPr marL="0" indent="0" algn="ctr">
              <a:buNone/>
            </a:pPr>
            <a:r>
              <a:rPr lang="en-US" sz="1900" dirty="0">
                <a:solidFill>
                  <a:srgbClr val="FFFFFF"/>
                </a:solidFill>
                <a:latin typeface="Calibri" pitchFamily="34" charset="0"/>
                <a:ea typeface="Calibri" pitchFamily="34" charset="-122"/>
                <a:cs typeface="Calibri" pitchFamily="34" charset="-120"/>
              </a:rPr>
              <a:t>A) Complete beginner   B) Some basics   C) Comfortable   D) Experienced</a:t>
            </a:r>
            <a:endParaRPr lang="en-US" sz="1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0F2040"/>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0C2CB"/>
          </a:solidFill>
          <a:ln w="12700">
            <a:solidFill>
              <a:srgbClr val="00C2CB"/>
            </a:solidFill>
            <a:prstDash val="solid"/>
          </a:ln>
        </p:spPr>
        <p:txBody>
          <a:bodyPr/>
          <a:lstStyle/>
          <a:p>
            <a:endParaRPr lang="en-US"/>
          </a:p>
        </p:txBody>
      </p:sp>
      <p:sp>
        <p:nvSpPr>
          <p:cNvPr id="3" name="Text 1"/>
          <p:cNvSpPr/>
          <p:nvPr/>
        </p:nvSpPr>
        <p:spPr>
          <a:xfrm>
            <a:off x="457200" y="73152"/>
            <a:ext cx="2743200" cy="411480"/>
          </a:xfrm>
          <a:prstGeom prst="rect">
            <a:avLst/>
          </a:prstGeom>
          <a:noFill/>
          <a:ln/>
        </p:spPr>
        <p:txBody>
          <a:bodyPr wrap="square" lIns="0" tIns="0" rIns="0" bIns="0" rtlCol="0" anchor="ctr"/>
          <a:lstStyle/>
          <a:p>
            <a:pPr marL="0" indent="0">
              <a:buNone/>
            </a:pPr>
            <a:r>
              <a:rPr lang="en-US" sz="1300" b="1" dirty="0">
                <a:solidFill>
                  <a:srgbClr val="0A1628"/>
                </a:solidFill>
                <a:latin typeface="Calibri" pitchFamily="34" charset="0"/>
                <a:ea typeface="Calibri" pitchFamily="34" charset="-122"/>
                <a:cs typeface="Calibri" pitchFamily="34" charset="-120"/>
              </a:rPr>
              <a:t>SECTION 2</a:t>
            </a:r>
            <a:endParaRPr lang="en-US" sz="1300" dirty="0"/>
          </a:p>
        </p:txBody>
      </p:sp>
      <p:sp>
        <p:nvSpPr>
          <p:cNvPr id="4" name="Text 2"/>
          <p:cNvSpPr/>
          <p:nvPr/>
        </p:nvSpPr>
        <p:spPr>
          <a:xfrm>
            <a:off x="6858000" y="73152"/>
            <a:ext cx="1828800" cy="411480"/>
          </a:xfrm>
          <a:prstGeom prst="rect">
            <a:avLst/>
          </a:prstGeom>
          <a:noFill/>
          <a:ln/>
        </p:spPr>
        <p:txBody>
          <a:bodyPr wrap="square" lIns="0" tIns="0" rIns="0" bIns="0" rtlCol="0" anchor="ctr"/>
          <a:lstStyle/>
          <a:p>
            <a:pPr marL="0" indent="0" algn="r">
              <a:buNone/>
            </a:pPr>
            <a:r>
              <a:rPr lang="en-US" sz="1200" dirty="0">
                <a:solidFill>
                  <a:srgbClr val="0A1628"/>
                </a:solidFill>
                <a:latin typeface="Calibri" pitchFamily="34" charset="0"/>
                <a:ea typeface="Calibri" pitchFamily="34" charset="-122"/>
                <a:cs typeface="Calibri" pitchFamily="34" charset="-120"/>
              </a:rPr>
              <a:t>9:00 – 9:35  (35 min)</a:t>
            </a:r>
            <a:endParaRPr lang="en-US" sz="1200" dirty="0"/>
          </a:p>
        </p:txBody>
      </p:sp>
      <p:sp>
        <p:nvSpPr>
          <p:cNvPr id="5" name="Text 3"/>
          <p:cNvSpPr/>
          <p:nvPr/>
        </p:nvSpPr>
        <p:spPr>
          <a:xfrm>
            <a:off x="457200" y="502920"/>
            <a:ext cx="8229600" cy="502920"/>
          </a:xfrm>
          <a:prstGeom prst="rect">
            <a:avLst/>
          </a:prstGeom>
          <a:noFill/>
          <a:ln/>
        </p:spPr>
        <p:txBody>
          <a:bodyPr wrap="square" lIns="0" tIns="0" rIns="0" bIns="0" rtlCol="0" anchor="ctr"/>
          <a:lstStyle/>
          <a:p>
            <a:pPr marL="0" indent="0">
              <a:buNone/>
            </a:pPr>
            <a:r>
              <a:rPr lang="en-US" sz="2400" b="1" dirty="0">
                <a:solidFill>
                  <a:srgbClr val="0A1628"/>
                </a:solidFill>
                <a:latin typeface="Calibri" pitchFamily="34" charset="0"/>
                <a:ea typeface="Calibri" pitchFamily="34" charset="-122"/>
                <a:cs typeface="Calibri" pitchFamily="34" charset="-120"/>
              </a:rPr>
              <a:t>C# Fundamentals</a:t>
            </a:r>
            <a:endParaRPr lang="en-US" sz="2400" dirty="0"/>
          </a:p>
        </p:txBody>
      </p:sp>
      <p:sp>
        <p:nvSpPr>
          <p:cNvPr id="6" name="Text 4"/>
          <p:cNvSpPr/>
          <p:nvPr/>
        </p:nvSpPr>
        <p:spPr>
          <a:xfrm>
            <a:off x="457200" y="1234440"/>
            <a:ext cx="8229600" cy="3657600"/>
          </a:xfrm>
          <a:prstGeom prst="rect">
            <a:avLst/>
          </a:prstGeom>
          <a:noFill/>
          <a:ln/>
        </p:spPr>
        <p:txBody>
          <a:bodyPr wrap="square" rtlCol="0" anchor="t"/>
          <a:lstStyle/>
          <a:p>
            <a:pPr marL="342900" indent="-342900">
              <a:buSzPct val="100000"/>
              <a:buChar char="•"/>
            </a:pPr>
            <a:r>
              <a:rPr lang="en-US" sz="1400" dirty="0">
                <a:solidFill>
                  <a:srgbClr val="B8D4E8"/>
                </a:solidFill>
                <a:latin typeface="Calibri" pitchFamily="34" charset="0"/>
                <a:ea typeface="Calibri" pitchFamily="34" charset="-122"/>
                <a:cs typeface="Calibri" pitchFamily="34" charset="-120"/>
              </a:rPr>
              <a:t>Data types and variables</a:t>
            </a:r>
            <a:endParaRPr lang="en-US" sz="1400" dirty="0"/>
          </a:p>
          <a:p>
            <a:pPr marL="342900" indent="-342900">
              <a:buSzPct val="100000"/>
              <a:buChar char="•"/>
            </a:pPr>
            <a:r>
              <a:rPr lang="en-US" sz="1400" dirty="0">
                <a:solidFill>
                  <a:srgbClr val="B8D4E8"/>
                </a:solidFill>
                <a:latin typeface="Calibri" pitchFamily="34" charset="0"/>
                <a:ea typeface="Calibri" pitchFamily="34" charset="-122"/>
                <a:cs typeface="Calibri" pitchFamily="34" charset="-120"/>
              </a:rPr>
              <a:t>Operators and expressions</a:t>
            </a:r>
            <a:endParaRPr lang="en-US" sz="1400" dirty="0"/>
          </a:p>
          <a:p>
            <a:pPr marL="342900" indent="-342900">
              <a:buSzPct val="100000"/>
              <a:buChar char="•"/>
            </a:pPr>
            <a:r>
              <a:rPr lang="en-US" sz="1400" dirty="0">
                <a:solidFill>
                  <a:srgbClr val="B8D4E8"/>
                </a:solidFill>
                <a:latin typeface="Calibri" pitchFamily="34" charset="0"/>
                <a:ea typeface="Calibri" pitchFamily="34" charset="-122"/>
                <a:cs typeface="Calibri" pitchFamily="34" charset="-120"/>
              </a:rPr>
              <a:t>Control flow: if / switch / loops</a:t>
            </a:r>
            <a:endParaRPr lang="en-US" sz="1400" dirty="0"/>
          </a:p>
          <a:p>
            <a:pPr marL="342900" indent="-342900">
              <a:buSzPct val="100000"/>
              <a:buChar char="•"/>
            </a:pPr>
            <a:r>
              <a:rPr lang="en-US" sz="1400" dirty="0">
                <a:solidFill>
                  <a:srgbClr val="B8D4E8"/>
                </a:solidFill>
                <a:latin typeface="Calibri" pitchFamily="34" charset="0"/>
                <a:ea typeface="Calibri" pitchFamily="34" charset="-122"/>
                <a:cs typeface="Calibri" pitchFamily="34" charset="-120"/>
              </a:rPr>
              <a:t>Methods, parameters, and return values</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142952"/>
          </a:solidFill>
          <a:ln w="12700">
            <a:solidFill>
              <a:srgbClr val="142952"/>
            </a:solidFill>
            <a:prstDash val="solid"/>
          </a:ln>
        </p:spPr>
        <p:txBody>
          <a:bodyPr/>
          <a:lstStyle/>
          <a:p>
            <a:endParaRPr lang="en-US"/>
          </a:p>
        </p:txBody>
      </p:sp>
      <p:sp>
        <p:nvSpPr>
          <p:cNvPr id="3" name="Shape 1"/>
          <p:cNvSpPr/>
          <p:nvPr/>
        </p:nvSpPr>
        <p:spPr>
          <a:xfrm>
            <a:off x="0" y="713232"/>
            <a:ext cx="9144000" cy="45720"/>
          </a:xfrm>
          <a:prstGeom prst="rect">
            <a:avLst/>
          </a:prstGeom>
          <a:solidFill>
            <a:srgbClr val="00C2CB"/>
          </a:solidFill>
          <a:ln w="12700">
            <a:solidFill>
              <a:srgbClr val="00C2CB"/>
            </a:solidFill>
            <a:prstDash val="solid"/>
          </a:ln>
        </p:spPr>
        <p:txBody>
          <a:bodyPr/>
          <a:lstStyle/>
          <a:p>
            <a:endParaRPr lang="en-US"/>
          </a:p>
        </p:txBody>
      </p:sp>
      <p:sp>
        <p:nvSpPr>
          <p:cNvPr id="4" name="Text 2"/>
          <p:cNvSpPr/>
          <p:nvPr/>
        </p:nvSpPr>
        <p:spPr>
          <a:xfrm>
            <a:off x="365760" y="91440"/>
            <a:ext cx="8412480" cy="548640"/>
          </a:xfrm>
          <a:prstGeom prst="rect">
            <a:avLst/>
          </a:prstGeom>
          <a:noFill/>
          <a:ln/>
        </p:spPr>
        <p:txBody>
          <a:bodyPr wrap="square" lIns="0" tIns="0" rIns="0" bIns="0"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Data Types &amp; Variables</a:t>
            </a:r>
            <a:endParaRPr lang="en-US" sz="2100" dirty="0"/>
          </a:p>
        </p:txBody>
      </p:sp>
      <p:sp>
        <p:nvSpPr>
          <p:cNvPr id="5" name="Text 3"/>
          <p:cNvSpPr/>
          <p:nvPr/>
        </p:nvSpPr>
        <p:spPr>
          <a:xfrm>
            <a:off x="365760" y="868680"/>
            <a:ext cx="8412480" cy="4023360"/>
          </a:xfrm>
          <a:prstGeom prst="rect">
            <a:avLst/>
          </a:prstGeom>
          <a:noFill/>
          <a:ln/>
        </p:spPr>
        <p:txBody>
          <a:bodyPr wrap="square" rtlCol="0" anchor="t"/>
          <a:lstStyle/>
          <a:p>
            <a:pPr marL="342900" indent="-342900">
              <a:buSzPct val="100000"/>
              <a:buChar char="•"/>
            </a:pPr>
            <a:r>
              <a:rPr lang="en-US" sz="1400" dirty="0">
                <a:solidFill>
                  <a:srgbClr val="B8D4E8"/>
                </a:solidFill>
                <a:latin typeface="Calibri" pitchFamily="34" charset="0"/>
                <a:ea typeface="Calibri" pitchFamily="34" charset="-122"/>
                <a:cs typeface="Calibri" pitchFamily="34" charset="-120"/>
              </a:rPr>
              <a:t>Value types live on the stack — copied when assigned: int, double, bool, char, decimal, struct</a:t>
            </a:r>
            <a:endParaRPr lang="en-US" sz="1400" dirty="0"/>
          </a:p>
          <a:p>
            <a:pPr marL="342900" indent="-342900">
              <a:buSzPct val="100000"/>
              <a:buChar char="•"/>
            </a:pPr>
            <a:r>
              <a:rPr lang="en-US" sz="1400" dirty="0">
                <a:solidFill>
                  <a:srgbClr val="B8D4E8"/>
                </a:solidFill>
                <a:latin typeface="Calibri" pitchFamily="34" charset="0"/>
                <a:ea typeface="Calibri" pitchFamily="34" charset="-122"/>
                <a:cs typeface="Calibri" pitchFamily="34" charset="-120"/>
              </a:rPr>
              <a:t>Reference types live on the heap — share the same object: string, arrays, class instances</a:t>
            </a:r>
            <a:endParaRPr lang="en-US" sz="1400" dirty="0"/>
          </a:p>
          <a:p>
            <a:pPr marL="342900" indent="-342900">
              <a:buSzPct val="100000"/>
              <a:buChar char="•"/>
            </a:pPr>
            <a:r>
              <a:rPr lang="en-US" sz="1400" dirty="0">
                <a:solidFill>
                  <a:srgbClr val="B8D4E8"/>
                </a:solidFill>
                <a:latin typeface="Calibri" pitchFamily="34" charset="0"/>
                <a:ea typeface="Calibri" pitchFamily="34" charset="-122"/>
                <a:cs typeface="Calibri" pitchFamily="34" charset="-120"/>
              </a:rPr>
              <a:t>Type inference with var — the compiler figures out the type; use it when the type is obvious</a:t>
            </a:r>
            <a:endParaRPr lang="en-US" sz="1400" dirty="0"/>
          </a:p>
          <a:p>
            <a:pPr marL="342900" indent="-342900">
              <a:buSzPct val="100000"/>
              <a:buChar char="•"/>
            </a:pPr>
            <a:r>
              <a:rPr lang="en-US" sz="1400" dirty="0">
                <a:solidFill>
                  <a:srgbClr val="B8D4E8"/>
                </a:solidFill>
                <a:latin typeface="Calibri" pitchFamily="34" charset="0"/>
                <a:ea typeface="Calibri" pitchFamily="34" charset="-122"/>
                <a:cs typeface="Calibri" pitchFamily="34" charset="-120"/>
              </a:rPr>
              <a:t>Nullable types: int? age = null — a value type that can also be null (use with care)</a:t>
            </a:r>
            <a:endParaRPr lang="en-US" sz="1400" dirty="0"/>
          </a:p>
          <a:p>
            <a:pPr marL="342900" indent="-342900">
              <a:buSzPct val="100000"/>
              <a:buChar char="•"/>
            </a:pPr>
            <a:r>
              <a:rPr lang="en-US" sz="1400" dirty="0">
                <a:solidFill>
                  <a:srgbClr val="B8D4E8"/>
                </a:solidFill>
                <a:latin typeface="Calibri" pitchFamily="34" charset="0"/>
                <a:ea typeface="Calibri" pitchFamily="34" charset="-122"/>
                <a:cs typeface="Calibri" pitchFamily="34" charset="-120"/>
              </a:rPr>
              <a:t>string is a special reference type — IMMUTABLE: every 'change' creates a new string</a:t>
            </a:r>
            <a:endParaRPr lang="en-US" sz="1400" dirty="0"/>
          </a:p>
          <a:p>
            <a:pPr marL="342900" indent="-342900">
              <a:buSzPct val="100000"/>
              <a:buChar char="•"/>
            </a:pPr>
            <a:r>
              <a:rPr lang="en-US" sz="1400" dirty="0">
                <a:solidFill>
                  <a:srgbClr val="B8D4E8"/>
                </a:solidFill>
                <a:latin typeface="Calibri" pitchFamily="34" charset="0"/>
                <a:ea typeface="Calibri" pitchFamily="34" charset="-122"/>
                <a:cs typeface="Calibri" pitchFamily="34" charset="-120"/>
              </a:rPr>
              <a:t>Naming: camelCase for locals, PascalCase for properties and methods — follow the conventions</a:t>
            </a:r>
            <a:endParaRPr lang="en-US" sz="1400" dirty="0"/>
          </a:p>
          <a:p>
            <a:pPr marL="342900" indent="-342900">
              <a:buSzPct val="100000"/>
              <a:buChar char="•"/>
            </a:pPr>
            <a:r>
              <a:rPr lang="en-US" sz="1400" dirty="0">
                <a:solidFill>
                  <a:srgbClr val="B8D4E8"/>
                </a:solidFill>
                <a:latin typeface="Calibri" pitchFamily="34" charset="0"/>
                <a:ea typeface="Calibri" pitchFamily="34" charset="-122"/>
                <a:cs typeface="Calibri" pitchFamily="34" charset="-120"/>
              </a:rPr>
              <a:t>Constants: const double Pi = 3.14159; — compile-time; readonly = run-time read-only</a:t>
            </a:r>
            <a:endParaRPr lang="en-US" sz="1400" dirty="0"/>
          </a:p>
        </p:txBody>
      </p:sp>
      <p:sp>
        <p:nvSpPr>
          <p:cNvPr id="6" name="Shape 4"/>
          <p:cNvSpPr/>
          <p:nvPr/>
        </p:nvSpPr>
        <p:spPr>
          <a:xfrm>
            <a:off x="7498080" y="137160"/>
            <a:ext cx="1463040" cy="420624"/>
          </a:xfrm>
          <a:prstGeom prst="rect">
            <a:avLst/>
          </a:prstGeom>
          <a:solidFill>
            <a:srgbClr val="F59E0B"/>
          </a:solidFill>
          <a:ln w="12700">
            <a:solidFill>
              <a:srgbClr val="F59E0B"/>
            </a:solidFill>
            <a:prstDash val="solid"/>
          </a:ln>
        </p:spPr>
        <p:txBody>
          <a:bodyPr/>
          <a:lstStyle/>
          <a:p>
            <a:endParaRPr lang="en-US"/>
          </a:p>
        </p:txBody>
      </p:sp>
      <p:sp>
        <p:nvSpPr>
          <p:cNvPr id="7" name="Text 5"/>
          <p:cNvSpPr/>
          <p:nvPr/>
        </p:nvSpPr>
        <p:spPr>
          <a:xfrm>
            <a:off x="7498080" y="118872"/>
            <a:ext cx="1463040" cy="457200"/>
          </a:xfrm>
          <a:prstGeom prst="rect">
            <a:avLst/>
          </a:prstGeom>
          <a:noFill/>
          <a:ln/>
        </p:spPr>
        <p:txBody>
          <a:bodyPr wrap="square" lIns="0" tIns="0" rIns="0" bIns="0" rtlCol="0" anchor="ctr"/>
          <a:lstStyle/>
          <a:p>
            <a:pPr marL="0" indent="0" algn="ctr">
              <a:buNone/>
            </a:pPr>
            <a:r>
              <a:rPr lang="en-US" sz="1100" b="1" dirty="0">
                <a:solidFill>
                  <a:srgbClr val="0A1628"/>
                </a:solidFill>
                <a:latin typeface="Calibri" pitchFamily="34" charset="0"/>
                <a:ea typeface="Calibri" pitchFamily="34" charset="-122"/>
                <a:cs typeface="Calibri" pitchFamily="34" charset="-120"/>
              </a:rPr>
              <a:t>⏱ 9:00 – 9:10</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0D1520"/>
          </a:solidFill>
          <a:ln w="12700">
            <a:solidFill>
              <a:srgbClr val="0D1520"/>
            </a:solidFill>
            <a:prstDash val="solid"/>
          </a:ln>
        </p:spPr>
        <p:txBody>
          <a:bodyPr/>
          <a:lstStyle/>
          <a:p>
            <a:endParaRPr lang="en-US"/>
          </a:p>
        </p:txBody>
      </p:sp>
      <p:sp>
        <p:nvSpPr>
          <p:cNvPr id="3" name="Shape 1"/>
          <p:cNvSpPr/>
          <p:nvPr/>
        </p:nvSpPr>
        <p:spPr>
          <a:xfrm>
            <a:off x="0" y="621792"/>
            <a:ext cx="9144000" cy="36576"/>
          </a:xfrm>
          <a:prstGeom prst="rect">
            <a:avLst/>
          </a:prstGeom>
          <a:solidFill>
            <a:srgbClr val="00C2CB"/>
          </a:solidFill>
          <a:ln w="12700">
            <a:solidFill>
              <a:srgbClr val="00C2CB"/>
            </a:solidFill>
            <a:prstDash val="solid"/>
          </a:ln>
        </p:spPr>
        <p:txBody>
          <a:bodyPr/>
          <a:lstStyle/>
          <a:p>
            <a:endParaRPr lang="en-US"/>
          </a:p>
        </p:txBody>
      </p:sp>
      <p:sp>
        <p:nvSpPr>
          <p:cNvPr id="4" name="Text 2"/>
          <p:cNvSpPr/>
          <p:nvPr/>
        </p:nvSpPr>
        <p:spPr>
          <a:xfrm>
            <a:off x="320040" y="64008"/>
            <a:ext cx="8503920" cy="502920"/>
          </a:xfrm>
          <a:prstGeom prst="rect">
            <a:avLst/>
          </a:prstGeom>
          <a:noFill/>
          <a:ln/>
        </p:spPr>
        <p:txBody>
          <a:bodyPr wrap="square" lIns="0" tIns="0" rIns="0" bIns="0" rtlCol="0" anchor="ctr"/>
          <a:lstStyle/>
          <a:p>
            <a:pPr marL="0" indent="0">
              <a:buNone/>
            </a:pPr>
            <a:r>
              <a:rPr lang="en-US" sz="1700" b="1" dirty="0">
                <a:solidFill>
                  <a:srgbClr val="00C2CB"/>
                </a:solidFill>
                <a:latin typeface="Calibri" pitchFamily="34" charset="0"/>
                <a:ea typeface="Calibri" pitchFamily="34" charset="-122"/>
                <a:cs typeface="Calibri" pitchFamily="34" charset="-120"/>
              </a:rPr>
              <a:t>⌨  Data Types &amp; Variables — Live Demo</a:t>
            </a:r>
            <a:endParaRPr lang="en-US" sz="1700" dirty="0"/>
          </a:p>
        </p:txBody>
      </p:sp>
      <p:sp>
        <p:nvSpPr>
          <p:cNvPr id="5" name="Text 3"/>
          <p:cNvSpPr/>
          <p:nvPr/>
        </p:nvSpPr>
        <p:spPr>
          <a:xfrm>
            <a:off x="274320" y="713232"/>
            <a:ext cx="8595360" cy="3566160"/>
          </a:xfrm>
          <a:prstGeom prst="rect">
            <a:avLst/>
          </a:prstGeom>
          <a:noFill/>
          <a:ln/>
        </p:spPr>
        <p:txBody>
          <a:bodyPr wrap="square" lIns="0" tIns="0" rIns="0" bIns="0" rtlCol="0" anchor="t"/>
          <a:lstStyle/>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 Value types</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int     bookCount = 42;</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double  price     = 19.99;</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bool    isOpen    = true;</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char    grade     = 'A';</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decimal lateFee   = 0.25m;   // m suffix = decimal literal</a:t>
            </a:r>
            <a:endParaRPr lang="en-US" sz="1200" dirty="0"/>
          </a:p>
          <a:p>
            <a:pPr marL="0" indent="0">
              <a:lnSpc>
                <a:spcPct val="120000"/>
              </a:lnSpc>
              <a:buNone/>
            </a:pP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 Type inference — compiler knows from context</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var libraryName = "City Library";   // string</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var today       = DateTime.Now;     // DateTime</a:t>
            </a:r>
            <a:endParaRPr lang="en-US" sz="1200" dirty="0"/>
          </a:p>
          <a:p>
            <a:pPr marL="0" indent="0">
              <a:lnSpc>
                <a:spcPct val="120000"/>
              </a:lnSpc>
              <a:buNone/>
            </a:pP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 Nullable value types</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int? maybeId = null;</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if (maybeId.HasValue) Console.WriteLine(maybeId.Value);</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int safeId = maybeId ?? 0;          // fallback if null</a:t>
            </a:r>
            <a:endParaRPr lang="en-US" sz="1200" dirty="0"/>
          </a:p>
          <a:p>
            <a:pPr marL="0" indent="0">
              <a:lnSpc>
                <a:spcPct val="120000"/>
              </a:lnSpc>
              <a:buNone/>
            </a:pP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 Format specifiers — show these LIVE</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Console.WriteLine($"Price: {price:C}");     // $19.99</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Console.WriteLine($"Count: {bookCount:N0}"); // 42</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Console.WriteLine($"Pct:   {0.84:P1}");     // 84.0%</a:t>
            </a:r>
            <a:endParaRPr lang="en-US" sz="1200" dirty="0"/>
          </a:p>
        </p:txBody>
      </p:sp>
      <p:sp>
        <p:nvSpPr>
          <p:cNvPr id="6" name="Text 4"/>
          <p:cNvSpPr/>
          <p:nvPr/>
        </p:nvSpPr>
        <p:spPr>
          <a:xfrm>
            <a:off x="274320" y="4315968"/>
            <a:ext cx="8595360" cy="502920"/>
          </a:xfrm>
          <a:prstGeom prst="rect">
            <a:avLst/>
          </a:prstGeom>
          <a:noFill/>
          <a:ln/>
        </p:spPr>
        <p:txBody>
          <a:bodyPr wrap="square" lIns="0" tIns="0" rIns="0" bIns="0" rtlCol="0" anchor="ctr"/>
          <a:lstStyle/>
          <a:p>
            <a:pPr marL="0" indent="0">
              <a:buNone/>
            </a:pPr>
            <a:r>
              <a:rPr lang="en-US" sz="1100" i="1" dirty="0">
                <a:solidFill>
                  <a:srgbClr val="6B93B0"/>
                </a:solidFill>
                <a:latin typeface="Calibri" pitchFamily="34" charset="0"/>
                <a:ea typeface="Calibri" pitchFamily="34" charset="-122"/>
                <a:cs typeface="Calibri" pitchFamily="34" charset="-120"/>
              </a:rPr>
              <a:t>💡 Run each line live in dotnet-script or Watch mode. Students should type along.</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142952"/>
          </a:solidFill>
          <a:ln w="12700">
            <a:solidFill>
              <a:srgbClr val="142952"/>
            </a:solidFill>
            <a:prstDash val="solid"/>
          </a:ln>
        </p:spPr>
        <p:txBody>
          <a:bodyPr/>
          <a:lstStyle/>
          <a:p>
            <a:endParaRPr lang="en-US"/>
          </a:p>
        </p:txBody>
      </p:sp>
      <p:sp>
        <p:nvSpPr>
          <p:cNvPr id="3" name="Shape 1"/>
          <p:cNvSpPr/>
          <p:nvPr/>
        </p:nvSpPr>
        <p:spPr>
          <a:xfrm>
            <a:off x="0" y="713232"/>
            <a:ext cx="9144000" cy="45720"/>
          </a:xfrm>
          <a:prstGeom prst="rect">
            <a:avLst/>
          </a:prstGeom>
          <a:solidFill>
            <a:srgbClr val="00C2CB"/>
          </a:solidFill>
          <a:ln w="12700">
            <a:solidFill>
              <a:srgbClr val="00C2CB"/>
            </a:solidFill>
            <a:prstDash val="solid"/>
          </a:ln>
        </p:spPr>
        <p:txBody>
          <a:bodyPr/>
          <a:lstStyle/>
          <a:p>
            <a:endParaRPr lang="en-US"/>
          </a:p>
        </p:txBody>
      </p:sp>
      <p:sp>
        <p:nvSpPr>
          <p:cNvPr id="4" name="Text 2"/>
          <p:cNvSpPr/>
          <p:nvPr/>
        </p:nvSpPr>
        <p:spPr>
          <a:xfrm>
            <a:off x="365760" y="91440"/>
            <a:ext cx="8412480" cy="548640"/>
          </a:xfrm>
          <a:prstGeom prst="rect">
            <a:avLst/>
          </a:prstGeom>
          <a:noFill/>
          <a:ln/>
        </p:spPr>
        <p:txBody>
          <a:bodyPr wrap="square" lIns="0" tIns="0" rIns="0" bIns="0"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Operators &amp; Expressions</a:t>
            </a:r>
            <a:endParaRPr lang="en-US" sz="2100" dirty="0"/>
          </a:p>
        </p:txBody>
      </p:sp>
      <p:sp>
        <p:nvSpPr>
          <p:cNvPr id="5" name="Text 3"/>
          <p:cNvSpPr/>
          <p:nvPr/>
        </p:nvSpPr>
        <p:spPr>
          <a:xfrm>
            <a:off x="365760" y="868680"/>
            <a:ext cx="8412480" cy="4023360"/>
          </a:xfrm>
          <a:prstGeom prst="rect">
            <a:avLst/>
          </a:prstGeom>
          <a:noFill/>
          <a:ln/>
        </p:spPr>
        <p:txBody>
          <a:bodyPr wrap="square" rtlCol="0" anchor="t"/>
          <a:lstStyle/>
          <a:p>
            <a:pPr marL="342900" indent="-342900">
              <a:buSzPct val="100000"/>
              <a:buChar char="•"/>
            </a:pPr>
            <a:r>
              <a:rPr lang="en-US" sz="1400" dirty="0">
                <a:solidFill>
                  <a:srgbClr val="B8D4E8"/>
                </a:solidFill>
                <a:latin typeface="Calibri" pitchFamily="34" charset="0"/>
                <a:ea typeface="Calibri" pitchFamily="34" charset="-122"/>
                <a:cs typeface="Calibri" pitchFamily="34" charset="-120"/>
              </a:rPr>
              <a:t>Arithmetic: +  -  *  /  %  (modulo — remainder after division)  ++  --</a:t>
            </a:r>
            <a:endParaRPr lang="en-US" sz="1400" dirty="0"/>
          </a:p>
          <a:p>
            <a:pPr marL="342900" indent="-342900">
              <a:buSzPct val="100000"/>
              <a:buChar char="•"/>
            </a:pPr>
            <a:r>
              <a:rPr lang="en-US" sz="1400" dirty="0">
                <a:solidFill>
                  <a:srgbClr val="B8D4E8"/>
                </a:solidFill>
                <a:latin typeface="Calibri" pitchFamily="34" charset="0"/>
                <a:ea typeface="Calibri" pitchFamily="34" charset="-122"/>
                <a:cs typeface="Calibri" pitchFamily="34" charset="-120"/>
              </a:rPr>
              <a:t>Integer division: 7 / 2 = 3 (truncates!) — cast to double first: (double)7 / 2 = 3.5</a:t>
            </a:r>
            <a:endParaRPr lang="en-US" sz="1400" dirty="0"/>
          </a:p>
          <a:p>
            <a:pPr marL="342900" indent="-342900">
              <a:buSzPct val="100000"/>
              <a:buChar char="•"/>
            </a:pPr>
            <a:r>
              <a:rPr lang="en-US" sz="1400" dirty="0">
                <a:solidFill>
                  <a:srgbClr val="B8D4E8"/>
                </a:solidFill>
                <a:latin typeface="Calibri" pitchFamily="34" charset="0"/>
                <a:ea typeface="Calibri" pitchFamily="34" charset="-122"/>
                <a:cs typeface="Calibri" pitchFamily="34" charset="-120"/>
              </a:rPr>
              <a:t>Comparison: ==  !=  &lt;  &gt;  &lt;=  &gt;= — always returns bool</a:t>
            </a:r>
            <a:endParaRPr lang="en-US" sz="1400" dirty="0"/>
          </a:p>
          <a:p>
            <a:pPr marL="342900" indent="-342900">
              <a:buSzPct val="100000"/>
              <a:buChar char="•"/>
            </a:pPr>
            <a:r>
              <a:rPr lang="en-US" sz="1400" dirty="0">
                <a:solidFill>
                  <a:srgbClr val="B8D4E8"/>
                </a:solidFill>
                <a:latin typeface="Calibri" pitchFamily="34" charset="0"/>
                <a:ea typeface="Calibri" pitchFamily="34" charset="-122"/>
                <a:cs typeface="Calibri" pitchFamily="34" charset="-120"/>
              </a:rPr>
              <a:t>Logical: &amp;&amp;  ||  !  — short-circuit: if first operand decides the result, second is skipped</a:t>
            </a:r>
            <a:endParaRPr lang="en-US" sz="1400" dirty="0"/>
          </a:p>
          <a:p>
            <a:pPr marL="342900" indent="-342900">
              <a:buSzPct val="100000"/>
              <a:buChar char="•"/>
            </a:pPr>
            <a:r>
              <a:rPr lang="en-US" sz="1400" dirty="0">
                <a:solidFill>
                  <a:srgbClr val="B8D4E8"/>
                </a:solidFill>
                <a:latin typeface="Calibri" pitchFamily="34" charset="0"/>
                <a:ea typeface="Calibri" pitchFamily="34" charset="-122"/>
                <a:cs typeface="Calibri" pitchFamily="34" charset="-120"/>
              </a:rPr>
              <a:t>Null-handling: ??  (null-coalescing)  ??=  (assign if null)  ?.  (null-conditional)</a:t>
            </a:r>
            <a:endParaRPr lang="en-US" sz="1400" dirty="0"/>
          </a:p>
          <a:p>
            <a:pPr marL="342900" indent="-342900">
              <a:buSzPct val="100000"/>
              <a:buChar char="•"/>
            </a:pPr>
            <a:r>
              <a:rPr lang="en-US" sz="1400" dirty="0">
                <a:solidFill>
                  <a:srgbClr val="B8D4E8"/>
                </a:solidFill>
                <a:latin typeface="Calibri" pitchFamily="34" charset="0"/>
                <a:ea typeface="Calibri" pitchFamily="34" charset="-122"/>
                <a:cs typeface="Calibri" pitchFamily="34" charset="-120"/>
              </a:rPr>
              <a:t>Ternary: string status = count &gt; 0 ? "Available" : "Empty";</a:t>
            </a:r>
            <a:endParaRPr lang="en-US" sz="1400" dirty="0"/>
          </a:p>
          <a:p>
            <a:pPr marL="342900" indent="-342900">
              <a:buSzPct val="100000"/>
              <a:buChar char="•"/>
            </a:pPr>
            <a:r>
              <a:rPr lang="en-US" sz="1400" dirty="0">
                <a:solidFill>
                  <a:srgbClr val="B8D4E8"/>
                </a:solidFill>
                <a:latin typeface="Calibri" pitchFamily="34" charset="0"/>
                <a:ea typeface="Calibri" pitchFamily="34" charset="-122"/>
                <a:cs typeface="Calibri" pitchFamily="34" charset="-120"/>
              </a:rPr>
              <a:t>String concatenation: + works but interpolation $"...{expr}" is preferred</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0D1520"/>
          </a:solidFill>
          <a:ln w="12700">
            <a:solidFill>
              <a:srgbClr val="0D1520"/>
            </a:solidFill>
            <a:prstDash val="solid"/>
          </a:ln>
        </p:spPr>
        <p:txBody>
          <a:bodyPr/>
          <a:lstStyle/>
          <a:p>
            <a:endParaRPr lang="en-US"/>
          </a:p>
        </p:txBody>
      </p:sp>
      <p:sp>
        <p:nvSpPr>
          <p:cNvPr id="3" name="Shape 1"/>
          <p:cNvSpPr/>
          <p:nvPr/>
        </p:nvSpPr>
        <p:spPr>
          <a:xfrm>
            <a:off x="0" y="621792"/>
            <a:ext cx="9144000" cy="36576"/>
          </a:xfrm>
          <a:prstGeom prst="rect">
            <a:avLst/>
          </a:prstGeom>
          <a:solidFill>
            <a:srgbClr val="00C2CB"/>
          </a:solidFill>
          <a:ln w="12700">
            <a:solidFill>
              <a:srgbClr val="00C2CB"/>
            </a:solidFill>
            <a:prstDash val="solid"/>
          </a:ln>
        </p:spPr>
        <p:txBody>
          <a:bodyPr/>
          <a:lstStyle/>
          <a:p>
            <a:endParaRPr lang="en-US"/>
          </a:p>
        </p:txBody>
      </p:sp>
      <p:sp>
        <p:nvSpPr>
          <p:cNvPr id="4" name="Text 2"/>
          <p:cNvSpPr/>
          <p:nvPr/>
        </p:nvSpPr>
        <p:spPr>
          <a:xfrm>
            <a:off x="320040" y="64008"/>
            <a:ext cx="8503920" cy="502920"/>
          </a:xfrm>
          <a:prstGeom prst="rect">
            <a:avLst/>
          </a:prstGeom>
          <a:noFill/>
          <a:ln/>
        </p:spPr>
        <p:txBody>
          <a:bodyPr wrap="square" lIns="0" tIns="0" rIns="0" bIns="0" rtlCol="0" anchor="ctr"/>
          <a:lstStyle/>
          <a:p>
            <a:pPr marL="0" indent="0">
              <a:buNone/>
            </a:pPr>
            <a:r>
              <a:rPr lang="en-US" sz="1700" b="1" dirty="0">
                <a:solidFill>
                  <a:srgbClr val="00C2CB"/>
                </a:solidFill>
                <a:latin typeface="Calibri" pitchFamily="34" charset="0"/>
                <a:ea typeface="Calibri" pitchFamily="34" charset="-122"/>
                <a:cs typeface="Calibri" pitchFamily="34" charset="-120"/>
              </a:rPr>
              <a:t>⌨  Control Flow — if, switch, loops</a:t>
            </a:r>
            <a:endParaRPr lang="en-US" sz="1700" dirty="0"/>
          </a:p>
        </p:txBody>
      </p:sp>
      <p:sp>
        <p:nvSpPr>
          <p:cNvPr id="5" name="Text 3"/>
          <p:cNvSpPr/>
          <p:nvPr/>
        </p:nvSpPr>
        <p:spPr>
          <a:xfrm>
            <a:off x="274320" y="713232"/>
            <a:ext cx="8595360" cy="4343400"/>
          </a:xfrm>
          <a:prstGeom prst="rect">
            <a:avLst/>
          </a:prstGeom>
          <a:noFill/>
          <a:ln/>
        </p:spPr>
        <p:txBody>
          <a:bodyPr wrap="square" lIns="0" tIns="0" rIns="0" bIns="0" rtlCol="0" anchor="t"/>
          <a:lstStyle/>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 if / else</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if (daysLate == 0)        Console.WriteLine("On time");</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else if (daysLate &lt;= 7)   Console.WriteLine("Late — small fee");</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else                      Console.WriteLine("Very overdue!");</a:t>
            </a:r>
            <a:endParaRPr lang="en-US" sz="1200" dirty="0"/>
          </a:p>
          <a:p>
            <a:pPr marL="0" indent="0">
              <a:lnSpc>
                <a:spcPct val="120000"/>
              </a:lnSpc>
              <a:buNone/>
            </a:pP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 switch EXPRESSION (C# 8+) — returns a value</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string label = daysLate switch {</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    0       =&gt; "On time",</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    &lt;= 7    =&gt; "Slightly late",</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    _       =&gt; "Very overdue"</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a:t>
            </a:r>
            <a:endParaRPr lang="en-US" sz="1200" dirty="0"/>
          </a:p>
          <a:p>
            <a:pPr marL="0" indent="0">
              <a:lnSpc>
                <a:spcPct val="120000"/>
              </a:lnSpc>
              <a:buNone/>
            </a:pP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 for / foreach / while — choose the right loop</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for (int i = 1; i &lt;= 5; i++) Console.Write($"{i} ");</a:t>
            </a:r>
            <a:endParaRPr lang="en-US" sz="1200" dirty="0"/>
          </a:p>
          <a:p>
            <a:pPr marL="0" indent="0">
              <a:lnSpc>
                <a:spcPct val="120000"/>
              </a:lnSpc>
              <a:buNone/>
            </a:pP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string[] books = { "Dune", "1984", "Emma" };</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foreach (var b in books) Console.WriteLine(b);  // preferred for collections</a:t>
            </a:r>
            <a:endParaRPr lang="en-US" sz="1200" dirty="0"/>
          </a:p>
          <a:p>
            <a:pPr marL="0" indent="0">
              <a:lnSpc>
                <a:spcPct val="120000"/>
              </a:lnSpc>
              <a:buNone/>
            </a:pP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int n = 16;</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while (n &gt; 1) { n /= 2; Console.Write($"{n} "); }</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142952"/>
          </a:solidFill>
          <a:ln w="12700">
            <a:solidFill>
              <a:srgbClr val="142952"/>
            </a:solidFill>
            <a:prstDash val="solid"/>
          </a:ln>
        </p:spPr>
        <p:txBody>
          <a:bodyPr/>
          <a:lstStyle/>
          <a:p>
            <a:endParaRPr lang="en-US"/>
          </a:p>
        </p:txBody>
      </p:sp>
      <p:sp>
        <p:nvSpPr>
          <p:cNvPr id="3" name="Shape 1"/>
          <p:cNvSpPr/>
          <p:nvPr/>
        </p:nvSpPr>
        <p:spPr>
          <a:xfrm>
            <a:off x="0" y="713232"/>
            <a:ext cx="9144000" cy="45720"/>
          </a:xfrm>
          <a:prstGeom prst="rect">
            <a:avLst/>
          </a:prstGeom>
          <a:solidFill>
            <a:srgbClr val="00C2CB"/>
          </a:solidFill>
          <a:ln w="12700">
            <a:solidFill>
              <a:srgbClr val="00C2CB"/>
            </a:solidFill>
            <a:prstDash val="solid"/>
          </a:ln>
        </p:spPr>
        <p:txBody>
          <a:bodyPr/>
          <a:lstStyle/>
          <a:p>
            <a:endParaRPr lang="en-US"/>
          </a:p>
        </p:txBody>
      </p:sp>
      <p:sp>
        <p:nvSpPr>
          <p:cNvPr id="4" name="Text 2"/>
          <p:cNvSpPr/>
          <p:nvPr/>
        </p:nvSpPr>
        <p:spPr>
          <a:xfrm>
            <a:off x="365760" y="91440"/>
            <a:ext cx="8412480" cy="548640"/>
          </a:xfrm>
          <a:prstGeom prst="rect">
            <a:avLst/>
          </a:prstGeom>
          <a:noFill/>
          <a:ln/>
        </p:spPr>
        <p:txBody>
          <a:bodyPr wrap="square" lIns="0" tIns="0" rIns="0" bIns="0"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Methods &amp; Functions</a:t>
            </a:r>
            <a:endParaRPr lang="en-US" sz="2100" dirty="0"/>
          </a:p>
        </p:txBody>
      </p:sp>
      <p:sp>
        <p:nvSpPr>
          <p:cNvPr id="5" name="Text 3"/>
          <p:cNvSpPr/>
          <p:nvPr/>
        </p:nvSpPr>
        <p:spPr>
          <a:xfrm>
            <a:off x="365760" y="868680"/>
            <a:ext cx="8412480" cy="4023360"/>
          </a:xfrm>
          <a:prstGeom prst="rect">
            <a:avLst/>
          </a:prstGeom>
          <a:noFill/>
          <a:ln/>
        </p:spPr>
        <p:txBody>
          <a:bodyPr wrap="square" rtlCol="0" anchor="t"/>
          <a:lstStyle/>
          <a:p>
            <a:pPr marL="342900" indent="-342900">
              <a:buSzPct val="100000"/>
              <a:buChar char="•"/>
            </a:pPr>
            <a:r>
              <a:rPr lang="en-US" sz="1400" dirty="0">
                <a:solidFill>
                  <a:srgbClr val="B8D4E8"/>
                </a:solidFill>
                <a:latin typeface="Calibri" pitchFamily="34" charset="0"/>
                <a:ea typeface="Calibri" pitchFamily="34" charset="-122"/>
                <a:cs typeface="Calibri" pitchFamily="34" charset="-120"/>
              </a:rPr>
              <a:t>Methods are named blocks of code — they keep your program organised and reusable</a:t>
            </a:r>
            <a:endParaRPr lang="en-US" sz="1400" dirty="0"/>
          </a:p>
          <a:p>
            <a:pPr marL="342900" indent="-342900">
              <a:buSzPct val="100000"/>
              <a:buChar char="•"/>
            </a:pPr>
            <a:r>
              <a:rPr lang="en-US" sz="1400" dirty="0">
                <a:solidFill>
                  <a:srgbClr val="B8D4E8"/>
                </a:solidFill>
                <a:latin typeface="Calibri" pitchFamily="34" charset="0"/>
                <a:ea typeface="Calibri" pitchFamily="34" charset="-122"/>
                <a:cs typeface="Calibri" pitchFamily="34" charset="-120"/>
              </a:rPr>
              <a:t>Return type goes BEFORE the method name: decimal CalculateFee(int days) { return days * 0.25m; }</a:t>
            </a:r>
            <a:endParaRPr lang="en-US" sz="1400" dirty="0"/>
          </a:p>
          <a:p>
            <a:pPr marL="342900" indent="-342900">
              <a:buSzPct val="100000"/>
              <a:buChar char="•"/>
            </a:pPr>
            <a:r>
              <a:rPr lang="en-US" sz="1400" dirty="0">
                <a:solidFill>
                  <a:srgbClr val="B8D4E8"/>
                </a:solidFill>
                <a:latin typeface="Calibri" pitchFamily="34" charset="0"/>
                <a:ea typeface="Calibri" pitchFamily="34" charset="-122"/>
                <a:cs typeface="Calibri" pitchFamily="34" charset="-120"/>
              </a:rPr>
              <a:t>void means 'returns nothing': static void PrintBanner() { ... }</a:t>
            </a:r>
            <a:endParaRPr lang="en-US" sz="1400" dirty="0"/>
          </a:p>
          <a:p>
            <a:pPr marL="342900" indent="-342900">
              <a:buSzPct val="100000"/>
              <a:buChar char="•"/>
            </a:pPr>
            <a:r>
              <a:rPr lang="en-US" sz="1400" dirty="0">
                <a:solidFill>
                  <a:srgbClr val="B8D4E8"/>
                </a:solidFill>
                <a:latin typeface="Calibri" pitchFamily="34" charset="0"/>
                <a:ea typeface="Calibri" pitchFamily="34" charset="-122"/>
                <a:cs typeface="Calibri" pitchFamily="34" charset="-120"/>
              </a:rPr>
              <a:t>Optional parameters have a default: void Checkout(int days, decimal rate = 0.25m)</a:t>
            </a:r>
            <a:endParaRPr lang="en-US" sz="1400" dirty="0"/>
          </a:p>
          <a:p>
            <a:pPr marL="342900" indent="-342900">
              <a:buSzPct val="100000"/>
              <a:buChar char="•"/>
            </a:pPr>
            <a:r>
              <a:rPr lang="en-US" sz="1400" dirty="0">
                <a:solidFill>
                  <a:srgbClr val="B8D4E8"/>
                </a:solidFill>
                <a:latin typeface="Calibri" pitchFamily="34" charset="0"/>
                <a:ea typeface="Calibri" pitchFamily="34" charset="-122"/>
                <a:cs typeface="Calibri" pitchFamily="34" charset="-120"/>
              </a:rPr>
              <a:t>Named arguments at the call site: CalculateFee(days: 5, rate: 0.50m)</a:t>
            </a:r>
            <a:endParaRPr lang="en-US" sz="1400" dirty="0"/>
          </a:p>
          <a:p>
            <a:pPr marL="342900" indent="-342900">
              <a:buSzPct val="100000"/>
              <a:buChar char="•"/>
            </a:pPr>
            <a:r>
              <a:rPr lang="en-US" sz="1400" dirty="0">
                <a:solidFill>
                  <a:srgbClr val="B8D4E8"/>
                </a:solidFill>
                <a:latin typeface="Calibri" pitchFamily="34" charset="0"/>
                <a:ea typeface="Calibri" pitchFamily="34" charset="-122"/>
                <a:cs typeface="Calibri" pitchFamily="34" charset="-120"/>
              </a:rPr>
              <a:t>out parameters let you return more than one value — bool TryParse pattern</a:t>
            </a:r>
            <a:endParaRPr lang="en-US" sz="1400" dirty="0"/>
          </a:p>
          <a:p>
            <a:pPr marL="342900" indent="-342900">
              <a:buSzPct val="100000"/>
              <a:buChar char="•"/>
            </a:pPr>
            <a:r>
              <a:rPr lang="en-US" sz="1400" dirty="0">
                <a:solidFill>
                  <a:srgbClr val="B8D4E8"/>
                </a:solidFill>
                <a:latin typeface="Calibri" pitchFamily="34" charset="0"/>
                <a:ea typeface="Calibri" pitchFamily="34" charset="-122"/>
                <a:cs typeface="Calibri" pitchFamily="34" charset="-120"/>
              </a:rPr>
              <a:t>Expression-bodied shorthand: decimal Fee(int d) =&gt; d * 0.25m;</a:t>
            </a:r>
            <a:endParaRPr lang="en-US" sz="1400" dirty="0"/>
          </a:p>
        </p:txBody>
      </p:sp>
      <p:sp>
        <p:nvSpPr>
          <p:cNvPr id="6" name="Shape 4"/>
          <p:cNvSpPr/>
          <p:nvPr/>
        </p:nvSpPr>
        <p:spPr>
          <a:xfrm>
            <a:off x="7498080" y="137160"/>
            <a:ext cx="1463040" cy="420624"/>
          </a:xfrm>
          <a:prstGeom prst="rect">
            <a:avLst/>
          </a:prstGeom>
          <a:solidFill>
            <a:srgbClr val="F59E0B"/>
          </a:solidFill>
          <a:ln w="12700">
            <a:solidFill>
              <a:srgbClr val="F59E0B"/>
            </a:solidFill>
            <a:prstDash val="solid"/>
          </a:ln>
        </p:spPr>
        <p:txBody>
          <a:bodyPr/>
          <a:lstStyle/>
          <a:p>
            <a:endParaRPr lang="en-US"/>
          </a:p>
        </p:txBody>
      </p:sp>
      <p:sp>
        <p:nvSpPr>
          <p:cNvPr id="7" name="Text 5"/>
          <p:cNvSpPr/>
          <p:nvPr/>
        </p:nvSpPr>
        <p:spPr>
          <a:xfrm>
            <a:off x="7498080" y="118872"/>
            <a:ext cx="1463040" cy="457200"/>
          </a:xfrm>
          <a:prstGeom prst="rect">
            <a:avLst/>
          </a:prstGeom>
          <a:noFill/>
          <a:ln/>
        </p:spPr>
        <p:txBody>
          <a:bodyPr wrap="square" lIns="0" tIns="0" rIns="0" bIns="0" rtlCol="0" anchor="ctr"/>
          <a:lstStyle/>
          <a:p>
            <a:pPr marL="0" indent="0" algn="ctr">
              <a:buNone/>
            </a:pPr>
            <a:r>
              <a:rPr lang="en-US" sz="1100" b="1" dirty="0">
                <a:solidFill>
                  <a:srgbClr val="0A1628"/>
                </a:solidFill>
                <a:latin typeface="Calibri" pitchFamily="34" charset="0"/>
                <a:ea typeface="Calibri" pitchFamily="34" charset="-122"/>
                <a:cs typeface="Calibri" pitchFamily="34" charset="-120"/>
              </a:rPr>
              <a:t>⏱ 9:25 – 9:35</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1">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0D1520"/>
          </a:solidFill>
          <a:ln w="12700">
            <a:solidFill>
              <a:srgbClr val="0D1520"/>
            </a:solidFill>
            <a:prstDash val="solid"/>
          </a:ln>
        </p:spPr>
        <p:txBody>
          <a:bodyPr/>
          <a:lstStyle/>
          <a:p>
            <a:endParaRPr lang="en-US"/>
          </a:p>
        </p:txBody>
      </p:sp>
      <p:sp>
        <p:nvSpPr>
          <p:cNvPr id="3" name="Shape 1"/>
          <p:cNvSpPr/>
          <p:nvPr/>
        </p:nvSpPr>
        <p:spPr>
          <a:xfrm>
            <a:off x="0" y="621792"/>
            <a:ext cx="9144000" cy="36576"/>
          </a:xfrm>
          <a:prstGeom prst="rect">
            <a:avLst/>
          </a:prstGeom>
          <a:solidFill>
            <a:srgbClr val="00C2CB"/>
          </a:solidFill>
          <a:ln w="12700">
            <a:solidFill>
              <a:srgbClr val="00C2CB"/>
            </a:solidFill>
            <a:prstDash val="solid"/>
          </a:ln>
        </p:spPr>
        <p:txBody>
          <a:bodyPr/>
          <a:lstStyle/>
          <a:p>
            <a:endParaRPr lang="en-US"/>
          </a:p>
        </p:txBody>
      </p:sp>
      <p:sp>
        <p:nvSpPr>
          <p:cNvPr id="4" name="Text 2"/>
          <p:cNvSpPr/>
          <p:nvPr/>
        </p:nvSpPr>
        <p:spPr>
          <a:xfrm>
            <a:off x="320040" y="64008"/>
            <a:ext cx="8503920" cy="502920"/>
          </a:xfrm>
          <a:prstGeom prst="rect">
            <a:avLst/>
          </a:prstGeom>
          <a:noFill/>
          <a:ln/>
        </p:spPr>
        <p:txBody>
          <a:bodyPr wrap="square" lIns="0" tIns="0" rIns="0" bIns="0" rtlCol="0" anchor="ctr"/>
          <a:lstStyle/>
          <a:p>
            <a:pPr marL="0" indent="0">
              <a:buNone/>
            </a:pPr>
            <a:r>
              <a:rPr lang="en-US" sz="1700" b="1" dirty="0">
                <a:solidFill>
                  <a:srgbClr val="00C2CB"/>
                </a:solidFill>
                <a:latin typeface="Calibri" pitchFamily="34" charset="0"/>
                <a:ea typeface="Calibri" pitchFamily="34" charset="-122"/>
                <a:cs typeface="Calibri" pitchFamily="34" charset="-120"/>
              </a:rPr>
              <a:t>⌨  Methods — Live Demo</a:t>
            </a:r>
            <a:endParaRPr lang="en-US" sz="1700" dirty="0"/>
          </a:p>
        </p:txBody>
      </p:sp>
      <p:sp>
        <p:nvSpPr>
          <p:cNvPr id="5" name="Text 3"/>
          <p:cNvSpPr/>
          <p:nvPr/>
        </p:nvSpPr>
        <p:spPr>
          <a:xfrm>
            <a:off x="274320" y="713232"/>
            <a:ext cx="8595360" cy="4343400"/>
          </a:xfrm>
          <a:prstGeom prst="rect">
            <a:avLst/>
          </a:prstGeom>
          <a:noFill/>
          <a:ln/>
        </p:spPr>
        <p:txBody>
          <a:bodyPr wrap="square" lIns="0" tIns="0" rIns="0" bIns="0" rtlCol="0" anchor="t"/>
          <a:lstStyle/>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 Basic method with return value</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static decimal CalculateFee(int daysLate, decimal dailyRate = 0.25m) {</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    if (daysLate &lt;= 0) return 0m;</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    return Math.Min(daysLate * dailyRate, 10.00m); // capped at $10</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a:t>
            </a:r>
            <a:endParaRPr lang="en-US" sz="1200" dirty="0"/>
          </a:p>
          <a:p>
            <a:pPr marL="0" indent="0">
              <a:lnSpc>
                <a:spcPct val="120000"/>
              </a:lnSpc>
              <a:buNone/>
            </a:pP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 Expression-bodied (one-liner)</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static string Status(bool isOut) =&gt; isOut ? "Checked out" : "Available";</a:t>
            </a:r>
            <a:endParaRPr lang="en-US" sz="1200" dirty="0"/>
          </a:p>
          <a:p>
            <a:pPr marL="0" indent="0">
              <a:lnSpc>
                <a:spcPct val="120000"/>
              </a:lnSpc>
              <a:buNone/>
            </a:pP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 out parameter — return two things at once</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static bool TryCheckout(string[] titles, int index, out string msg) {</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    if (index &lt; 0 || index &gt;= titles.Length) {</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        msg = "Invalid book number.";</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        return false;</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    }</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    msg = $"'{titles[index]}' checked out!";</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    return true;</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a:t>
            </a:r>
            <a:endParaRPr lang="en-US" sz="1200" dirty="0"/>
          </a:p>
          <a:p>
            <a:pPr marL="0" indent="0">
              <a:lnSpc>
                <a:spcPct val="120000"/>
              </a:lnSpc>
              <a:buNone/>
            </a:pP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 Usage</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Console.WriteLine(CalculateFee(daysLate: 8));          // $2.00</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if (TryCheckout(titles, 0, out string m)) Console.WriteLine(m);</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2">
    <p:bg>
      <p:bgPr>
        <a:solidFill>
          <a:srgbClr val="0F2040"/>
        </a:solidFill>
        <a:effectLst/>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1A3A60"/>
          </a:solidFill>
          <a:ln w="12700">
            <a:solidFill>
              <a:srgbClr val="1A3A60"/>
            </a:solidFill>
            <a:prstDash val="solid"/>
          </a:ln>
        </p:spPr>
        <p:txBody>
          <a:bodyPr/>
          <a:lstStyle/>
          <a:p>
            <a:endParaRPr lang="en-US"/>
          </a:p>
        </p:txBody>
      </p:sp>
      <p:sp>
        <p:nvSpPr>
          <p:cNvPr id="3" name="Shape 1"/>
          <p:cNvSpPr/>
          <p:nvPr/>
        </p:nvSpPr>
        <p:spPr>
          <a:xfrm>
            <a:off x="0" y="713232"/>
            <a:ext cx="9144000" cy="45720"/>
          </a:xfrm>
          <a:prstGeom prst="rect">
            <a:avLst/>
          </a:prstGeom>
          <a:solidFill>
            <a:srgbClr val="F59E0B"/>
          </a:solidFill>
          <a:ln w="12700">
            <a:solidFill>
              <a:srgbClr val="F59E0B"/>
            </a:solidFill>
            <a:prstDash val="solid"/>
          </a:ln>
        </p:spPr>
        <p:txBody>
          <a:bodyPr/>
          <a:lstStyle/>
          <a:p>
            <a:endParaRPr lang="en-US"/>
          </a:p>
        </p:txBody>
      </p:sp>
      <p:sp>
        <p:nvSpPr>
          <p:cNvPr id="4" name="Text 2"/>
          <p:cNvSpPr/>
          <p:nvPr/>
        </p:nvSpPr>
        <p:spPr>
          <a:xfrm>
            <a:off x="365760" y="91440"/>
            <a:ext cx="6858000" cy="530352"/>
          </a:xfrm>
          <a:prstGeom prst="rect">
            <a:avLst/>
          </a:prstGeom>
          <a:noFill/>
          <a:ln/>
        </p:spPr>
        <p:txBody>
          <a:bodyPr wrap="square" lIns="0" tIns="0" rIns="0" bIns="0" rtlCol="0" anchor="ctr"/>
          <a:lstStyle/>
          <a:p>
            <a:pPr marL="0" indent="0">
              <a:buNone/>
            </a:pPr>
            <a:r>
              <a:rPr lang="en-US" sz="1900" b="1" dirty="0">
                <a:solidFill>
                  <a:srgbClr val="F59E0B"/>
                </a:solidFill>
                <a:latin typeface="Calibri" pitchFamily="34" charset="0"/>
                <a:ea typeface="Calibri" pitchFamily="34" charset="-122"/>
                <a:cs typeface="Calibri" pitchFamily="34" charset="-120"/>
              </a:rPr>
              <a:t>🧪  LAB 2  ·  Data Types, Control Flow &amp; Methods</a:t>
            </a:r>
            <a:endParaRPr lang="en-US" sz="1900" dirty="0"/>
          </a:p>
        </p:txBody>
      </p:sp>
      <p:sp>
        <p:nvSpPr>
          <p:cNvPr id="5" name="Text 3"/>
          <p:cNvSpPr/>
          <p:nvPr/>
        </p:nvSpPr>
        <p:spPr>
          <a:xfrm>
            <a:off x="7315200" y="164592"/>
            <a:ext cx="1645920" cy="365760"/>
          </a:xfrm>
          <a:prstGeom prst="rect">
            <a:avLst/>
          </a:prstGeom>
          <a:noFill/>
          <a:ln/>
        </p:spPr>
        <p:txBody>
          <a:bodyPr wrap="square" lIns="0" tIns="0" rIns="0" bIns="0" rtlCol="0" anchor="ctr"/>
          <a:lstStyle/>
          <a:p>
            <a:pPr marL="0" indent="0" algn="r">
              <a:buNone/>
            </a:pPr>
            <a:r>
              <a:rPr lang="en-US" sz="1300" dirty="0">
                <a:solidFill>
                  <a:srgbClr val="B8D4E8"/>
                </a:solidFill>
                <a:latin typeface="Calibri" pitchFamily="34" charset="0"/>
                <a:ea typeface="Calibri" pitchFamily="34" charset="-122"/>
                <a:cs typeface="Calibri" pitchFamily="34" charset="-120"/>
              </a:rPr>
              <a:t>⏱ 20 min</a:t>
            </a:r>
            <a:endParaRPr lang="en-US" sz="1300" dirty="0"/>
          </a:p>
        </p:txBody>
      </p:sp>
      <p:sp>
        <p:nvSpPr>
          <p:cNvPr id="6" name="Text 4"/>
          <p:cNvSpPr/>
          <p:nvPr/>
        </p:nvSpPr>
        <p:spPr>
          <a:xfrm>
            <a:off x="365760" y="841248"/>
            <a:ext cx="4114800" cy="329184"/>
          </a:xfrm>
          <a:prstGeom prst="rect">
            <a:avLst/>
          </a:prstGeom>
          <a:noFill/>
          <a:ln/>
        </p:spPr>
        <p:txBody>
          <a:bodyPr wrap="square" lIns="0" tIns="0" rIns="0" bIns="0" rtlCol="0" anchor="ctr"/>
          <a:lstStyle/>
          <a:p>
            <a:pPr marL="0" indent="0">
              <a:buNone/>
            </a:pPr>
            <a:r>
              <a:rPr lang="en-US" sz="1300" b="1" dirty="0">
                <a:solidFill>
                  <a:srgbClr val="F59E0B"/>
                </a:solidFill>
                <a:latin typeface="Calibri" pitchFamily="34" charset="0"/>
                <a:ea typeface="Calibri" pitchFamily="34" charset="-122"/>
                <a:cs typeface="Calibri" pitchFamily="34" charset="-120"/>
              </a:rPr>
              <a:t>You will:</a:t>
            </a:r>
            <a:endParaRPr lang="en-US" sz="1300" dirty="0"/>
          </a:p>
        </p:txBody>
      </p:sp>
      <p:sp>
        <p:nvSpPr>
          <p:cNvPr id="7" name="Text 5"/>
          <p:cNvSpPr/>
          <p:nvPr/>
        </p:nvSpPr>
        <p:spPr>
          <a:xfrm>
            <a:off x="365760" y="1188720"/>
            <a:ext cx="4114800" cy="2560320"/>
          </a:xfrm>
          <a:prstGeom prst="rect">
            <a:avLst/>
          </a:prstGeom>
          <a:noFill/>
          <a:ln/>
        </p:spPr>
        <p:txBody>
          <a:bodyPr wrap="square" rtlCol="0" anchor="t"/>
          <a:lstStyle/>
          <a:p>
            <a:pPr marL="342900" indent="-342900">
              <a:buSzPct val="100000"/>
              <a:buChar char="•"/>
            </a:pPr>
            <a:r>
              <a:rPr lang="en-US" sz="1300" dirty="0">
                <a:solidFill>
                  <a:srgbClr val="B8D4E8"/>
                </a:solidFill>
                <a:latin typeface="Calibri" pitchFamily="34" charset="0"/>
                <a:ea typeface="Calibri" pitchFamily="34" charset="-122"/>
                <a:cs typeface="Calibri" pitchFamily="34" charset="-120"/>
              </a:rPr>
              <a:t>Declare and use value and reference types</a:t>
            </a:r>
            <a:endParaRPr lang="en-US" sz="1300" dirty="0"/>
          </a:p>
          <a:p>
            <a:pPr marL="342900" indent="-342900">
              <a:buSzPct val="100000"/>
              <a:buChar char="•"/>
            </a:pPr>
            <a:r>
              <a:rPr lang="en-US" sz="1300" dirty="0">
                <a:solidFill>
                  <a:srgbClr val="B8D4E8"/>
                </a:solidFill>
                <a:latin typeface="Calibri" pitchFamily="34" charset="0"/>
                <a:ea typeface="Calibri" pitchFamily="34" charset="-122"/>
                <a:cs typeface="Calibri" pitchFamily="34" charset="-120"/>
              </a:rPr>
              <a:t>Write if/switch/loop logic</a:t>
            </a:r>
            <a:endParaRPr lang="en-US" sz="1300" dirty="0"/>
          </a:p>
          <a:p>
            <a:pPr marL="342900" indent="-342900">
              <a:buSzPct val="100000"/>
              <a:buChar char="•"/>
            </a:pPr>
            <a:r>
              <a:rPr lang="en-US" sz="1300" dirty="0">
                <a:solidFill>
                  <a:srgbClr val="B8D4E8"/>
                </a:solidFill>
                <a:latin typeface="Calibri" pitchFamily="34" charset="0"/>
                <a:ea typeface="Calibri" pitchFamily="34" charset="-122"/>
                <a:cs typeface="Calibri" pitchFamily="34" charset="-120"/>
              </a:rPr>
              <a:t>Extract reusable methods with parameters</a:t>
            </a:r>
            <a:endParaRPr lang="en-US" sz="1300" dirty="0"/>
          </a:p>
          <a:p>
            <a:pPr marL="342900" indent="-342900">
              <a:buSzPct val="100000"/>
              <a:buChar char="•"/>
            </a:pPr>
            <a:r>
              <a:rPr lang="en-US" sz="1300" dirty="0">
                <a:solidFill>
                  <a:srgbClr val="B8D4E8"/>
                </a:solidFill>
                <a:latin typeface="Calibri" pitchFamily="34" charset="0"/>
                <a:ea typeface="Calibri" pitchFamily="34" charset="-122"/>
                <a:cs typeface="Calibri" pitchFamily="34" charset="-120"/>
              </a:rPr>
              <a:t>Build a simple book-tracking menu</a:t>
            </a:r>
            <a:endParaRPr lang="en-US" sz="1300" dirty="0"/>
          </a:p>
        </p:txBody>
      </p:sp>
      <p:sp>
        <p:nvSpPr>
          <p:cNvPr id="8" name="Shape 6"/>
          <p:cNvSpPr/>
          <p:nvPr/>
        </p:nvSpPr>
        <p:spPr>
          <a:xfrm>
            <a:off x="4617720" y="841248"/>
            <a:ext cx="18288" cy="3200400"/>
          </a:xfrm>
          <a:prstGeom prst="rect">
            <a:avLst/>
          </a:prstGeom>
          <a:solidFill>
            <a:srgbClr val="F59E0B">
              <a:alpha val="30000"/>
            </a:srgbClr>
          </a:solidFill>
          <a:ln w="12700">
            <a:solidFill>
              <a:srgbClr val="F59E0B">
                <a:alpha val="30000"/>
              </a:srgbClr>
            </a:solidFill>
            <a:prstDash val="solid"/>
          </a:ln>
        </p:spPr>
        <p:txBody>
          <a:bodyPr/>
          <a:lstStyle/>
          <a:p>
            <a:endParaRPr lang="en-US"/>
          </a:p>
        </p:txBody>
      </p:sp>
      <p:sp>
        <p:nvSpPr>
          <p:cNvPr id="9" name="Text 7"/>
          <p:cNvSpPr/>
          <p:nvPr/>
        </p:nvSpPr>
        <p:spPr>
          <a:xfrm>
            <a:off x="4754880" y="841248"/>
            <a:ext cx="4114800" cy="329184"/>
          </a:xfrm>
          <a:prstGeom prst="rect">
            <a:avLst/>
          </a:prstGeom>
          <a:noFill/>
          <a:ln/>
        </p:spPr>
        <p:txBody>
          <a:bodyPr wrap="square" lIns="0" tIns="0" rIns="0" bIns="0" rtlCol="0" anchor="ctr"/>
          <a:lstStyle/>
          <a:p>
            <a:pPr marL="0" indent="0">
              <a:buNone/>
            </a:pPr>
            <a:r>
              <a:rPr lang="en-US" sz="1300" b="1" dirty="0">
                <a:solidFill>
                  <a:srgbClr val="F59E0B"/>
                </a:solidFill>
                <a:latin typeface="Calibri" pitchFamily="34" charset="0"/>
                <a:ea typeface="Calibri" pitchFamily="34" charset="-122"/>
                <a:cs typeface="Calibri" pitchFamily="34" charset="-120"/>
              </a:rPr>
              <a:t>Steps:</a:t>
            </a:r>
            <a:endParaRPr lang="en-US" sz="1300" dirty="0"/>
          </a:p>
        </p:txBody>
      </p:sp>
      <p:sp>
        <p:nvSpPr>
          <p:cNvPr id="10" name="Text 8"/>
          <p:cNvSpPr/>
          <p:nvPr/>
        </p:nvSpPr>
        <p:spPr>
          <a:xfrm>
            <a:off x="4754880" y="1188720"/>
            <a:ext cx="4114800" cy="2560320"/>
          </a:xfrm>
          <a:prstGeom prst="rect">
            <a:avLst/>
          </a:prstGeom>
          <a:noFill/>
          <a:ln/>
        </p:spPr>
        <p:txBody>
          <a:bodyPr wrap="square" rtlCol="0" anchor="t"/>
          <a:lstStyle/>
          <a:p>
            <a:pPr marL="342900" indent="-342900">
              <a:buSzPct val="100000"/>
              <a:buChar char="•"/>
            </a:pPr>
            <a:r>
              <a:rPr lang="en-US" sz="1300" dirty="0">
                <a:solidFill>
                  <a:srgbClr val="B8D4E8"/>
                </a:solidFill>
                <a:latin typeface="Calibri" pitchFamily="34" charset="0"/>
                <a:ea typeface="Calibri" pitchFamily="34" charset="-122"/>
                <a:cs typeface="Calibri" pitchFamily="34" charset="-120"/>
              </a:rPr>
              <a:t>Create BookTracker console app</a:t>
            </a:r>
            <a:endParaRPr lang="en-US" sz="1300" dirty="0"/>
          </a:p>
          <a:p>
            <a:pPr marL="342900" indent="-342900">
              <a:buSzPct val="100000"/>
              <a:buChar char="•"/>
            </a:pPr>
            <a:r>
              <a:rPr lang="en-US" sz="1300" dirty="0">
                <a:solidFill>
                  <a:srgbClr val="B8D4E8"/>
                </a:solidFill>
                <a:latin typeface="Calibri" pitchFamily="34" charset="0"/>
                <a:ea typeface="Calibri" pitchFamily="34" charset="-122"/>
                <a:cs typeface="Calibri" pitchFamily="34" charset="-120"/>
              </a:rPr>
              <a:t>Declare variables for 3 books (title, author, isAvailable)</a:t>
            </a:r>
            <a:endParaRPr lang="en-US" sz="1300" dirty="0"/>
          </a:p>
          <a:p>
            <a:pPr marL="342900" indent="-342900">
              <a:buSzPct val="100000"/>
              <a:buChar char="•"/>
            </a:pPr>
            <a:r>
              <a:rPr lang="en-US" sz="1300" dirty="0">
                <a:solidFill>
                  <a:srgbClr val="B8D4E8"/>
                </a:solidFill>
                <a:latin typeface="Calibri" pitchFamily="34" charset="0"/>
                <a:ea typeface="Calibri" pitchFamily="34" charset="-122"/>
                <a:cs typeface="Calibri" pitchFamily="34" charset="-120"/>
              </a:rPr>
              <a:t>Write a while-loop menu: List / Checkout / Return / Exit</a:t>
            </a:r>
            <a:endParaRPr lang="en-US" sz="1300" dirty="0"/>
          </a:p>
          <a:p>
            <a:pPr marL="342900" indent="-342900">
              <a:buSzPct val="100000"/>
              <a:buChar char="•"/>
            </a:pPr>
            <a:r>
              <a:rPr lang="en-US" sz="1300" dirty="0">
                <a:solidFill>
                  <a:srgbClr val="B8D4E8"/>
                </a:solidFill>
                <a:latin typeface="Calibri" pitchFamily="34" charset="0"/>
                <a:ea typeface="Calibri" pitchFamily="34" charset="-122"/>
                <a:cs typeface="Calibri" pitchFamily="34" charset="-120"/>
              </a:rPr>
              <a:t>Validate input with int.TryParse</a:t>
            </a:r>
            <a:endParaRPr lang="en-US" sz="1300" dirty="0"/>
          </a:p>
          <a:p>
            <a:pPr marL="342900" indent="-342900">
              <a:buSzPct val="100000"/>
              <a:buChar char="•"/>
            </a:pPr>
            <a:r>
              <a:rPr lang="en-US" sz="1300" dirty="0">
                <a:solidFill>
                  <a:srgbClr val="B8D4E8"/>
                </a:solidFill>
                <a:latin typeface="Calibri" pitchFamily="34" charset="0"/>
                <a:ea typeface="Calibri" pitchFamily="34" charset="-122"/>
                <a:cs typeface="Calibri" pitchFamily="34" charset="-120"/>
              </a:rPr>
              <a:t>Extract ListBooks() and Checkout() as separate methods</a:t>
            </a:r>
            <a:endParaRPr lang="en-US" sz="1300" dirty="0"/>
          </a:p>
          <a:p>
            <a:pPr marL="342900" indent="-342900">
              <a:buSzPct val="100000"/>
              <a:buChar char="•"/>
            </a:pPr>
            <a:r>
              <a:rPr lang="en-US" sz="1300" dirty="0">
                <a:solidFill>
                  <a:srgbClr val="B8D4E8"/>
                </a:solidFill>
                <a:latin typeface="Calibri" pitchFamily="34" charset="0"/>
                <a:ea typeface="Calibri" pitchFamily="34" charset="-122"/>
                <a:cs typeface="Calibri" pitchFamily="34" charset="-120"/>
              </a:rPr>
              <a:t>🌶 Add CalculateFee(int daysLate) and show it on return</a:t>
            </a:r>
            <a:endParaRPr lang="en-US" sz="1300" dirty="0"/>
          </a:p>
        </p:txBody>
      </p:sp>
      <p:sp>
        <p:nvSpPr>
          <p:cNvPr id="11" name="Shape 9"/>
          <p:cNvSpPr/>
          <p:nvPr/>
        </p:nvSpPr>
        <p:spPr>
          <a:xfrm>
            <a:off x="274320" y="4023360"/>
            <a:ext cx="8595360" cy="685800"/>
          </a:xfrm>
          <a:prstGeom prst="rect">
            <a:avLst/>
          </a:prstGeom>
          <a:solidFill>
            <a:srgbClr val="0A2040"/>
          </a:solidFill>
          <a:ln w="12700">
            <a:solidFill>
              <a:srgbClr val="00C2CB">
                <a:alpha val="50000"/>
              </a:srgbClr>
            </a:solidFill>
            <a:prstDash val="solid"/>
          </a:ln>
          <a:effectLst>
            <a:outerShdw blurRad="63500" dist="25400" dir="8100000" algn="bl" rotWithShape="0">
              <a:srgbClr val="000000">
                <a:alpha val="18000"/>
              </a:srgbClr>
            </a:outerShdw>
          </a:effectLst>
        </p:spPr>
        <p:txBody>
          <a:bodyPr/>
          <a:lstStyle/>
          <a:p>
            <a:endParaRPr lang="en-US"/>
          </a:p>
        </p:txBody>
      </p:sp>
      <p:sp>
        <p:nvSpPr>
          <p:cNvPr id="12" name="Text 10"/>
          <p:cNvSpPr/>
          <p:nvPr/>
        </p:nvSpPr>
        <p:spPr>
          <a:xfrm>
            <a:off x="457200" y="4096512"/>
            <a:ext cx="8229600" cy="502920"/>
          </a:xfrm>
          <a:prstGeom prst="rect">
            <a:avLst/>
          </a:prstGeom>
          <a:noFill/>
          <a:ln/>
        </p:spPr>
        <p:txBody>
          <a:bodyPr wrap="square" lIns="0" tIns="0" rIns="0" bIns="0" rtlCol="0" anchor="ctr"/>
          <a:lstStyle/>
          <a:p>
            <a:pPr marL="0" indent="0">
              <a:buNone/>
            </a:pPr>
            <a:r>
              <a:rPr lang="en-US" sz="1150" i="1" dirty="0">
                <a:solidFill>
                  <a:srgbClr val="B8D4E8"/>
                </a:solidFill>
                <a:latin typeface="Calibri" pitchFamily="34" charset="0"/>
                <a:ea typeface="Calibri" pitchFamily="34" charset="-122"/>
                <a:cs typeface="Calibri" pitchFamily="34" charset="-120"/>
              </a:rPr>
              <a:t>💡 Instructor tip: Circulate through breakout rooms. Most students get stuck on the while loop structure — show the pattern once centrally before they start.</a:t>
            </a:r>
            <a:endParaRPr lang="en-US" sz="11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3">
    <p:bg>
      <p:bgPr>
        <a:solidFill>
          <a:srgbClr val="0F2040"/>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0C2CB"/>
          </a:solidFill>
          <a:ln w="12700">
            <a:solidFill>
              <a:srgbClr val="00C2CB"/>
            </a:solidFill>
            <a:prstDash val="solid"/>
          </a:ln>
        </p:spPr>
        <p:txBody>
          <a:bodyPr/>
          <a:lstStyle/>
          <a:p>
            <a:endParaRPr lang="en-US"/>
          </a:p>
        </p:txBody>
      </p:sp>
      <p:sp>
        <p:nvSpPr>
          <p:cNvPr id="3" name="Text 1"/>
          <p:cNvSpPr/>
          <p:nvPr/>
        </p:nvSpPr>
        <p:spPr>
          <a:xfrm>
            <a:off x="457200" y="73152"/>
            <a:ext cx="2743200" cy="411480"/>
          </a:xfrm>
          <a:prstGeom prst="rect">
            <a:avLst/>
          </a:prstGeom>
          <a:noFill/>
          <a:ln/>
        </p:spPr>
        <p:txBody>
          <a:bodyPr wrap="square" lIns="0" tIns="0" rIns="0" bIns="0" rtlCol="0" anchor="ctr"/>
          <a:lstStyle/>
          <a:p>
            <a:pPr marL="0" indent="0">
              <a:buNone/>
            </a:pPr>
            <a:r>
              <a:rPr lang="en-US" sz="1300" b="1" dirty="0">
                <a:solidFill>
                  <a:srgbClr val="0A1628"/>
                </a:solidFill>
                <a:latin typeface="Calibri" pitchFamily="34" charset="0"/>
                <a:ea typeface="Calibri" pitchFamily="34" charset="-122"/>
                <a:cs typeface="Calibri" pitchFamily="34" charset="-120"/>
              </a:rPr>
              <a:t>SECTION 3</a:t>
            </a:r>
            <a:endParaRPr lang="en-US" sz="1300" dirty="0"/>
          </a:p>
        </p:txBody>
      </p:sp>
      <p:sp>
        <p:nvSpPr>
          <p:cNvPr id="4" name="Text 2"/>
          <p:cNvSpPr/>
          <p:nvPr/>
        </p:nvSpPr>
        <p:spPr>
          <a:xfrm>
            <a:off x="6858000" y="73152"/>
            <a:ext cx="1828800" cy="411480"/>
          </a:xfrm>
          <a:prstGeom prst="rect">
            <a:avLst/>
          </a:prstGeom>
          <a:noFill/>
          <a:ln/>
        </p:spPr>
        <p:txBody>
          <a:bodyPr wrap="square" lIns="0" tIns="0" rIns="0" bIns="0" rtlCol="0" anchor="ctr"/>
          <a:lstStyle/>
          <a:p>
            <a:pPr marL="0" indent="0" algn="r">
              <a:buNone/>
            </a:pPr>
            <a:r>
              <a:rPr lang="en-US" sz="1200" dirty="0">
                <a:solidFill>
                  <a:srgbClr val="0A1628"/>
                </a:solidFill>
                <a:latin typeface="Calibri" pitchFamily="34" charset="0"/>
                <a:ea typeface="Calibri" pitchFamily="34" charset="-122"/>
                <a:cs typeface="Calibri" pitchFamily="34" charset="-120"/>
              </a:rPr>
              <a:t>10:00 – 10:40  (40 min)</a:t>
            </a:r>
            <a:endParaRPr lang="en-US" sz="1200" dirty="0"/>
          </a:p>
        </p:txBody>
      </p:sp>
      <p:sp>
        <p:nvSpPr>
          <p:cNvPr id="5" name="Text 3"/>
          <p:cNvSpPr/>
          <p:nvPr/>
        </p:nvSpPr>
        <p:spPr>
          <a:xfrm>
            <a:off x="457200" y="502920"/>
            <a:ext cx="8229600" cy="502920"/>
          </a:xfrm>
          <a:prstGeom prst="rect">
            <a:avLst/>
          </a:prstGeom>
          <a:noFill/>
          <a:ln/>
        </p:spPr>
        <p:txBody>
          <a:bodyPr wrap="square" lIns="0" tIns="0" rIns="0" bIns="0" rtlCol="0" anchor="ctr"/>
          <a:lstStyle/>
          <a:p>
            <a:pPr marL="0" indent="0">
              <a:buNone/>
            </a:pPr>
            <a:r>
              <a:rPr lang="en-US" sz="2400" b="1" dirty="0">
                <a:solidFill>
                  <a:srgbClr val="0A1628"/>
                </a:solidFill>
                <a:latin typeface="Calibri" pitchFamily="34" charset="0"/>
                <a:ea typeface="Calibri" pitchFamily="34" charset="-122"/>
                <a:cs typeface="Calibri" pitchFamily="34" charset="-120"/>
              </a:rPr>
              <a:t>Classes, Objects &amp; Inheritance</a:t>
            </a:r>
            <a:endParaRPr lang="en-US" sz="2400" dirty="0"/>
          </a:p>
        </p:txBody>
      </p:sp>
      <p:sp>
        <p:nvSpPr>
          <p:cNvPr id="6" name="Text 4"/>
          <p:cNvSpPr/>
          <p:nvPr/>
        </p:nvSpPr>
        <p:spPr>
          <a:xfrm>
            <a:off x="457200" y="1234440"/>
            <a:ext cx="8229600" cy="3657600"/>
          </a:xfrm>
          <a:prstGeom prst="rect">
            <a:avLst/>
          </a:prstGeom>
          <a:noFill/>
          <a:ln/>
        </p:spPr>
        <p:txBody>
          <a:bodyPr wrap="square" rtlCol="0" anchor="t"/>
          <a:lstStyle/>
          <a:p>
            <a:pPr marL="342900" indent="-342900">
              <a:buSzPct val="100000"/>
              <a:buChar char="•"/>
            </a:pPr>
            <a:r>
              <a:rPr lang="en-US" sz="1400" dirty="0">
                <a:solidFill>
                  <a:srgbClr val="B8D4E8"/>
                </a:solidFill>
                <a:latin typeface="Calibri" pitchFamily="34" charset="0"/>
                <a:ea typeface="Calibri" pitchFamily="34" charset="-122"/>
                <a:cs typeface="Calibri" pitchFamily="34" charset="-120"/>
              </a:rPr>
              <a:t>Defining classes with properties and constructors</a:t>
            </a:r>
            <a:endParaRPr lang="en-US" sz="1400" dirty="0"/>
          </a:p>
          <a:p>
            <a:pPr marL="342900" indent="-342900">
              <a:buSzPct val="100000"/>
              <a:buChar char="•"/>
            </a:pPr>
            <a:r>
              <a:rPr lang="en-US" sz="1400" dirty="0">
                <a:solidFill>
                  <a:srgbClr val="B8D4E8"/>
                </a:solidFill>
                <a:latin typeface="Calibri" pitchFamily="34" charset="0"/>
                <a:ea typeface="Calibri" pitchFamily="34" charset="-122"/>
                <a:cs typeface="Calibri" pitchFamily="34" charset="-120"/>
              </a:rPr>
              <a:t>Encapsulation: private set and method-enforced rules</a:t>
            </a:r>
            <a:endParaRPr lang="en-US" sz="1400" dirty="0"/>
          </a:p>
          <a:p>
            <a:pPr marL="342900" indent="-342900">
              <a:buSzPct val="100000"/>
              <a:buChar char="•"/>
            </a:pPr>
            <a:r>
              <a:rPr lang="en-US" sz="1400" dirty="0">
                <a:solidFill>
                  <a:srgbClr val="B8D4E8"/>
                </a:solidFill>
                <a:latin typeface="Calibri" pitchFamily="34" charset="0"/>
                <a:ea typeface="Calibri" pitchFamily="34" charset="-122"/>
                <a:cs typeface="Calibri" pitchFamily="34" charset="-120"/>
              </a:rPr>
              <a:t>Inheritance: base and derived classes</a:t>
            </a:r>
            <a:endParaRPr lang="en-US" sz="1400" dirty="0"/>
          </a:p>
          <a:p>
            <a:pPr marL="342900" indent="-342900">
              <a:buSzPct val="100000"/>
              <a:buChar char="•"/>
            </a:pPr>
            <a:r>
              <a:rPr lang="en-US" sz="1400" dirty="0">
                <a:solidFill>
                  <a:srgbClr val="B8D4E8"/>
                </a:solidFill>
                <a:latin typeface="Calibri" pitchFamily="34" charset="0"/>
                <a:ea typeface="Calibri" pitchFamily="34" charset="-122"/>
                <a:cs typeface="Calibri" pitchFamily="34" charset="-120"/>
              </a:rPr>
              <a:t>Polymorphism: virtual / override — one loop, many behaviours</a:t>
            </a:r>
            <a:endParaRPr lang="en-US" sz="1400" dirty="0"/>
          </a:p>
          <a:p>
            <a:pPr marL="342900" indent="-342900">
              <a:buSzPct val="100000"/>
              <a:buChar char="•"/>
            </a:pPr>
            <a:r>
              <a:rPr lang="en-US" sz="1400" dirty="0">
                <a:solidFill>
                  <a:srgbClr val="B8D4E8"/>
                </a:solidFill>
                <a:latin typeface="Calibri" pitchFamily="34" charset="0"/>
                <a:ea typeface="Calibri" pitchFamily="34" charset="-122"/>
                <a:cs typeface="Calibri" pitchFamily="34" charset="-120"/>
              </a:rPr>
              <a:t>Abstract classes and abstract members</a:t>
            </a:r>
            <a:endParaRPr lang="en-US" sz="1400" dirty="0"/>
          </a:p>
          <a:p>
            <a:pPr marL="342900" indent="-342900">
              <a:buSzPct val="100000"/>
              <a:buChar char="•"/>
            </a:pPr>
            <a:r>
              <a:rPr lang="en-US" sz="1400" dirty="0">
                <a:solidFill>
                  <a:srgbClr val="B8D4E8"/>
                </a:solidFill>
                <a:latin typeface="Calibri" pitchFamily="34" charset="0"/>
                <a:ea typeface="Calibri" pitchFamily="34" charset="-122"/>
                <a:cs typeface="Calibri" pitchFamily="34" charset="-120"/>
              </a:rPr>
              <a:t>Records — value-equality types for immutable data</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4">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142952"/>
          </a:solidFill>
          <a:ln w="12700">
            <a:solidFill>
              <a:srgbClr val="142952"/>
            </a:solidFill>
            <a:prstDash val="solid"/>
          </a:ln>
        </p:spPr>
        <p:txBody>
          <a:bodyPr/>
          <a:lstStyle/>
          <a:p>
            <a:endParaRPr lang="en-US"/>
          </a:p>
        </p:txBody>
      </p:sp>
      <p:sp>
        <p:nvSpPr>
          <p:cNvPr id="3" name="Shape 1"/>
          <p:cNvSpPr/>
          <p:nvPr/>
        </p:nvSpPr>
        <p:spPr>
          <a:xfrm>
            <a:off x="0" y="713232"/>
            <a:ext cx="9144000" cy="45720"/>
          </a:xfrm>
          <a:prstGeom prst="rect">
            <a:avLst/>
          </a:prstGeom>
          <a:solidFill>
            <a:srgbClr val="00C2CB"/>
          </a:solidFill>
          <a:ln w="12700">
            <a:solidFill>
              <a:srgbClr val="00C2CB"/>
            </a:solidFill>
            <a:prstDash val="solid"/>
          </a:ln>
        </p:spPr>
        <p:txBody>
          <a:bodyPr/>
          <a:lstStyle/>
          <a:p>
            <a:endParaRPr lang="en-US"/>
          </a:p>
        </p:txBody>
      </p:sp>
      <p:sp>
        <p:nvSpPr>
          <p:cNvPr id="4" name="Text 2"/>
          <p:cNvSpPr/>
          <p:nvPr/>
        </p:nvSpPr>
        <p:spPr>
          <a:xfrm>
            <a:off x="365760" y="91440"/>
            <a:ext cx="8412480" cy="548640"/>
          </a:xfrm>
          <a:prstGeom prst="rect">
            <a:avLst/>
          </a:prstGeom>
          <a:noFill/>
          <a:ln/>
        </p:spPr>
        <p:txBody>
          <a:bodyPr wrap="square" lIns="0" tIns="0" rIns="0" bIns="0"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Classes &amp; Objects</a:t>
            </a:r>
            <a:endParaRPr lang="en-US" sz="2100" dirty="0"/>
          </a:p>
        </p:txBody>
      </p:sp>
      <p:sp>
        <p:nvSpPr>
          <p:cNvPr id="5" name="Text 3"/>
          <p:cNvSpPr/>
          <p:nvPr/>
        </p:nvSpPr>
        <p:spPr>
          <a:xfrm>
            <a:off x="365760" y="868680"/>
            <a:ext cx="8412480" cy="4023360"/>
          </a:xfrm>
          <a:prstGeom prst="rect">
            <a:avLst/>
          </a:prstGeom>
          <a:noFill/>
          <a:ln/>
        </p:spPr>
        <p:txBody>
          <a:bodyPr wrap="square" rtlCol="0" anchor="t"/>
          <a:lstStyle/>
          <a:p>
            <a:pPr marL="342900" indent="-342900">
              <a:buSzPct val="100000"/>
              <a:buChar char="•"/>
            </a:pPr>
            <a:r>
              <a:rPr lang="en-US" sz="1400" dirty="0">
                <a:solidFill>
                  <a:srgbClr val="B8D4E8"/>
                </a:solidFill>
                <a:latin typeface="Calibri" pitchFamily="34" charset="0"/>
                <a:ea typeface="Calibri" pitchFamily="34" charset="-122"/>
                <a:cs typeface="Calibri" pitchFamily="34" charset="-120"/>
              </a:rPr>
              <a:t>A class is a blueprint — an object is an instance of that blueprint</a:t>
            </a:r>
            <a:endParaRPr lang="en-US" sz="1400" dirty="0"/>
          </a:p>
          <a:p>
            <a:pPr marL="342900" indent="-342900">
              <a:buSzPct val="100000"/>
              <a:buChar char="•"/>
            </a:pPr>
            <a:r>
              <a:rPr lang="en-US" sz="1400" dirty="0">
                <a:solidFill>
                  <a:srgbClr val="B8D4E8"/>
                </a:solidFill>
                <a:latin typeface="Calibri" pitchFamily="34" charset="0"/>
                <a:ea typeface="Calibri" pitchFamily="34" charset="-122"/>
                <a:cs typeface="Calibri" pitchFamily="34" charset="-120"/>
              </a:rPr>
              <a:t>Properties expose data cleanly: public string Title { get; }  — vs raw public fields (avoid!)</a:t>
            </a:r>
            <a:endParaRPr lang="en-US" sz="1400" dirty="0"/>
          </a:p>
          <a:p>
            <a:pPr marL="342900" indent="-342900">
              <a:buSzPct val="100000"/>
              <a:buChar char="•"/>
            </a:pPr>
            <a:r>
              <a:rPr lang="en-US" sz="1400" dirty="0">
                <a:solidFill>
                  <a:srgbClr val="B8D4E8"/>
                </a:solidFill>
                <a:latin typeface="Calibri" pitchFamily="34" charset="0"/>
                <a:ea typeface="Calibri" pitchFamily="34" charset="-122"/>
                <a:cs typeface="Calibri" pitchFamily="34" charset="-120"/>
              </a:rPr>
              <a:t>private set: only THIS class can change the value — outside code must use your methods</a:t>
            </a:r>
            <a:endParaRPr lang="en-US" sz="1400" dirty="0"/>
          </a:p>
          <a:p>
            <a:pPr marL="342900" indent="-342900">
              <a:buSzPct val="100000"/>
              <a:buChar char="•"/>
            </a:pPr>
            <a:r>
              <a:rPr lang="en-US" sz="1400" dirty="0">
                <a:solidFill>
                  <a:srgbClr val="B8D4E8"/>
                </a:solidFill>
                <a:latin typeface="Calibri" pitchFamily="34" charset="0"/>
                <a:ea typeface="Calibri" pitchFamily="34" charset="-122"/>
                <a:cs typeface="Calibri" pitchFamily="34" charset="-120"/>
              </a:rPr>
              <a:t>Constructor: runs when you write new Book(...) — validates and initialises</a:t>
            </a:r>
            <a:endParaRPr lang="en-US" sz="1400" dirty="0"/>
          </a:p>
          <a:p>
            <a:pPr marL="342900" indent="-342900">
              <a:buSzPct val="100000"/>
              <a:buChar char="•"/>
            </a:pPr>
            <a:r>
              <a:rPr lang="en-US" sz="1400" dirty="0">
                <a:solidFill>
                  <a:srgbClr val="B8D4E8"/>
                </a:solidFill>
                <a:latin typeface="Calibri" pitchFamily="34" charset="0"/>
                <a:ea typeface="Calibri" pitchFamily="34" charset="-122"/>
                <a:cs typeface="Calibri" pitchFamily="34" charset="-120"/>
              </a:rPr>
              <a:t>Encapsulation principle: business rules live INSIDE the object, not scattered in menu code</a:t>
            </a:r>
            <a:endParaRPr lang="en-US" sz="1400" dirty="0"/>
          </a:p>
          <a:p>
            <a:pPr marL="342900" indent="-342900">
              <a:buSzPct val="100000"/>
              <a:buChar char="•"/>
            </a:pPr>
            <a:r>
              <a:rPr lang="en-US" sz="1400" dirty="0">
                <a:solidFill>
                  <a:srgbClr val="B8D4E8"/>
                </a:solidFill>
                <a:latin typeface="Calibri" pitchFamily="34" charset="0"/>
                <a:ea typeface="Calibri" pitchFamily="34" charset="-122"/>
                <a:cs typeface="Calibri" pitchFamily="34" charset="-120"/>
              </a:rPr>
              <a:t>The MENU calls book.Checkout(); the BOOK decides if it's allowed — it knows its own state</a:t>
            </a:r>
            <a:endParaRPr lang="en-US" sz="1400" dirty="0"/>
          </a:p>
        </p:txBody>
      </p:sp>
      <p:sp>
        <p:nvSpPr>
          <p:cNvPr id="6" name="Shape 4"/>
          <p:cNvSpPr/>
          <p:nvPr/>
        </p:nvSpPr>
        <p:spPr>
          <a:xfrm>
            <a:off x="7498080" y="137160"/>
            <a:ext cx="1463040" cy="420624"/>
          </a:xfrm>
          <a:prstGeom prst="rect">
            <a:avLst/>
          </a:prstGeom>
          <a:solidFill>
            <a:srgbClr val="F59E0B"/>
          </a:solidFill>
          <a:ln w="12700">
            <a:solidFill>
              <a:srgbClr val="F59E0B"/>
            </a:solidFill>
            <a:prstDash val="solid"/>
          </a:ln>
        </p:spPr>
        <p:txBody>
          <a:bodyPr/>
          <a:lstStyle/>
          <a:p>
            <a:endParaRPr lang="en-US"/>
          </a:p>
        </p:txBody>
      </p:sp>
      <p:sp>
        <p:nvSpPr>
          <p:cNvPr id="7" name="Text 5"/>
          <p:cNvSpPr/>
          <p:nvPr/>
        </p:nvSpPr>
        <p:spPr>
          <a:xfrm>
            <a:off x="7498080" y="118872"/>
            <a:ext cx="1463040" cy="457200"/>
          </a:xfrm>
          <a:prstGeom prst="rect">
            <a:avLst/>
          </a:prstGeom>
          <a:noFill/>
          <a:ln/>
        </p:spPr>
        <p:txBody>
          <a:bodyPr wrap="square" lIns="0" tIns="0" rIns="0" bIns="0" rtlCol="0" anchor="ctr"/>
          <a:lstStyle/>
          <a:p>
            <a:pPr marL="0" indent="0" algn="ctr">
              <a:buNone/>
            </a:pPr>
            <a:r>
              <a:rPr lang="en-US" sz="1100" b="1" dirty="0">
                <a:solidFill>
                  <a:srgbClr val="0A1628"/>
                </a:solidFill>
                <a:latin typeface="Calibri" pitchFamily="34" charset="0"/>
                <a:ea typeface="Calibri" pitchFamily="34" charset="-122"/>
                <a:cs typeface="Calibri" pitchFamily="34" charset="-120"/>
              </a:rPr>
              <a:t>⏱ 10:00 – 10:10</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5">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0D1520"/>
          </a:solidFill>
          <a:ln w="12700">
            <a:solidFill>
              <a:srgbClr val="0D1520"/>
            </a:solidFill>
            <a:prstDash val="solid"/>
          </a:ln>
        </p:spPr>
        <p:txBody>
          <a:bodyPr/>
          <a:lstStyle/>
          <a:p>
            <a:endParaRPr lang="en-US"/>
          </a:p>
        </p:txBody>
      </p:sp>
      <p:sp>
        <p:nvSpPr>
          <p:cNvPr id="3" name="Shape 1"/>
          <p:cNvSpPr/>
          <p:nvPr/>
        </p:nvSpPr>
        <p:spPr>
          <a:xfrm>
            <a:off x="0" y="621792"/>
            <a:ext cx="9144000" cy="36576"/>
          </a:xfrm>
          <a:prstGeom prst="rect">
            <a:avLst/>
          </a:prstGeom>
          <a:solidFill>
            <a:srgbClr val="00C2CB"/>
          </a:solidFill>
          <a:ln w="12700">
            <a:solidFill>
              <a:srgbClr val="00C2CB"/>
            </a:solidFill>
            <a:prstDash val="solid"/>
          </a:ln>
        </p:spPr>
        <p:txBody>
          <a:bodyPr/>
          <a:lstStyle/>
          <a:p>
            <a:endParaRPr lang="en-US"/>
          </a:p>
        </p:txBody>
      </p:sp>
      <p:sp>
        <p:nvSpPr>
          <p:cNvPr id="4" name="Text 2"/>
          <p:cNvSpPr/>
          <p:nvPr/>
        </p:nvSpPr>
        <p:spPr>
          <a:xfrm>
            <a:off x="320040" y="64008"/>
            <a:ext cx="8503920" cy="502920"/>
          </a:xfrm>
          <a:prstGeom prst="rect">
            <a:avLst/>
          </a:prstGeom>
          <a:noFill/>
          <a:ln/>
        </p:spPr>
        <p:txBody>
          <a:bodyPr wrap="square" lIns="0" tIns="0" rIns="0" bIns="0" rtlCol="0" anchor="ctr"/>
          <a:lstStyle/>
          <a:p>
            <a:pPr marL="0" indent="0">
              <a:buNone/>
            </a:pPr>
            <a:r>
              <a:rPr lang="en-US" sz="1700" b="1" dirty="0">
                <a:solidFill>
                  <a:srgbClr val="00C2CB"/>
                </a:solidFill>
                <a:latin typeface="Calibri" pitchFamily="34" charset="0"/>
                <a:ea typeface="Calibri" pitchFamily="34" charset="-122"/>
                <a:cs typeface="Calibri" pitchFamily="34" charset="-120"/>
              </a:rPr>
              <a:t>⌨  Your First Class — Book</a:t>
            </a:r>
            <a:endParaRPr lang="en-US" sz="1700" dirty="0"/>
          </a:p>
        </p:txBody>
      </p:sp>
      <p:sp>
        <p:nvSpPr>
          <p:cNvPr id="5" name="Text 3"/>
          <p:cNvSpPr/>
          <p:nvPr/>
        </p:nvSpPr>
        <p:spPr>
          <a:xfrm>
            <a:off x="274320" y="713232"/>
            <a:ext cx="8595360" cy="4343400"/>
          </a:xfrm>
          <a:prstGeom prst="rect">
            <a:avLst/>
          </a:prstGeom>
          <a:noFill/>
          <a:ln/>
        </p:spPr>
        <p:txBody>
          <a:bodyPr wrap="square" lIns="0" tIns="0" rIns="0" bIns="0" rtlCol="0" anchor="t"/>
          <a:lstStyle/>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public class Book {</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    // Properties — the public face of the class</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    public string Title        { get; }</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    public string Author       { get; }</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    public bool   IsCheckedOut { get; private set; }  // only Book writes this</a:t>
            </a:r>
            <a:endParaRPr lang="en-US" sz="1200" dirty="0"/>
          </a:p>
          <a:p>
            <a:pPr marL="0" indent="0">
              <a:lnSpc>
                <a:spcPct val="120000"/>
              </a:lnSpc>
              <a:buNone/>
            </a:pP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    // Constructor — runs when caller writes: new Book(...)</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    public Book(string title, string author) {</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        Title  = title ?? throw new ArgumentNullException(nameof(title));</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        Author = author;</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    }</a:t>
            </a:r>
            <a:endParaRPr lang="en-US" sz="1200" dirty="0"/>
          </a:p>
          <a:p>
            <a:pPr marL="0" indent="0">
              <a:lnSpc>
                <a:spcPct val="120000"/>
              </a:lnSpc>
              <a:buNone/>
            </a:pP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    // Methods enforce rules — the menu CANNOT bypass them</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    public bool Checkout() {</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        if (IsCheckedOut) return false;   // already out: refuse</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        IsCheckedOut = true;</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        return true;</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    }</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    public bool Return() { IsCheckedOut = false; return true; }</a:t>
            </a:r>
            <a:endParaRPr lang="en-US" sz="1200" dirty="0"/>
          </a:p>
          <a:p>
            <a:pPr marL="0" indent="0">
              <a:lnSpc>
                <a:spcPct val="120000"/>
              </a:lnSpc>
              <a:buNone/>
            </a:pP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    public string StatusLine() =&gt;</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        $"{Title,-22} by {Author,-18} [{(IsCheckedOut ? "OUT" : "Available")}]";</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6">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142952"/>
          </a:solidFill>
          <a:ln w="12700">
            <a:solidFill>
              <a:srgbClr val="142952"/>
            </a:solidFill>
            <a:prstDash val="solid"/>
          </a:ln>
        </p:spPr>
        <p:txBody>
          <a:bodyPr/>
          <a:lstStyle/>
          <a:p>
            <a:endParaRPr lang="en-US"/>
          </a:p>
        </p:txBody>
      </p:sp>
      <p:sp>
        <p:nvSpPr>
          <p:cNvPr id="3" name="Shape 1"/>
          <p:cNvSpPr/>
          <p:nvPr/>
        </p:nvSpPr>
        <p:spPr>
          <a:xfrm>
            <a:off x="0" y="713232"/>
            <a:ext cx="9144000" cy="45720"/>
          </a:xfrm>
          <a:prstGeom prst="rect">
            <a:avLst/>
          </a:prstGeom>
          <a:solidFill>
            <a:srgbClr val="00C2CB"/>
          </a:solidFill>
          <a:ln w="12700">
            <a:solidFill>
              <a:srgbClr val="00C2CB"/>
            </a:solidFill>
            <a:prstDash val="solid"/>
          </a:ln>
        </p:spPr>
        <p:txBody>
          <a:bodyPr/>
          <a:lstStyle/>
          <a:p>
            <a:endParaRPr lang="en-US"/>
          </a:p>
        </p:txBody>
      </p:sp>
      <p:sp>
        <p:nvSpPr>
          <p:cNvPr id="4" name="Text 2"/>
          <p:cNvSpPr/>
          <p:nvPr/>
        </p:nvSpPr>
        <p:spPr>
          <a:xfrm>
            <a:off x="365760" y="91440"/>
            <a:ext cx="8412480" cy="548640"/>
          </a:xfrm>
          <a:prstGeom prst="rect">
            <a:avLst/>
          </a:prstGeom>
          <a:noFill/>
          <a:ln/>
        </p:spPr>
        <p:txBody>
          <a:bodyPr wrap="square" lIns="0" tIns="0" rIns="0" bIns="0"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Inheritance &amp; Polymorphism</a:t>
            </a:r>
            <a:endParaRPr lang="en-US" sz="2100" dirty="0"/>
          </a:p>
        </p:txBody>
      </p:sp>
      <p:sp>
        <p:nvSpPr>
          <p:cNvPr id="5" name="Text 3"/>
          <p:cNvSpPr/>
          <p:nvPr/>
        </p:nvSpPr>
        <p:spPr>
          <a:xfrm>
            <a:off x="365760" y="868680"/>
            <a:ext cx="8412480" cy="4023360"/>
          </a:xfrm>
          <a:prstGeom prst="rect">
            <a:avLst/>
          </a:prstGeom>
          <a:noFill/>
          <a:ln/>
        </p:spPr>
        <p:txBody>
          <a:bodyPr wrap="square" rtlCol="0" anchor="t"/>
          <a:lstStyle/>
          <a:p>
            <a:pPr marL="342900" indent="-342900">
              <a:buSzPct val="100000"/>
              <a:buChar char="•"/>
            </a:pPr>
            <a:r>
              <a:rPr lang="en-US" sz="1400" dirty="0">
                <a:solidFill>
                  <a:srgbClr val="B8D4E8"/>
                </a:solidFill>
                <a:latin typeface="Calibri" pitchFamily="34" charset="0"/>
                <a:ea typeface="Calibri" pitchFamily="34" charset="-122"/>
                <a:cs typeface="Calibri" pitchFamily="34" charset="-120"/>
              </a:rPr>
              <a:t>Inheritance: a derived class IS-A base class — it inherits all public/protected members</a:t>
            </a:r>
            <a:endParaRPr lang="en-US" sz="1400" dirty="0"/>
          </a:p>
          <a:p>
            <a:pPr marL="342900" indent="-342900">
              <a:buSzPct val="100000"/>
              <a:buChar char="•"/>
            </a:pPr>
            <a:r>
              <a:rPr lang="en-US" sz="1400" dirty="0">
                <a:solidFill>
                  <a:srgbClr val="B8D4E8"/>
                </a:solidFill>
                <a:latin typeface="Calibri" pitchFamily="34" charset="0"/>
                <a:ea typeface="Calibri" pitchFamily="34" charset="-122"/>
                <a:cs typeface="Calibri" pitchFamily="34" charset="-120"/>
              </a:rPr>
              <a:t>override a virtual method to change the behaviour in a derived class</a:t>
            </a:r>
            <a:endParaRPr lang="en-US" sz="1400" dirty="0"/>
          </a:p>
          <a:p>
            <a:pPr marL="342900" indent="-342900">
              <a:buSzPct val="100000"/>
              <a:buChar char="•"/>
            </a:pPr>
            <a:r>
              <a:rPr lang="en-US" sz="1400" dirty="0">
                <a:solidFill>
                  <a:srgbClr val="B8D4E8"/>
                </a:solidFill>
                <a:latin typeface="Calibri" pitchFamily="34" charset="0"/>
                <a:ea typeface="Calibri" pitchFamily="34" charset="-122"/>
                <a:cs typeface="Calibri" pitchFamily="34" charset="-120"/>
              </a:rPr>
              <a:t>abstract: the base class declares a contract; every subclass MUST implement it</a:t>
            </a:r>
            <a:endParaRPr lang="en-US" sz="1400" dirty="0"/>
          </a:p>
          <a:p>
            <a:pPr marL="342900" indent="-342900">
              <a:buSzPct val="100000"/>
              <a:buChar char="•"/>
            </a:pPr>
            <a:r>
              <a:rPr lang="en-US" sz="1400" dirty="0">
                <a:solidFill>
                  <a:srgbClr val="B8D4E8"/>
                </a:solidFill>
                <a:latin typeface="Calibri" pitchFamily="34" charset="0"/>
                <a:ea typeface="Calibri" pitchFamily="34" charset="-122"/>
                <a:cs typeface="Calibri" pitchFamily="34" charset="-120"/>
              </a:rPr>
              <a:t>base(...): call the parent constructor to avoid duplicating initialisation code</a:t>
            </a:r>
            <a:endParaRPr lang="en-US" sz="1400" dirty="0"/>
          </a:p>
          <a:p>
            <a:pPr marL="342900" indent="-342900">
              <a:buSzPct val="100000"/>
              <a:buChar char="•"/>
            </a:pPr>
            <a:r>
              <a:rPr lang="en-US" sz="1400" dirty="0">
                <a:solidFill>
                  <a:srgbClr val="B8D4E8"/>
                </a:solidFill>
                <a:latin typeface="Calibri" pitchFamily="34" charset="0"/>
                <a:ea typeface="Calibri" pitchFamily="34" charset="-122"/>
                <a:cs typeface="Calibri" pitchFamily="34" charset="-120"/>
              </a:rPr>
              <a:t>Polymorphism: store derived objects in a base-type variable/collection, call virtual methods — each runs its own version</a:t>
            </a:r>
            <a:endParaRPr lang="en-US" sz="1400" dirty="0"/>
          </a:p>
          <a:p>
            <a:pPr marL="342900" indent="-342900">
              <a:buSzPct val="100000"/>
              <a:buChar char="•"/>
            </a:pPr>
            <a:r>
              <a:rPr lang="en-US" sz="1400" dirty="0">
                <a:solidFill>
                  <a:srgbClr val="B8D4E8"/>
                </a:solidFill>
                <a:latin typeface="Calibri" pitchFamily="34" charset="0"/>
                <a:ea typeface="Calibri" pitchFamily="34" charset="-122"/>
                <a:cs typeface="Calibri" pitchFamily="34" charset="-120"/>
              </a:rPr>
              <a:t>LSP (Liskov Substitution): anywhere a LibraryItem is expected, a Book or Dvd should work</a:t>
            </a:r>
            <a:endParaRPr lang="en-US"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7">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0D1520"/>
          </a:solidFill>
          <a:ln w="12700">
            <a:solidFill>
              <a:srgbClr val="0D1520"/>
            </a:solidFill>
            <a:prstDash val="solid"/>
          </a:ln>
        </p:spPr>
        <p:txBody>
          <a:bodyPr/>
          <a:lstStyle/>
          <a:p>
            <a:endParaRPr lang="en-US"/>
          </a:p>
        </p:txBody>
      </p:sp>
      <p:sp>
        <p:nvSpPr>
          <p:cNvPr id="3" name="Shape 1"/>
          <p:cNvSpPr/>
          <p:nvPr/>
        </p:nvSpPr>
        <p:spPr>
          <a:xfrm>
            <a:off x="0" y="621792"/>
            <a:ext cx="9144000" cy="36576"/>
          </a:xfrm>
          <a:prstGeom prst="rect">
            <a:avLst/>
          </a:prstGeom>
          <a:solidFill>
            <a:srgbClr val="00C2CB"/>
          </a:solidFill>
          <a:ln w="12700">
            <a:solidFill>
              <a:srgbClr val="00C2CB"/>
            </a:solidFill>
            <a:prstDash val="solid"/>
          </a:ln>
        </p:spPr>
        <p:txBody>
          <a:bodyPr/>
          <a:lstStyle/>
          <a:p>
            <a:endParaRPr lang="en-US"/>
          </a:p>
        </p:txBody>
      </p:sp>
      <p:sp>
        <p:nvSpPr>
          <p:cNvPr id="4" name="Text 2"/>
          <p:cNvSpPr/>
          <p:nvPr/>
        </p:nvSpPr>
        <p:spPr>
          <a:xfrm>
            <a:off x="320040" y="64008"/>
            <a:ext cx="8503920" cy="502920"/>
          </a:xfrm>
          <a:prstGeom prst="rect">
            <a:avLst/>
          </a:prstGeom>
          <a:noFill/>
          <a:ln/>
        </p:spPr>
        <p:txBody>
          <a:bodyPr wrap="square" lIns="0" tIns="0" rIns="0" bIns="0" rtlCol="0" anchor="ctr"/>
          <a:lstStyle/>
          <a:p>
            <a:pPr marL="0" indent="0">
              <a:buNone/>
            </a:pPr>
            <a:r>
              <a:rPr lang="en-US" sz="1700" b="1" dirty="0">
                <a:solidFill>
                  <a:srgbClr val="00C2CB"/>
                </a:solidFill>
                <a:latin typeface="Calibri" pitchFamily="34" charset="0"/>
                <a:ea typeface="Calibri" pitchFamily="34" charset="-122"/>
                <a:cs typeface="Calibri" pitchFamily="34" charset="-120"/>
              </a:rPr>
              <a:t>⌨  Inheritance — Media Hierarchy</a:t>
            </a:r>
            <a:endParaRPr lang="en-US" sz="1700" dirty="0"/>
          </a:p>
        </p:txBody>
      </p:sp>
      <p:sp>
        <p:nvSpPr>
          <p:cNvPr id="5" name="Text 3"/>
          <p:cNvSpPr/>
          <p:nvPr/>
        </p:nvSpPr>
        <p:spPr>
          <a:xfrm>
            <a:off x="274320" y="713232"/>
            <a:ext cx="8595360" cy="4343400"/>
          </a:xfrm>
          <a:prstGeom prst="rect">
            <a:avLst/>
          </a:prstGeom>
          <a:noFill/>
          <a:ln/>
        </p:spPr>
        <p:txBody>
          <a:bodyPr wrap="square" lIns="0" tIns="0" rIns="0" bIns="0" rtlCol="0" anchor="t"/>
          <a:lstStyle/>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public abstract class LibraryItem {</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    public string Title   { get; }</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    public string Barcode { get; }</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    protected LibraryItem(string title, string barcode) {</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        Title = title; Barcode = barcode;</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    }</a:t>
            </a:r>
            <a:endParaRPr lang="en-US" sz="1200" dirty="0"/>
          </a:p>
          <a:p>
            <a:pPr marL="0" indent="0">
              <a:lnSpc>
                <a:spcPct val="120000"/>
              </a:lnSpc>
              <a:buNone/>
            </a:pP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    public abstract int LoanDays { get; }           // must override</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    public virtual decimal DailyLateFee =&gt; 0.25m;  // may override</a:t>
            </a:r>
            <a:endParaRPr lang="en-US" sz="1200" dirty="0"/>
          </a:p>
          <a:p>
            <a:pPr marL="0" indent="0">
              <a:lnSpc>
                <a:spcPct val="120000"/>
              </a:lnSpc>
              <a:buNone/>
            </a:pP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    public virtual bool Checkout() {</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        DueDate = DateTime.Today.AddDays(LoanDays); // LoanDays is polymorphic!</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        return true;</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    }</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    public DateTime? DueDate { get; private set; }</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a:t>
            </a:r>
            <a:endParaRPr lang="en-US" sz="1200" dirty="0"/>
          </a:p>
          <a:p>
            <a:pPr marL="0" indent="0">
              <a:lnSpc>
                <a:spcPct val="120000"/>
              </a:lnSpc>
              <a:buNone/>
            </a:pP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public class Book     : LibraryItem {</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    public string Author { get; }</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    public Book(string t, string b, string author) : base(t, b) =&gt; Author = author;</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    public override int LoanDays =&gt; 21;</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public class Dvd      : LibraryItem {</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    public Dvd(string t, string b) : base(t, b) { }</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    public override int LoanDays =&gt; 7;</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    public override decimal DailyLateFee =&gt; 1.00m;   // DVDs cost more</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8">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F2040"/>
          </a:solidFill>
          <a:ln w="12700">
            <a:solidFill>
              <a:srgbClr val="0F2040"/>
            </a:solidFill>
            <a:prstDash val="solid"/>
          </a:ln>
        </p:spPr>
        <p:txBody>
          <a:bodyPr/>
          <a:lstStyle/>
          <a:p>
            <a:endParaRPr/>
          </a:p>
        </p:txBody>
      </p:sp>
      <p:sp>
        <p:nvSpPr>
          <p:cNvPr id="3" name="Shape 1"/>
          <p:cNvSpPr/>
          <p:nvPr/>
        </p:nvSpPr>
        <p:spPr>
          <a:xfrm>
            <a:off x="3200400" y="457200"/>
            <a:ext cx="2743200" cy="2743200"/>
          </a:xfrm>
          <a:prstGeom prst="ellipse">
            <a:avLst/>
          </a:prstGeom>
          <a:solidFill>
            <a:srgbClr val="F59E0B">
              <a:alpha val="12000"/>
            </a:srgbClr>
          </a:solidFill>
          <a:ln w="12700">
            <a:solidFill>
              <a:srgbClr val="F59E0B">
                <a:alpha val="25000"/>
              </a:srgbClr>
            </a:solidFill>
            <a:prstDash val="solid"/>
          </a:ln>
        </p:spPr>
        <p:txBody>
          <a:bodyPr/>
          <a:lstStyle/>
          <a:p>
            <a:endParaRPr/>
          </a:p>
        </p:txBody>
      </p:sp>
      <p:sp>
        <p:nvSpPr>
          <p:cNvPr id="4" name="Text 2"/>
          <p:cNvSpPr/>
          <p:nvPr/>
        </p:nvSpPr>
        <p:spPr>
          <a:xfrm>
            <a:off x="3200400" y="548640"/>
            <a:ext cx="2743200" cy="1828800"/>
          </a:xfrm>
          <a:prstGeom prst="rect">
            <a:avLst/>
          </a:prstGeom>
          <a:noFill/>
          <a:ln/>
        </p:spPr>
        <p:txBody>
          <a:bodyPr wrap="square" rtlCol="0" anchor="ctr"/>
          <a:lstStyle/>
          <a:p>
            <a:pPr marL="0" indent="0" algn="ctr">
              <a:buNone/>
            </a:pPr>
            <a:r>
              <a:rPr lang="en-US" sz="6000" dirty="0">
                <a:solidFill>
                  <a:srgbClr val="000000"/>
                </a:solidFill>
                <a:latin typeface="Segoe UI Emoji" pitchFamily="34" charset="0"/>
                <a:ea typeface="Segoe UI Emoji" pitchFamily="34" charset="-122"/>
                <a:cs typeface="Segoe UI Emoji" pitchFamily="34" charset="-120"/>
              </a:rPr>
              <a:t>💬</a:t>
            </a:r>
            <a:endParaRPr lang="en-US" sz="6000" dirty="0"/>
          </a:p>
        </p:txBody>
      </p:sp>
      <p:sp>
        <p:nvSpPr>
          <p:cNvPr id="5" name="Shape 3"/>
          <p:cNvSpPr/>
          <p:nvPr/>
        </p:nvSpPr>
        <p:spPr>
          <a:xfrm>
            <a:off x="2286000" y="2743200"/>
            <a:ext cx="4572000" cy="411480"/>
          </a:xfrm>
          <a:prstGeom prst="rect">
            <a:avLst/>
          </a:prstGeom>
          <a:solidFill>
            <a:srgbClr val="F59E0B"/>
          </a:solidFill>
          <a:ln w="12700">
            <a:solidFill>
              <a:srgbClr val="F59E0B"/>
            </a:solidFill>
            <a:prstDash val="solid"/>
          </a:ln>
        </p:spPr>
        <p:txBody>
          <a:bodyPr/>
          <a:lstStyle/>
          <a:p>
            <a:endParaRPr/>
          </a:p>
        </p:txBody>
      </p:sp>
      <p:sp>
        <p:nvSpPr>
          <p:cNvPr id="6" name="Text 4"/>
          <p:cNvSpPr/>
          <p:nvPr/>
        </p:nvSpPr>
        <p:spPr>
          <a:xfrm>
            <a:off x="2286000" y="2724912"/>
            <a:ext cx="4572000" cy="448056"/>
          </a:xfrm>
          <a:prstGeom prst="rect">
            <a:avLst/>
          </a:prstGeom>
          <a:noFill/>
          <a:ln/>
        </p:spPr>
        <p:txBody>
          <a:bodyPr wrap="square" lIns="0" tIns="0" rIns="0" bIns="0" rtlCol="0" anchor="ctr"/>
          <a:lstStyle/>
          <a:p>
            <a:pPr marL="0" indent="0" algn="ctr">
              <a:buNone/>
            </a:pPr>
            <a:r>
              <a:rPr lang="en-US" sz="1400" b="1" dirty="0">
                <a:solidFill>
                  <a:srgbClr val="0A1628"/>
                </a:solidFill>
                <a:latin typeface="Calibri" pitchFamily="34" charset="0"/>
                <a:ea typeface="Calibri" pitchFamily="34" charset="-122"/>
                <a:cs typeface="Calibri" pitchFamily="34" charset="-120"/>
              </a:rPr>
              <a:t>GROUP DISCUSSION</a:t>
            </a:r>
            <a:endParaRPr lang="en-US" sz="1400" dirty="0"/>
          </a:p>
        </p:txBody>
      </p:sp>
      <p:sp>
        <p:nvSpPr>
          <p:cNvPr id="7" name="Text 5"/>
          <p:cNvSpPr/>
          <p:nvPr/>
        </p:nvSpPr>
        <p:spPr>
          <a:xfrm>
            <a:off x="731520" y="3291840"/>
            <a:ext cx="7680960" cy="1463040"/>
          </a:xfrm>
          <a:prstGeom prst="rect">
            <a:avLst/>
          </a:prstGeom>
          <a:noFill/>
          <a:ln/>
        </p:spPr>
        <p:txBody>
          <a:bodyPr wrap="square" rtlCol="0" anchor="ctr"/>
          <a:lstStyle/>
          <a:p>
            <a:pPr marL="0" indent="0" algn="ctr">
              <a:buNone/>
            </a:pPr>
            <a:r>
              <a:rPr lang="en-US" sz="1900" dirty="0">
                <a:solidFill>
                  <a:srgbClr val="FFFFFF"/>
                </a:solidFill>
                <a:latin typeface="Calibri" pitchFamily="34" charset="0"/>
                <a:ea typeface="Calibri" pitchFamily="34" charset="-122"/>
                <a:cs typeface="Calibri" pitchFamily="34" charset="-120"/>
              </a:rPr>
              <a:t>A Book, DVD, and Magazine all need checkout/return logic.</a:t>
            </a:r>
            <a:endParaRPr lang="en-US" sz="1900" dirty="0"/>
          </a:p>
          <a:p>
            <a:pPr marL="0" indent="0" algn="ctr">
              <a:buNone/>
            </a:pPr>
            <a:r>
              <a:rPr lang="en-US" sz="1900" dirty="0">
                <a:solidFill>
                  <a:srgbClr val="FFFFFF"/>
                </a:solidFill>
                <a:latin typeface="Calibri" pitchFamily="34" charset="0"/>
                <a:ea typeface="Calibri" pitchFamily="34" charset="-122"/>
                <a:cs typeface="Calibri" pitchFamily="34" charset="-120"/>
              </a:rPr>
              <a:t>ShouldCheckout() be abstract or virtual — and why?</a:t>
            </a:r>
            <a:endParaRPr lang="en-US" sz="1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9">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0D1520"/>
          </a:solidFill>
          <a:ln w="12700">
            <a:solidFill>
              <a:srgbClr val="0D1520"/>
            </a:solidFill>
            <a:prstDash val="solid"/>
          </a:ln>
        </p:spPr>
        <p:txBody>
          <a:bodyPr/>
          <a:lstStyle/>
          <a:p>
            <a:endParaRPr/>
          </a:p>
        </p:txBody>
      </p:sp>
      <p:sp>
        <p:nvSpPr>
          <p:cNvPr id="3" name="Shape 1"/>
          <p:cNvSpPr/>
          <p:nvPr/>
        </p:nvSpPr>
        <p:spPr>
          <a:xfrm>
            <a:off x="0" y="621792"/>
            <a:ext cx="9144000" cy="36576"/>
          </a:xfrm>
          <a:prstGeom prst="rect">
            <a:avLst/>
          </a:prstGeom>
          <a:solidFill>
            <a:srgbClr val="00C2CB"/>
          </a:solidFill>
          <a:ln w="12700">
            <a:solidFill>
              <a:srgbClr val="00C2CB"/>
            </a:solidFill>
            <a:prstDash val="solid"/>
          </a:ln>
        </p:spPr>
        <p:txBody>
          <a:bodyPr/>
          <a:lstStyle/>
          <a:p>
            <a:endParaRPr/>
          </a:p>
        </p:txBody>
      </p:sp>
      <p:sp>
        <p:nvSpPr>
          <p:cNvPr id="4" name="Text 2"/>
          <p:cNvSpPr/>
          <p:nvPr/>
        </p:nvSpPr>
        <p:spPr>
          <a:xfrm>
            <a:off x="320040" y="64008"/>
            <a:ext cx="8503920" cy="502920"/>
          </a:xfrm>
          <a:prstGeom prst="rect">
            <a:avLst/>
          </a:prstGeom>
          <a:noFill/>
          <a:ln/>
        </p:spPr>
        <p:txBody>
          <a:bodyPr wrap="square" lIns="0" tIns="0" rIns="0" bIns="0" rtlCol="0" anchor="ctr"/>
          <a:lstStyle/>
          <a:p>
            <a:pPr marL="0" indent="0">
              <a:buNone/>
            </a:pPr>
            <a:r>
              <a:rPr lang="en-US" sz="1700" b="1" dirty="0">
                <a:solidFill>
                  <a:srgbClr val="00C2CB"/>
                </a:solidFill>
                <a:latin typeface="Calibri" pitchFamily="34" charset="0"/>
                <a:ea typeface="Calibri" pitchFamily="34" charset="-122"/>
                <a:cs typeface="Calibri" pitchFamily="34" charset="-120"/>
              </a:rPr>
              <a:t>⌨  Polymorphism in Action</a:t>
            </a:r>
            <a:endParaRPr lang="en-US" sz="1700" dirty="0"/>
          </a:p>
        </p:txBody>
      </p:sp>
      <p:sp>
        <p:nvSpPr>
          <p:cNvPr id="5" name="Text 3"/>
          <p:cNvSpPr/>
          <p:nvPr/>
        </p:nvSpPr>
        <p:spPr>
          <a:xfrm>
            <a:off x="274320" y="713232"/>
            <a:ext cx="8595360" cy="4343400"/>
          </a:xfrm>
          <a:prstGeom prst="rect">
            <a:avLst/>
          </a:prstGeom>
          <a:noFill/>
          <a:ln/>
        </p:spPr>
        <p:txBody>
          <a:bodyPr wrap="square" lIns="0" tIns="0" rIns="0" bIns="0" rtlCol="0" anchor="t"/>
          <a:lstStyle/>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 ONE list, THREE types — List&lt;LibraryItem&gt; accepts all</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var catalog = new List&lt;LibraryItem&gt; {</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    new Book("Dune",      "B-001", "Frank Herbert"),</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    new Dvd("Inception",  "D-101"),</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    new Book("1984",      "B-002", "George Orwell"),</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a:t>
            </a:r>
            <a:endParaRPr lang="en-US" sz="1200" dirty="0"/>
          </a:p>
          <a:p>
            <a:pPr marL="0" indent="0">
              <a:lnSpc>
                <a:spcPct val="120000"/>
              </a:lnSpc>
              <a:buNone/>
            </a:pP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 ONE loop — each item calls ITS OWN LoanDays override</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foreach (var item in catalog) {</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    item.Checkout();</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    Console.WriteLine($"{item.Title,-20} due: {item.DueDate:d}");</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 Dune                 due: 07/06/2026   (Book: 21 days)</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 Inception            due: 22/06/2026   (Dvd:  7 days)</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 1984                 due: 07/06/2026   (Book: 21 days)</a:t>
            </a:r>
            <a:endParaRPr lang="en-US" sz="1200" dirty="0"/>
          </a:p>
          <a:p>
            <a:pPr marL="0" indent="0">
              <a:lnSpc>
                <a:spcPct val="120000"/>
              </a:lnSpc>
              <a:buNone/>
            </a:pP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 Pattern matching to get type-specific data</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foreach (var item in catalog)</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    Console.WriteLine(item switch {</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        Book b =&gt; $"{b.Title} by {b.Author}",</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        Dvd d  =&gt; $"{d.Title} (DVD)",</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        _      =&gt; item.Title</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    });</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0">
    <p:bg>
      <p:bgPr>
        <a:solidFill>
          <a:srgbClr val="0F2040"/>
        </a:solidFill>
        <a:effectLst/>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1A3A60"/>
          </a:solidFill>
          <a:ln w="12700">
            <a:solidFill>
              <a:srgbClr val="1A3A60"/>
            </a:solidFill>
            <a:prstDash val="solid"/>
          </a:ln>
        </p:spPr>
        <p:txBody>
          <a:bodyPr/>
          <a:lstStyle/>
          <a:p>
            <a:endParaRPr/>
          </a:p>
        </p:txBody>
      </p:sp>
      <p:sp>
        <p:nvSpPr>
          <p:cNvPr id="3" name="Shape 1"/>
          <p:cNvSpPr/>
          <p:nvPr/>
        </p:nvSpPr>
        <p:spPr>
          <a:xfrm>
            <a:off x="0" y="713232"/>
            <a:ext cx="9144000" cy="45720"/>
          </a:xfrm>
          <a:prstGeom prst="rect">
            <a:avLst/>
          </a:prstGeom>
          <a:solidFill>
            <a:srgbClr val="F59E0B"/>
          </a:solidFill>
          <a:ln w="12700">
            <a:solidFill>
              <a:srgbClr val="F59E0B"/>
            </a:solidFill>
            <a:prstDash val="solid"/>
          </a:ln>
        </p:spPr>
        <p:txBody>
          <a:bodyPr/>
          <a:lstStyle/>
          <a:p>
            <a:endParaRPr/>
          </a:p>
        </p:txBody>
      </p:sp>
      <p:sp>
        <p:nvSpPr>
          <p:cNvPr id="4" name="Text 2"/>
          <p:cNvSpPr/>
          <p:nvPr/>
        </p:nvSpPr>
        <p:spPr>
          <a:xfrm>
            <a:off x="365760" y="91440"/>
            <a:ext cx="6858000" cy="530352"/>
          </a:xfrm>
          <a:prstGeom prst="rect">
            <a:avLst/>
          </a:prstGeom>
          <a:noFill/>
          <a:ln/>
        </p:spPr>
        <p:txBody>
          <a:bodyPr wrap="square" lIns="0" tIns="0" rIns="0" bIns="0" rtlCol="0" anchor="ctr"/>
          <a:lstStyle/>
          <a:p>
            <a:pPr marL="0" indent="0">
              <a:buNone/>
            </a:pPr>
            <a:r>
              <a:rPr lang="en-US" sz="1900" b="1" dirty="0">
                <a:solidFill>
                  <a:srgbClr val="F59E0B"/>
                </a:solidFill>
                <a:latin typeface="Calibri" pitchFamily="34" charset="0"/>
                <a:ea typeface="Calibri" pitchFamily="34" charset="-122"/>
                <a:cs typeface="Calibri" pitchFamily="34" charset="-120"/>
              </a:rPr>
              <a:t>🧪  LAB 3  ·  Build the Book Class (DeweyLib M1–M4)</a:t>
            </a:r>
            <a:endParaRPr lang="en-US" sz="1900" dirty="0"/>
          </a:p>
        </p:txBody>
      </p:sp>
      <p:sp>
        <p:nvSpPr>
          <p:cNvPr id="5" name="Text 3"/>
          <p:cNvSpPr/>
          <p:nvPr/>
        </p:nvSpPr>
        <p:spPr>
          <a:xfrm>
            <a:off x="7315200" y="164592"/>
            <a:ext cx="1645920" cy="365760"/>
          </a:xfrm>
          <a:prstGeom prst="rect">
            <a:avLst/>
          </a:prstGeom>
          <a:noFill/>
          <a:ln/>
        </p:spPr>
        <p:txBody>
          <a:bodyPr wrap="square" lIns="0" tIns="0" rIns="0" bIns="0" rtlCol="0" anchor="ctr"/>
          <a:lstStyle/>
          <a:p>
            <a:pPr marL="0" indent="0" algn="r">
              <a:buNone/>
            </a:pPr>
            <a:r>
              <a:rPr lang="en-US" sz="1300" dirty="0">
                <a:solidFill>
                  <a:srgbClr val="B8D4E8"/>
                </a:solidFill>
                <a:latin typeface="Calibri" pitchFamily="34" charset="0"/>
                <a:ea typeface="Calibri" pitchFamily="34" charset="-122"/>
                <a:cs typeface="Calibri" pitchFamily="34" charset="-120"/>
              </a:rPr>
              <a:t>⏱ 20 min</a:t>
            </a:r>
            <a:endParaRPr lang="en-US" sz="1300" dirty="0"/>
          </a:p>
        </p:txBody>
      </p:sp>
      <p:sp>
        <p:nvSpPr>
          <p:cNvPr id="6" name="Text 4"/>
          <p:cNvSpPr/>
          <p:nvPr/>
        </p:nvSpPr>
        <p:spPr>
          <a:xfrm>
            <a:off x="365760" y="841248"/>
            <a:ext cx="4114800" cy="329184"/>
          </a:xfrm>
          <a:prstGeom prst="rect">
            <a:avLst/>
          </a:prstGeom>
          <a:noFill/>
          <a:ln/>
        </p:spPr>
        <p:txBody>
          <a:bodyPr wrap="square" lIns="0" tIns="0" rIns="0" bIns="0" rtlCol="0" anchor="ctr"/>
          <a:lstStyle/>
          <a:p>
            <a:pPr marL="0" indent="0">
              <a:buNone/>
            </a:pPr>
            <a:r>
              <a:rPr lang="en-US" sz="1300" b="1" dirty="0">
                <a:solidFill>
                  <a:srgbClr val="F59E0B"/>
                </a:solidFill>
                <a:latin typeface="Calibri" pitchFamily="34" charset="0"/>
                <a:ea typeface="Calibri" pitchFamily="34" charset="-122"/>
                <a:cs typeface="Calibri" pitchFamily="34" charset="-120"/>
              </a:rPr>
              <a:t>You will:</a:t>
            </a:r>
            <a:endParaRPr lang="en-US" sz="1300" dirty="0"/>
          </a:p>
        </p:txBody>
      </p:sp>
      <p:sp>
        <p:nvSpPr>
          <p:cNvPr id="7" name="Text 5"/>
          <p:cNvSpPr/>
          <p:nvPr/>
        </p:nvSpPr>
        <p:spPr>
          <a:xfrm>
            <a:off x="365760" y="1188720"/>
            <a:ext cx="4114800" cy="2560320"/>
          </a:xfrm>
          <a:prstGeom prst="rect">
            <a:avLst/>
          </a:prstGeom>
          <a:noFill/>
          <a:ln/>
        </p:spPr>
        <p:txBody>
          <a:bodyPr wrap="square" rtlCol="0" anchor="t"/>
          <a:lstStyle/>
          <a:p>
            <a:pPr marL="342900" indent="-342900">
              <a:buSzPct val="100000"/>
              <a:buChar char="•"/>
            </a:pPr>
            <a:r>
              <a:rPr lang="en-US" sz="1300" dirty="0">
                <a:solidFill>
                  <a:srgbClr val="B8D4E8"/>
                </a:solidFill>
                <a:latin typeface="Calibri" pitchFamily="34" charset="0"/>
                <a:ea typeface="Calibri" pitchFamily="34" charset="-122"/>
                <a:cs typeface="Calibri" pitchFamily="34" charset="-120"/>
              </a:rPr>
              <a:t>Create a Book class with encapsulated state</a:t>
            </a:r>
            <a:endParaRPr lang="en-US" sz="1300" dirty="0"/>
          </a:p>
          <a:p>
            <a:pPr marL="342900" indent="-342900">
              <a:buSzPct val="100000"/>
              <a:buChar char="•"/>
            </a:pPr>
            <a:r>
              <a:rPr lang="en-US" sz="1300" dirty="0">
                <a:solidFill>
                  <a:srgbClr val="B8D4E8"/>
                </a:solidFill>
                <a:latin typeface="Calibri" pitchFamily="34" charset="0"/>
                <a:ea typeface="Calibri" pitchFamily="34" charset="-122"/>
                <a:cs typeface="Calibri" pitchFamily="34" charset="-120"/>
              </a:rPr>
              <a:t>Build a console menu that uses Book objects</a:t>
            </a:r>
            <a:endParaRPr lang="en-US" sz="1300" dirty="0"/>
          </a:p>
          <a:p>
            <a:pPr marL="342900" indent="-342900">
              <a:buSzPct val="100000"/>
              <a:buChar char="•"/>
            </a:pPr>
            <a:r>
              <a:rPr lang="en-US" sz="1300" dirty="0">
                <a:solidFill>
                  <a:srgbClr val="B8D4E8"/>
                </a:solidFill>
                <a:latin typeface="Calibri" pitchFamily="34" charset="0"/>
                <a:ea typeface="Calibri" pitchFamily="34" charset="-122"/>
                <a:cs typeface="Calibri" pitchFamily="34" charset="-120"/>
              </a:rPr>
              <a:t>Add a media hierarchy (Book + Dvd + Magazine)</a:t>
            </a:r>
            <a:endParaRPr lang="en-US" sz="1300" dirty="0"/>
          </a:p>
          <a:p>
            <a:pPr marL="342900" indent="-342900">
              <a:buSzPct val="100000"/>
              <a:buChar char="•"/>
            </a:pPr>
            <a:r>
              <a:rPr lang="en-US" sz="1300" dirty="0">
                <a:solidFill>
                  <a:srgbClr val="B8D4E8"/>
                </a:solidFill>
                <a:latin typeface="Calibri" pitchFamily="34" charset="0"/>
                <a:ea typeface="Calibri" pitchFamily="34" charset="-122"/>
                <a:cs typeface="Calibri" pitchFamily="34" charset="-120"/>
              </a:rPr>
              <a:t>Demonstrate polymorphism with one foreach loop</a:t>
            </a:r>
            <a:endParaRPr lang="en-US" sz="1300" dirty="0"/>
          </a:p>
        </p:txBody>
      </p:sp>
      <p:sp>
        <p:nvSpPr>
          <p:cNvPr id="8" name="Shape 6"/>
          <p:cNvSpPr/>
          <p:nvPr/>
        </p:nvSpPr>
        <p:spPr>
          <a:xfrm>
            <a:off x="4617720" y="841248"/>
            <a:ext cx="18288" cy="3200400"/>
          </a:xfrm>
          <a:prstGeom prst="rect">
            <a:avLst/>
          </a:prstGeom>
          <a:solidFill>
            <a:srgbClr val="F59E0B">
              <a:alpha val="30000"/>
            </a:srgbClr>
          </a:solidFill>
          <a:ln w="12700">
            <a:solidFill>
              <a:srgbClr val="F59E0B">
                <a:alpha val="30000"/>
              </a:srgbClr>
            </a:solidFill>
            <a:prstDash val="solid"/>
          </a:ln>
        </p:spPr>
        <p:txBody>
          <a:bodyPr/>
          <a:lstStyle/>
          <a:p>
            <a:endParaRPr/>
          </a:p>
        </p:txBody>
      </p:sp>
      <p:sp>
        <p:nvSpPr>
          <p:cNvPr id="9" name="Text 7"/>
          <p:cNvSpPr/>
          <p:nvPr/>
        </p:nvSpPr>
        <p:spPr>
          <a:xfrm>
            <a:off x="4754880" y="841248"/>
            <a:ext cx="4114800" cy="329184"/>
          </a:xfrm>
          <a:prstGeom prst="rect">
            <a:avLst/>
          </a:prstGeom>
          <a:noFill/>
          <a:ln/>
        </p:spPr>
        <p:txBody>
          <a:bodyPr wrap="square" lIns="0" tIns="0" rIns="0" bIns="0" rtlCol="0" anchor="ctr"/>
          <a:lstStyle/>
          <a:p>
            <a:pPr marL="0" indent="0">
              <a:buNone/>
            </a:pPr>
            <a:r>
              <a:rPr lang="en-US" sz="1300" b="1" dirty="0">
                <a:solidFill>
                  <a:srgbClr val="F59E0B"/>
                </a:solidFill>
                <a:latin typeface="Calibri" pitchFamily="34" charset="0"/>
                <a:ea typeface="Calibri" pitchFamily="34" charset="-122"/>
                <a:cs typeface="Calibri" pitchFamily="34" charset="-120"/>
              </a:rPr>
              <a:t>Steps:</a:t>
            </a:r>
            <a:endParaRPr lang="en-US" sz="1300" dirty="0"/>
          </a:p>
        </p:txBody>
      </p:sp>
      <p:sp>
        <p:nvSpPr>
          <p:cNvPr id="10" name="Text 8"/>
          <p:cNvSpPr/>
          <p:nvPr/>
        </p:nvSpPr>
        <p:spPr>
          <a:xfrm>
            <a:off x="4754880" y="1188720"/>
            <a:ext cx="4114800" cy="2560320"/>
          </a:xfrm>
          <a:prstGeom prst="rect">
            <a:avLst/>
          </a:prstGeom>
          <a:noFill/>
          <a:ln/>
        </p:spPr>
        <p:txBody>
          <a:bodyPr wrap="square" rtlCol="0" anchor="t"/>
          <a:lstStyle/>
          <a:p>
            <a:pPr marL="342900" indent="-342900">
              <a:buSzPct val="100000"/>
              <a:buChar char="•"/>
            </a:pPr>
            <a:r>
              <a:rPr lang="en-US" sz="1300" dirty="0">
                <a:solidFill>
                  <a:srgbClr val="B8D4E8"/>
                </a:solidFill>
                <a:latin typeface="Calibri" pitchFamily="34" charset="0"/>
                <a:ea typeface="Calibri" pitchFamily="34" charset="-122"/>
                <a:cs typeface="Calibri" pitchFamily="34" charset="-120"/>
              </a:rPr>
              <a:t>Create Book class: Title, Author, IsCheckedOut (private set)</a:t>
            </a:r>
            <a:endParaRPr lang="en-US" sz="1300" dirty="0"/>
          </a:p>
          <a:p>
            <a:pPr marL="342900" indent="-342900">
              <a:buSzPct val="100000"/>
              <a:buChar char="•"/>
            </a:pPr>
            <a:r>
              <a:rPr lang="en-US" sz="1300" dirty="0">
                <a:solidFill>
                  <a:srgbClr val="B8D4E8"/>
                </a:solidFill>
                <a:latin typeface="Calibri" pitchFamily="34" charset="0"/>
                <a:ea typeface="Calibri" pitchFamily="34" charset="-122"/>
                <a:cs typeface="Calibri" pitchFamily="34" charset="-120"/>
              </a:rPr>
              <a:t>Methods: Checkout(), Return(), StatusLine()</a:t>
            </a:r>
            <a:endParaRPr lang="en-US" sz="1300" dirty="0"/>
          </a:p>
          <a:p>
            <a:pPr marL="342900" indent="-342900">
              <a:buSzPct val="100000"/>
              <a:buChar char="•"/>
            </a:pPr>
            <a:r>
              <a:rPr lang="en-US" sz="1300" dirty="0">
                <a:solidFill>
                  <a:srgbClr val="B8D4E8"/>
                </a:solidFill>
                <a:latin typeface="Calibri" pitchFamily="34" charset="0"/>
                <a:ea typeface="Calibri" pitchFamily="34" charset="-122"/>
                <a:cs typeface="Calibri" pitchFamily="34" charset="-120"/>
              </a:rPr>
              <a:t>Replace parallel arrays with List&lt;Book&gt;</a:t>
            </a:r>
            <a:endParaRPr lang="en-US" sz="1300" dirty="0"/>
          </a:p>
          <a:p>
            <a:pPr marL="342900" indent="-342900">
              <a:buSzPct val="100000"/>
              <a:buChar char="•"/>
            </a:pPr>
            <a:r>
              <a:rPr lang="en-US" sz="1300" dirty="0">
                <a:solidFill>
                  <a:srgbClr val="B8D4E8"/>
                </a:solidFill>
                <a:latin typeface="Calibri" pitchFamily="34" charset="0"/>
                <a:ea typeface="Calibri" pitchFamily="34" charset="-122"/>
                <a:cs typeface="Calibri" pitchFamily="34" charset="-120"/>
              </a:rPr>
              <a:t>Add abstract LibraryItem base class</a:t>
            </a:r>
            <a:endParaRPr lang="en-US" sz="1300" dirty="0"/>
          </a:p>
          <a:p>
            <a:pPr marL="342900" indent="-342900">
              <a:buSzPct val="100000"/>
              <a:buChar char="•"/>
            </a:pPr>
            <a:r>
              <a:rPr lang="en-US" sz="1300" dirty="0">
                <a:solidFill>
                  <a:srgbClr val="B8D4E8"/>
                </a:solidFill>
                <a:latin typeface="Calibri" pitchFamily="34" charset="0"/>
                <a:ea typeface="Calibri" pitchFamily="34" charset="-122"/>
                <a:cs typeface="Calibri" pitchFamily="34" charset="-120"/>
              </a:rPr>
              <a:t>Create Dvd (7 days) and Magazine (3 days) subclasses</a:t>
            </a:r>
            <a:endParaRPr lang="en-US" sz="1300" dirty="0"/>
          </a:p>
          <a:p>
            <a:pPr marL="342900" indent="-342900">
              <a:buSzPct val="100000"/>
              <a:buChar char="•"/>
            </a:pPr>
            <a:r>
              <a:rPr lang="en-US" sz="1300" dirty="0">
                <a:solidFill>
                  <a:srgbClr val="B8D4E8"/>
                </a:solidFill>
                <a:latin typeface="Calibri" pitchFamily="34" charset="0"/>
                <a:ea typeface="Calibri" pitchFamily="34" charset="-122"/>
                <a:cs typeface="Calibri" pitchFamily="34" charset="-120"/>
              </a:rPr>
              <a:t>Seed the list with 2 Books + 1 Dvd + 1 Magazine</a:t>
            </a:r>
            <a:endParaRPr lang="en-US" sz="1300" dirty="0"/>
          </a:p>
        </p:txBody>
      </p:sp>
      <p:sp>
        <p:nvSpPr>
          <p:cNvPr id="11" name="Shape 9"/>
          <p:cNvSpPr/>
          <p:nvPr/>
        </p:nvSpPr>
        <p:spPr>
          <a:xfrm>
            <a:off x="274320" y="4023360"/>
            <a:ext cx="8595360" cy="685800"/>
          </a:xfrm>
          <a:prstGeom prst="rect">
            <a:avLst/>
          </a:prstGeom>
          <a:solidFill>
            <a:srgbClr val="0A2040"/>
          </a:solidFill>
          <a:ln w="12700">
            <a:solidFill>
              <a:srgbClr val="00C2CB">
                <a:alpha val="50000"/>
              </a:srgbClr>
            </a:solidFill>
            <a:prstDash val="solid"/>
          </a:ln>
          <a:effectLst>
            <a:outerShdw blurRad="63500" dist="25400" dir="8100000" algn="bl" rotWithShape="0">
              <a:srgbClr val="000000">
                <a:alpha val="18000"/>
              </a:srgbClr>
            </a:outerShdw>
          </a:effectLst>
        </p:spPr>
        <p:txBody>
          <a:bodyPr/>
          <a:lstStyle/>
          <a:p>
            <a:endParaRPr/>
          </a:p>
        </p:txBody>
      </p:sp>
      <p:sp>
        <p:nvSpPr>
          <p:cNvPr id="12" name="Text 10"/>
          <p:cNvSpPr/>
          <p:nvPr/>
        </p:nvSpPr>
        <p:spPr>
          <a:xfrm>
            <a:off x="457200" y="4096512"/>
            <a:ext cx="8229600" cy="502920"/>
          </a:xfrm>
          <a:prstGeom prst="rect">
            <a:avLst/>
          </a:prstGeom>
          <a:noFill/>
          <a:ln/>
        </p:spPr>
        <p:txBody>
          <a:bodyPr wrap="square" lIns="0" tIns="0" rIns="0" bIns="0" rtlCol="0" anchor="ctr"/>
          <a:lstStyle/>
          <a:p>
            <a:pPr marL="0" indent="0">
              <a:buNone/>
            </a:pPr>
            <a:r>
              <a:rPr lang="en-US" sz="1150" i="1" dirty="0">
                <a:solidFill>
                  <a:srgbClr val="B8D4E8"/>
                </a:solidFill>
                <a:latin typeface="Calibri" pitchFamily="34" charset="0"/>
                <a:ea typeface="Calibri" pitchFamily="34" charset="-122"/>
                <a:cs typeface="Calibri" pitchFamily="34" charset="-120"/>
              </a:rPr>
              <a:t>💡 Instructor tip: If students are behind, provide Solutions_Beginner.cs as a starting point for the hierarchy part.</a:t>
            </a:r>
            <a:endParaRPr lang="en-US" sz="11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1">
    <p:bg>
      <p:bgPr>
        <a:solidFill>
          <a:srgbClr val="0F2040"/>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0C2CB"/>
          </a:solidFill>
          <a:ln w="12700">
            <a:solidFill>
              <a:srgbClr val="00C2CB"/>
            </a:solidFill>
            <a:prstDash val="solid"/>
          </a:ln>
        </p:spPr>
        <p:txBody>
          <a:bodyPr/>
          <a:lstStyle/>
          <a:p>
            <a:endParaRPr/>
          </a:p>
        </p:txBody>
      </p:sp>
      <p:sp>
        <p:nvSpPr>
          <p:cNvPr id="3" name="Text 1"/>
          <p:cNvSpPr/>
          <p:nvPr/>
        </p:nvSpPr>
        <p:spPr>
          <a:xfrm>
            <a:off x="457200" y="73152"/>
            <a:ext cx="2743200" cy="411480"/>
          </a:xfrm>
          <a:prstGeom prst="rect">
            <a:avLst/>
          </a:prstGeom>
          <a:noFill/>
          <a:ln/>
        </p:spPr>
        <p:txBody>
          <a:bodyPr wrap="square" lIns="0" tIns="0" rIns="0" bIns="0" rtlCol="0" anchor="ctr"/>
          <a:lstStyle/>
          <a:p>
            <a:pPr marL="0" indent="0">
              <a:buNone/>
            </a:pPr>
            <a:r>
              <a:rPr lang="en-US" sz="1300" b="1" dirty="0">
                <a:solidFill>
                  <a:srgbClr val="0A1628"/>
                </a:solidFill>
                <a:latin typeface="Calibri" pitchFamily="34" charset="0"/>
                <a:ea typeface="Calibri" pitchFamily="34" charset="-122"/>
                <a:cs typeface="Calibri" pitchFamily="34" charset="-120"/>
              </a:rPr>
              <a:t>SECTION 4</a:t>
            </a:r>
            <a:endParaRPr lang="en-US" sz="1300" dirty="0"/>
          </a:p>
        </p:txBody>
      </p:sp>
      <p:sp>
        <p:nvSpPr>
          <p:cNvPr id="4" name="Text 2"/>
          <p:cNvSpPr/>
          <p:nvPr/>
        </p:nvSpPr>
        <p:spPr>
          <a:xfrm>
            <a:off x="6858000" y="73152"/>
            <a:ext cx="1828800" cy="411480"/>
          </a:xfrm>
          <a:prstGeom prst="rect">
            <a:avLst/>
          </a:prstGeom>
          <a:noFill/>
          <a:ln/>
        </p:spPr>
        <p:txBody>
          <a:bodyPr wrap="square" lIns="0" tIns="0" rIns="0" bIns="0" rtlCol="0" anchor="ctr"/>
          <a:lstStyle/>
          <a:p>
            <a:pPr marL="0" indent="0" algn="r">
              <a:buNone/>
            </a:pPr>
            <a:r>
              <a:rPr lang="en-US" sz="1200" dirty="0">
                <a:solidFill>
                  <a:srgbClr val="0A1628"/>
                </a:solidFill>
                <a:latin typeface="Calibri" pitchFamily="34" charset="0"/>
                <a:ea typeface="Calibri" pitchFamily="34" charset="-122"/>
                <a:cs typeface="Calibri" pitchFamily="34" charset="-120"/>
              </a:rPr>
              <a:t>11:05 – 11:30  (25 min)</a:t>
            </a:r>
            <a:endParaRPr lang="en-US" sz="1200" dirty="0"/>
          </a:p>
        </p:txBody>
      </p:sp>
      <p:sp>
        <p:nvSpPr>
          <p:cNvPr id="5" name="Text 3"/>
          <p:cNvSpPr/>
          <p:nvPr/>
        </p:nvSpPr>
        <p:spPr>
          <a:xfrm>
            <a:off x="457200" y="502920"/>
            <a:ext cx="8229600" cy="502920"/>
          </a:xfrm>
          <a:prstGeom prst="rect">
            <a:avLst/>
          </a:prstGeom>
          <a:noFill/>
          <a:ln/>
        </p:spPr>
        <p:txBody>
          <a:bodyPr wrap="square" lIns="0" tIns="0" rIns="0" bIns="0" rtlCol="0" anchor="ctr"/>
          <a:lstStyle/>
          <a:p>
            <a:pPr marL="0" indent="0">
              <a:buNone/>
            </a:pPr>
            <a:r>
              <a:rPr lang="en-US" sz="2400" b="1" dirty="0">
                <a:solidFill>
                  <a:srgbClr val="0A1628"/>
                </a:solidFill>
                <a:latin typeface="Calibri" pitchFamily="34" charset="0"/>
                <a:ea typeface="Calibri" pitchFamily="34" charset="-122"/>
                <a:cs typeface="Calibri" pitchFamily="34" charset="-120"/>
              </a:rPr>
              <a:t>Interfaces &amp; Generics</a:t>
            </a:r>
            <a:endParaRPr lang="en-US" sz="2400" dirty="0"/>
          </a:p>
        </p:txBody>
      </p:sp>
      <p:sp>
        <p:nvSpPr>
          <p:cNvPr id="6" name="Text 4"/>
          <p:cNvSpPr/>
          <p:nvPr/>
        </p:nvSpPr>
        <p:spPr>
          <a:xfrm>
            <a:off x="457200" y="1234440"/>
            <a:ext cx="8229600" cy="3657600"/>
          </a:xfrm>
          <a:prstGeom prst="rect">
            <a:avLst/>
          </a:prstGeom>
          <a:noFill/>
          <a:ln/>
        </p:spPr>
        <p:txBody>
          <a:bodyPr wrap="square" rtlCol="0" anchor="t"/>
          <a:lstStyle/>
          <a:p>
            <a:pPr marL="342900" indent="-342900">
              <a:buSzPct val="100000"/>
              <a:buChar char="•"/>
            </a:pPr>
            <a:r>
              <a:rPr lang="en-US" sz="1400" dirty="0">
                <a:solidFill>
                  <a:srgbClr val="B8D4E8"/>
                </a:solidFill>
                <a:latin typeface="Calibri" pitchFamily="34" charset="0"/>
                <a:ea typeface="Calibri" pitchFamily="34" charset="-122"/>
                <a:cs typeface="Calibri" pitchFamily="34" charset="-120"/>
              </a:rPr>
              <a:t>Interfaces — contracts for what a type can DO</a:t>
            </a:r>
            <a:endParaRPr lang="en-US" sz="1400" dirty="0"/>
          </a:p>
          <a:p>
            <a:pPr marL="342900" indent="-342900">
              <a:buSzPct val="100000"/>
              <a:buChar char="•"/>
            </a:pPr>
            <a:r>
              <a:rPr lang="en-US" sz="1400" dirty="0">
                <a:solidFill>
                  <a:srgbClr val="B8D4E8"/>
                </a:solidFill>
                <a:latin typeface="Calibri" pitchFamily="34" charset="0"/>
                <a:ea typeface="Calibri" pitchFamily="34" charset="-122"/>
                <a:cs typeface="Calibri" pitchFamily="34" charset="-120"/>
              </a:rPr>
              <a:t>Implementing multiple interfaces</a:t>
            </a:r>
            <a:endParaRPr lang="en-US" sz="1400" dirty="0"/>
          </a:p>
          <a:p>
            <a:pPr marL="342900" indent="-342900">
              <a:buSzPct val="100000"/>
              <a:buChar char="•"/>
            </a:pPr>
            <a:r>
              <a:rPr lang="en-US" sz="1400" dirty="0">
                <a:solidFill>
                  <a:srgbClr val="B8D4E8"/>
                </a:solidFill>
                <a:latin typeface="Calibri" pitchFamily="34" charset="0"/>
                <a:ea typeface="Calibri" pitchFamily="34" charset="-122"/>
                <a:cs typeface="Calibri" pitchFamily="34" charset="-120"/>
              </a:rPr>
              <a:t>Generic types — write once, use for any type</a:t>
            </a:r>
            <a:endParaRPr lang="en-US" sz="1400" dirty="0"/>
          </a:p>
          <a:p>
            <a:pPr marL="342900" indent="-342900">
              <a:buSzPct val="100000"/>
              <a:buChar char="•"/>
            </a:pPr>
            <a:r>
              <a:rPr lang="en-US" sz="1400" dirty="0">
                <a:solidFill>
                  <a:srgbClr val="B8D4E8"/>
                </a:solidFill>
                <a:latin typeface="Calibri" pitchFamily="34" charset="0"/>
                <a:ea typeface="Calibri" pitchFamily="34" charset="-122"/>
                <a:cs typeface="Calibri" pitchFamily="34" charset="-120"/>
              </a:rPr>
              <a:t>Day 1 recap and preview of Day 2</a:t>
            </a:r>
            <a:endParaRPr lang="en-US" sz="1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713232"/>
          </a:xfrm>
          <a:prstGeom prst="rect">
            <a:avLst/>
          </a:prstGeom>
          <a:solidFill>
            <a:srgbClr val="1429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13232"/>
            <a:ext cx="9144000" cy="45720"/>
          </a:xfrm>
          <a:prstGeom prst="rect">
            <a:avLst/>
          </a:prstGeom>
          <a:solidFill>
            <a:srgbClr val="00C2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91440"/>
            <a:ext cx="8412480" cy="548640"/>
          </a:xfrm>
          <a:prstGeom prst="rect">
            <a:avLst/>
          </a:prstGeom>
          <a:noFill/>
        </p:spPr>
        <p:txBody>
          <a:bodyPr wrap="square">
            <a:spAutoFit/>
          </a:bodyPr>
          <a:lstStyle/>
          <a:p>
            <a:r>
              <a:rPr sz="2100" b="1">
                <a:solidFill>
                  <a:srgbClr val="FFFFFF"/>
                </a:solidFill>
                <a:latin typeface="Calibri"/>
              </a:rPr>
              <a:t>Before Interfaces: A Real-World Problem</a:t>
            </a:r>
          </a:p>
        </p:txBody>
      </p:sp>
      <p:sp>
        <p:nvSpPr>
          <p:cNvPr id="5" name="TextBox 4"/>
          <p:cNvSpPr txBox="1"/>
          <p:nvPr/>
        </p:nvSpPr>
        <p:spPr>
          <a:xfrm>
            <a:off x="365760" y="868680"/>
            <a:ext cx="8412480" cy="4023360"/>
          </a:xfrm>
          <a:prstGeom prst="rect">
            <a:avLst/>
          </a:prstGeom>
          <a:noFill/>
        </p:spPr>
        <p:txBody>
          <a:bodyPr wrap="square">
            <a:spAutoFit/>
          </a:bodyPr>
          <a:lstStyle/>
          <a:p>
            <a:pPr>
              <a:spcAft>
                <a:spcPts val="1000"/>
              </a:spcAft>
            </a:pPr>
            <a:r>
              <a:rPr sz="1500">
                <a:solidFill>
                  <a:srgbClr val="B8D4E8"/>
                </a:solidFill>
                <a:latin typeface="Calibri"/>
              </a:rPr>
              <a:t>•  Think about a wall outlet in your house. You don't know how the electricity is generated, what the wiring looks like behind the wall, or which power plant it came from.</a:t>
            </a:r>
          </a:p>
          <a:p>
            <a:pPr>
              <a:spcAft>
                <a:spcPts val="1000"/>
              </a:spcAft>
            </a:pPr>
            <a:r>
              <a:rPr sz="1500">
                <a:solidFill>
                  <a:srgbClr val="B8D4E8"/>
                </a:solidFill>
                <a:latin typeface="Calibri"/>
              </a:rPr>
              <a:t>•  You only need ONE thing: a plug that fits the socket. Anything that fits — a lamp, a phone charger, a vacuum — works, because they all agree on the SAME shape of plug.</a:t>
            </a:r>
          </a:p>
          <a:p>
            <a:pPr>
              <a:spcAft>
                <a:spcPts val="1000"/>
              </a:spcAft>
            </a:pPr>
            <a:r>
              <a:rPr sz="1500">
                <a:solidFill>
                  <a:srgbClr val="B8D4E8"/>
                </a:solidFill>
                <a:latin typeface="Calibri"/>
              </a:rPr>
              <a:t>•  That agreement — "this is the exact shape every plug must have" — is the contract. The wall doesn't care what's plugged in. The plug doesn't care how electricity is made.</a:t>
            </a:r>
          </a:p>
          <a:p>
            <a:pPr>
              <a:spcAft>
                <a:spcPts val="1000"/>
              </a:spcAft>
            </a:pPr>
            <a:r>
              <a:rPr sz="1500">
                <a:solidFill>
                  <a:srgbClr val="B8D4E8"/>
                </a:solidFill>
                <a:latin typeface="Calibri"/>
              </a:rPr>
              <a:t>•  In C#, we run into the same problem constantly: "I have some code that needs to USE something, but I don't want it to care exactly WHICH something, as long as it can do the one job I need."</a:t>
            </a:r>
          </a:p>
          <a:p>
            <a:pPr>
              <a:spcAft>
                <a:spcPts val="1000"/>
              </a:spcAft>
            </a:pPr>
            <a:r>
              <a:rPr sz="1500">
                <a:solidFill>
                  <a:srgbClr val="B8D4E8"/>
                </a:solidFill>
                <a:latin typeface="Calibri"/>
              </a:rPr>
              <a:t>•  An interface is how we write down that "shape" in C# — the plug shape, not the appliance.</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621792"/>
          </a:xfrm>
          <a:prstGeom prst="rect">
            <a:avLst/>
          </a:prstGeom>
          <a:solidFill>
            <a:srgbClr val="0D15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21792"/>
            <a:ext cx="9144000" cy="36576"/>
          </a:xfrm>
          <a:prstGeom prst="rect">
            <a:avLst/>
          </a:prstGeom>
          <a:solidFill>
            <a:srgbClr val="00C2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0040" y="64008"/>
            <a:ext cx="8503920" cy="502920"/>
          </a:xfrm>
          <a:prstGeom prst="rect">
            <a:avLst/>
          </a:prstGeom>
          <a:noFill/>
        </p:spPr>
        <p:txBody>
          <a:bodyPr wrap="square">
            <a:spAutoFit/>
          </a:bodyPr>
          <a:lstStyle/>
          <a:p>
            <a:r>
              <a:rPr sz="1700" b="1">
                <a:solidFill>
                  <a:srgbClr val="00C2CB"/>
                </a:solidFill>
                <a:latin typeface="Calibri"/>
              </a:rPr>
              <a:t>⌨  An Interface in Its Simplest Form</a:t>
            </a:r>
          </a:p>
        </p:txBody>
      </p:sp>
      <p:sp>
        <p:nvSpPr>
          <p:cNvPr id="5" name="TextBox 4"/>
          <p:cNvSpPr txBox="1"/>
          <p:nvPr/>
        </p:nvSpPr>
        <p:spPr>
          <a:xfrm>
            <a:off x="274320" y="713232"/>
            <a:ext cx="8595360" cy="3327400"/>
          </a:xfrm>
          <a:prstGeom prst="rect">
            <a:avLst/>
          </a:prstGeom>
          <a:noFill/>
        </p:spPr>
        <p:txBody>
          <a:bodyPr wrap="square">
            <a:spAutoFit/>
          </a:bodyPr>
          <a:lstStyle/>
          <a:p>
            <a:r>
              <a:rPr sz="1200">
                <a:solidFill>
                  <a:srgbClr val="A8D8F0"/>
                </a:solidFill>
                <a:latin typeface="Courier New"/>
              </a:rPr>
              <a:t>// An interface lists method NAMES and SIGNATURES only.</a:t>
            </a:r>
          </a:p>
          <a:p>
            <a:r>
              <a:rPr sz="1200">
                <a:solidFill>
                  <a:srgbClr val="A8D8F0"/>
                </a:solidFill>
                <a:latin typeface="Courier New"/>
              </a:rPr>
              <a:t>// No method bodies. No logic. Just a promise of what exists.</a:t>
            </a:r>
          </a:p>
          <a:p>
            <a:r>
              <a:rPr sz="1200">
                <a:solidFill>
                  <a:srgbClr val="A8D8F0"/>
                </a:solidFill>
                <a:latin typeface="Courier New"/>
              </a:rPr>
              <a:t>public interface IGreeter</a:t>
            </a:r>
          </a:p>
          <a:p>
            <a:r>
              <a:rPr sz="1200">
                <a:solidFill>
                  <a:srgbClr val="A8D8F0"/>
                </a:solidFill>
                <a:latin typeface="Courier New"/>
              </a:rPr>
              <a:t>{</a:t>
            </a:r>
          </a:p>
          <a:p>
            <a:r>
              <a:rPr sz="1200">
                <a:solidFill>
                  <a:srgbClr val="A8D8F0"/>
                </a:solidFill>
                <a:latin typeface="Courier New"/>
              </a:rPr>
              <a:t>    string SayHello();   // "any class that IS an IGreeter</a:t>
            </a:r>
          </a:p>
          <a:p>
            <a:r>
              <a:rPr sz="1200">
                <a:solidFill>
                  <a:srgbClr val="A8D8F0"/>
                </a:solidFill>
                <a:latin typeface="Courier New"/>
              </a:rPr>
              <a:t>                         //  MUST have a SayHello method"</a:t>
            </a:r>
          </a:p>
          <a:p>
            <a:r>
              <a:rPr sz="1200">
                <a:solidFill>
                  <a:srgbClr val="A8D8F0"/>
                </a:solidFill>
                <a:latin typeface="Courier New"/>
              </a:rPr>
              <a:t>}</a:t>
            </a:r>
          </a:p>
          <a:p>
            <a:endParaRPr sz="1200">
              <a:solidFill>
                <a:srgbClr val="A8D8F0"/>
              </a:solidFill>
              <a:latin typeface="Courier New"/>
            </a:endParaRPr>
          </a:p>
          <a:p>
            <a:r>
              <a:rPr sz="1200">
                <a:solidFill>
                  <a:srgbClr val="A8D8F0"/>
                </a:solidFill>
                <a:latin typeface="Courier New"/>
              </a:rPr>
              <a:t>// A class FULFILLS the interface using the colon, just like inheritance:</a:t>
            </a:r>
          </a:p>
          <a:p>
            <a:r>
              <a:rPr sz="1200" b="1">
                <a:solidFill>
                  <a:srgbClr val="FFC107"/>
                </a:solidFill>
                <a:latin typeface="Courier New"/>
              </a:rPr>
              <a:t>public class EnglishGreeter : IGreeter</a:t>
            </a:r>
          </a:p>
          <a:p>
            <a:r>
              <a:rPr sz="1200">
                <a:solidFill>
                  <a:srgbClr val="A8D8F0"/>
                </a:solidFill>
                <a:latin typeface="Courier New"/>
              </a:rPr>
              <a:t>{</a:t>
            </a:r>
          </a:p>
          <a:p>
            <a:r>
              <a:rPr sz="1200">
                <a:solidFill>
                  <a:srgbClr val="A8D8F0"/>
                </a:solidFill>
                <a:latin typeface="Courier New"/>
              </a:rPr>
              <a:t>    public string SayHello() =&gt; "Hello!";</a:t>
            </a:r>
          </a:p>
          <a:p>
            <a:r>
              <a:rPr sz="1200">
                <a:solidFill>
                  <a:srgbClr val="A8D8F0"/>
                </a:solidFill>
                <a:latin typeface="Courier New"/>
              </a:rPr>
              <a:t>}</a:t>
            </a:r>
          </a:p>
          <a:p>
            <a:endParaRPr sz="1200">
              <a:solidFill>
                <a:srgbClr val="A8D8F0"/>
              </a:solidFill>
              <a:latin typeface="Courier New"/>
            </a:endParaRPr>
          </a:p>
          <a:p>
            <a:r>
              <a:rPr sz="1200" b="1">
                <a:solidFill>
                  <a:srgbClr val="FFC107"/>
                </a:solidFill>
                <a:latin typeface="Courier New"/>
              </a:rPr>
              <a:t>public class SpanishGreeter : IGreeter</a:t>
            </a:r>
          </a:p>
          <a:p>
            <a:r>
              <a:rPr sz="1200">
                <a:solidFill>
                  <a:srgbClr val="A8D8F0"/>
                </a:solidFill>
                <a:latin typeface="Courier New"/>
              </a:rPr>
              <a:t>{</a:t>
            </a:r>
          </a:p>
          <a:p>
            <a:r>
              <a:rPr sz="1200">
                <a:solidFill>
                  <a:srgbClr val="A8D8F0"/>
                </a:solidFill>
                <a:latin typeface="Courier New"/>
              </a:rPr>
              <a:t>    public string SayHello() =&gt; "¡Hola!";</a:t>
            </a:r>
          </a:p>
          <a:p>
            <a:r>
              <a:rPr sz="1200">
                <a:solidFill>
                  <a:srgbClr val="A8D8F0"/>
                </a:solidFill>
                <a:latin typeface="Courier New"/>
              </a:rPr>
              <a:t>}</a:t>
            </a:r>
          </a:p>
        </p:txBody>
      </p:sp>
      <p:sp>
        <p:nvSpPr>
          <p:cNvPr id="6" name="TextBox 5"/>
          <p:cNvSpPr txBox="1"/>
          <p:nvPr/>
        </p:nvSpPr>
        <p:spPr>
          <a:xfrm>
            <a:off x="274320" y="4040760"/>
            <a:ext cx="8595360" cy="700000"/>
          </a:xfrm>
          <a:prstGeom prst="rect">
            <a:avLst/>
          </a:prstGeom>
          <a:noFill/>
        </p:spPr>
        <p:txBody>
          <a:bodyPr wrap="square">
            <a:spAutoFit/>
          </a:bodyPr>
          <a:lstStyle/>
          <a:p>
            <a:r>
              <a:rPr sz="1100" i="1">
                <a:solidFill>
                  <a:srgbClr val="6B93B0"/>
                </a:solidFill>
                <a:latin typeface="Calibri"/>
              </a:rPr>
              <a:t>💡 The interface has ZERO code inside it. It only says what method must exist. Each class decides HOW to actually do it.</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621792"/>
          </a:xfrm>
          <a:prstGeom prst="rect">
            <a:avLst/>
          </a:prstGeom>
          <a:solidFill>
            <a:srgbClr val="0D15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21792"/>
            <a:ext cx="9144000" cy="365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0040" y="64008"/>
            <a:ext cx="8503920" cy="502920"/>
          </a:xfrm>
          <a:prstGeom prst="rect">
            <a:avLst/>
          </a:prstGeom>
          <a:noFill/>
        </p:spPr>
        <p:txBody>
          <a:bodyPr wrap="square">
            <a:spAutoFit/>
          </a:bodyPr>
          <a:lstStyle/>
          <a:p>
            <a:r>
              <a:rPr sz="1700" b="1">
                <a:solidFill>
                  <a:srgbClr val="F59E0B"/>
                </a:solidFill>
                <a:latin typeface="Calibri"/>
              </a:rPr>
              <a:t>⌨  Why Bother? One Variable, Many Possibilities</a:t>
            </a:r>
          </a:p>
        </p:txBody>
      </p:sp>
      <p:sp>
        <p:nvSpPr>
          <p:cNvPr id="5" name="TextBox 4"/>
          <p:cNvSpPr txBox="1"/>
          <p:nvPr/>
        </p:nvSpPr>
        <p:spPr>
          <a:xfrm>
            <a:off x="274320" y="713232"/>
            <a:ext cx="8595360" cy="3327400"/>
          </a:xfrm>
          <a:prstGeom prst="rect">
            <a:avLst/>
          </a:prstGeom>
          <a:noFill/>
        </p:spPr>
        <p:txBody>
          <a:bodyPr wrap="square">
            <a:spAutoFit/>
          </a:bodyPr>
          <a:lstStyle/>
          <a:p>
            <a:r>
              <a:rPr sz="1200">
                <a:solidFill>
                  <a:srgbClr val="A8D8F0"/>
                </a:solidFill>
                <a:latin typeface="Courier New"/>
              </a:rPr>
              <a:t>// Without an interface, you'd need to know the EXACT class:</a:t>
            </a:r>
          </a:p>
          <a:p>
            <a:r>
              <a:rPr sz="1200">
                <a:solidFill>
                  <a:srgbClr val="A8D8F0"/>
                </a:solidFill>
                <a:latin typeface="Courier New"/>
              </a:rPr>
              <a:t>EnglishGreeter greeter = new EnglishGreeter();</a:t>
            </a:r>
          </a:p>
          <a:p>
            <a:r>
              <a:rPr sz="1200">
                <a:solidFill>
                  <a:srgbClr val="A8D8F0"/>
                </a:solidFill>
                <a:latin typeface="Courier New"/>
              </a:rPr>
              <a:t>Console.WriteLine(greeter.SayHello());   // "Hello!"</a:t>
            </a:r>
          </a:p>
          <a:p>
            <a:endParaRPr sz="1200">
              <a:solidFill>
                <a:srgbClr val="A8D8F0"/>
              </a:solidFill>
              <a:latin typeface="Courier New"/>
            </a:endParaRPr>
          </a:p>
          <a:p>
            <a:r>
              <a:rPr sz="1200">
                <a:solidFill>
                  <a:srgbClr val="A8D8F0"/>
                </a:solidFill>
                <a:latin typeface="Courier New"/>
              </a:rPr>
              <a:t>// With the interface, the VARIABLE TYPE is the interface,</a:t>
            </a:r>
          </a:p>
          <a:p>
            <a:r>
              <a:rPr sz="1200">
                <a:solidFill>
                  <a:srgbClr val="A8D8F0"/>
                </a:solidFill>
                <a:latin typeface="Courier New"/>
              </a:rPr>
              <a:t>// not the concrete class:</a:t>
            </a:r>
          </a:p>
          <a:p>
            <a:r>
              <a:rPr sz="1200" b="1">
                <a:solidFill>
                  <a:srgbClr val="FFC107"/>
                </a:solidFill>
                <a:latin typeface="Courier New"/>
              </a:rPr>
              <a:t>IGreeter greeter = new EnglishGreeter();</a:t>
            </a:r>
          </a:p>
          <a:p>
            <a:r>
              <a:rPr sz="1200">
                <a:solidFill>
                  <a:srgbClr val="A8D8F0"/>
                </a:solidFill>
                <a:latin typeface="Courier New"/>
              </a:rPr>
              <a:t>Console.WriteLine(greeter.SayHello());   // "Hello!"</a:t>
            </a:r>
          </a:p>
          <a:p>
            <a:endParaRPr sz="1200">
              <a:solidFill>
                <a:srgbClr val="A8D8F0"/>
              </a:solidFill>
              <a:latin typeface="Courier New"/>
            </a:endParaRPr>
          </a:p>
          <a:p>
            <a:r>
              <a:rPr sz="1200">
                <a:solidFill>
                  <a:srgbClr val="A8D8F0"/>
                </a:solidFill>
                <a:latin typeface="Courier New"/>
              </a:rPr>
              <a:t>// Change your mind tomorrow? Change ONE word.</a:t>
            </a:r>
          </a:p>
          <a:p>
            <a:r>
              <a:rPr sz="1200">
                <a:solidFill>
                  <a:srgbClr val="A8D8F0"/>
                </a:solidFill>
                <a:latin typeface="Courier New"/>
              </a:rPr>
              <a:t>// Nothing else in your program needs to change:</a:t>
            </a:r>
          </a:p>
          <a:p>
            <a:r>
              <a:rPr sz="1200" b="1">
                <a:solidFill>
                  <a:srgbClr val="FFC107"/>
                </a:solidFill>
                <a:latin typeface="Courier New"/>
              </a:rPr>
              <a:t>IGreeter greeter = new SpanishGreeter();</a:t>
            </a:r>
          </a:p>
          <a:p>
            <a:r>
              <a:rPr sz="1200">
                <a:solidFill>
                  <a:srgbClr val="A8D8F0"/>
                </a:solidFill>
                <a:latin typeface="Courier New"/>
              </a:rPr>
              <a:t>Console.WriteLine(greeter.SayHello());   // "¡Hola!"</a:t>
            </a:r>
          </a:p>
          <a:p>
            <a:endParaRPr sz="1200">
              <a:solidFill>
                <a:srgbClr val="A8D8F0"/>
              </a:solidFill>
              <a:latin typeface="Courier New"/>
            </a:endParaRPr>
          </a:p>
          <a:p>
            <a:r>
              <a:rPr sz="1200">
                <a:solidFill>
                  <a:srgbClr val="A8D8F0"/>
                </a:solidFill>
                <a:latin typeface="Courier New"/>
              </a:rPr>
              <a:t>// Any method that accepts "IGreeter" now works with</a:t>
            </a:r>
          </a:p>
          <a:p>
            <a:r>
              <a:rPr sz="1200">
                <a:solidFill>
                  <a:srgbClr val="A8D8F0"/>
                </a:solidFill>
                <a:latin typeface="Courier New"/>
              </a:rPr>
              <a:t>// EnglishGreeter, SpanishGreeter, or any future XyzGreeter.</a:t>
            </a:r>
          </a:p>
        </p:txBody>
      </p:sp>
      <p:sp>
        <p:nvSpPr>
          <p:cNvPr id="6" name="TextBox 5"/>
          <p:cNvSpPr txBox="1"/>
          <p:nvPr/>
        </p:nvSpPr>
        <p:spPr>
          <a:xfrm>
            <a:off x="274320" y="4040760"/>
            <a:ext cx="8595360" cy="700000"/>
          </a:xfrm>
          <a:prstGeom prst="rect">
            <a:avLst/>
          </a:prstGeom>
          <a:noFill/>
        </p:spPr>
        <p:txBody>
          <a:bodyPr wrap="square">
            <a:spAutoFit/>
          </a:bodyPr>
          <a:lstStyle/>
          <a:p>
            <a:r>
              <a:rPr sz="1100" i="1">
                <a:solidFill>
                  <a:srgbClr val="6B93B0"/>
                </a:solidFill>
                <a:latin typeface="Calibri"/>
              </a:rPr>
              <a:t>💡 This is the entire point of an interface: code that uses IGreeter never needs to change, no matter how many new greeters you add later.</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713232"/>
          </a:xfrm>
          <a:prstGeom prst="rect">
            <a:avLst/>
          </a:prstGeom>
          <a:solidFill>
            <a:srgbClr val="1429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13232"/>
            <a:ext cx="9144000" cy="45720"/>
          </a:xfrm>
          <a:prstGeom prst="rect">
            <a:avLst/>
          </a:prstGeom>
          <a:solidFill>
            <a:srgbClr val="00C2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91440"/>
            <a:ext cx="8412480" cy="548640"/>
          </a:xfrm>
          <a:prstGeom prst="rect">
            <a:avLst/>
          </a:prstGeom>
          <a:noFill/>
        </p:spPr>
        <p:txBody>
          <a:bodyPr wrap="square">
            <a:spAutoFit/>
          </a:bodyPr>
          <a:lstStyle/>
          <a:p>
            <a:r>
              <a:rPr sz="2100" b="1">
                <a:solidFill>
                  <a:srgbClr val="FFFFFF"/>
                </a:solidFill>
                <a:latin typeface="Calibri"/>
              </a:rPr>
              <a:t>Interfaces — The Vocabulary You Need</a:t>
            </a:r>
          </a:p>
        </p:txBody>
      </p:sp>
      <p:sp>
        <p:nvSpPr>
          <p:cNvPr id="5" name="Rounded Rectangle 4"/>
          <p:cNvSpPr/>
          <p:nvPr/>
        </p:nvSpPr>
        <p:spPr>
          <a:xfrm>
            <a:off x="330000" y="950000"/>
            <a:ext cx="4200000" cy="1850000"/>
          </a:xfrm>
          <a:prstGeom prst="roundRect">
            <a:avLst/>
          </a:prstGeom>
          <a:solidFill>
            <a:srgbClr val="142952"/>
          </a:solidFill>
          <a:ln w="15875">
            <a:solidFill>
              <a:srgbClr val="00C2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0000" y="1030000"/>
            <a:ext cx="3960000" cy="320000"/>
          </a:xfrm>
          <a:prstGeom prst="rect">
            <a:avLst/>
          </a:prstGeom>
          <a:noFill/>
        </p:spPr>
        <p:txBody>
          <a:bodyPr wrap="square">
            <a:spAutoFit/>
          </a:bodyPr>
          <a:lstStyle/>
          <a:p>
            <a:r>
              <a:rPr sz="1300" b="1">
                <a:solidFill>
                  <a:srgbClr val="00C2CB"/>
                </a:solidFill>
                <a:latin typeface="Calibri"/>
              </a:rPr>
              <a:t>Interface</a:t>
            </a:r>
          </a:p>
        </p:txBody>
      </p:sp>
      <p:sp>
        <p:nvSpPr>
          <p:cNvPr id="7" name="TextBox 6"/>
          <p:cNvSpPr txBox="1"/>
          <p:nvPr/>
        </p:nvSpPr>
        <p:spPr>
          <a:xfrm>
            <a:off x="450000" y="1370000"/>
            <a:ext cx="3960000" cy="1350000"/>
          </a:xfrm>
          <a:prstGeom prst="rect">
            <a:avLst/>
          </a:prstGeom>
          <a:noFill/>
        </p:spPr>
        <p:txBody>
          <a:bodyPr wrap="square">
            <a:spAutoFit/>
          </a:bodyPr>
          <a:lstStyle/>
          <a:p>
            <a:r>
              <a:rPr sz="1150">
                <a:solidFill>
                  <a:srgbClr val="B8D4E8"/>
                </a:solidFill>
                <a:latin typeface="Calibri"/>
              </a:rPr>
              <a:t>A list of method names and signatures with NO implementation. It's a promise of shape, not behavior.</a:t>
            </a:r>
          </a:p>
        </p:txBody>
      </p:sp>
      <p:sp>
        <p:nvSpPr>
          <p:cNvPr id="8" name="Rounded Rectangle 7"/>
          <p:cNvSpPr/>
          <p:nvPr/>
        </p:nvSpPr>
        <p:spPr>
          <a:xfrm>
            <a:off x="4670000" y="950000"/>
            <a:ext cx="4200000" cy="1850000"/>
          </a:xfrm>
          <a:prstGeom prst="roundRect">
            <a:avLst/>
          </a:prstGeom>
          <a:solidFill>
            <a:srgbClr val="142952"/>
          </a:solidFill>
          <a:ln w="15875">
            <a:solidFill>
              <a:srgbClr val="00C2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790000" y="1030000"/>
            <a:ext cx="3960000" cy="320000"/>
          </a:xfrm>
          <a:prstGeom prst="rect">
            <a:avLst/>
          </a:prstGeom>
          <a:noFill/>
        </p:spPr>
        <p:txBody>
          <a:bodyPr wrap="square">
            <a:spAutoFit/>
          </a:bodyPr>
          <a:lstStyle/>
          <a:p>
            <a:r>
              <a:rPr sz="1300" b="1">
                <a:solidFill>
                  <a:srgbClr val="00C2CB"/>
                </a:solidFill>
                <a:latin typeface="Calibri"/>
              </a:rPr>
              <a:t>Implements</a:t>
            </a:r>
          </a:p>
        </p:txBody>
      </p:sp>
      <p:sp>
        <p:nvSpPr>
          <p:cNvPr id="10" name="TextBox 9"/>
          <p:cNvSpPr txBox="1"/>
          <p:nvPr/>
        </p:nvSpPr>
        <p:spPr>
          <a:xfrm>
            <a:off x="4790000" y="1370000"/>
            <a:ext cx="3960000" cy="1350000"/>
          </a:xfrm>
          <a:prstGeom prst="rect">
            <a:avLst/>
          </a:prstGeom>
          <a:noFill/>
        </p:spPr>
        <p:txBody>
          <a:bodyPr wrap="square">
            <a:spAutoFit/>
          </a:bodyPr>
          <a:lstStyle/>
          <a:p>
            <a:r>
              <a:rPr sz="1150">
                <a:solidFill>
                  <a:srgbClr val="B8D4E8"/>
                </a:solidFill>
                <a:latin typeface="Calibri"/>
              </a:rPr>
              <a:t>When a class provides real code for every method an interface lists, we say that class "implements" the interface.</a:t>
            </a:r>
          </a:p>
        </p:txBody>
      </p:sp>
      <p:sp>
        <p:nvSpPr>
          <p:cNvPr id="11" name="Rounded Rectangle 10"/>
          <p:cNvSpPr/>
          <p:nvPr/>
        </p:nvSpPr>
        <p:spPr>
          <a:xfrm>
            <a:off x="330000" y="2940000"/>
            <a:ext cx="4200000" cy="1850000"/>
          </a:xfrm>
          <a:prstGeom prst="roundRect">
            <a:avLst/>
          </a:prstGeom>
          <a:solidFill>
            <a:srgbClr val="142952"/>
          </a:solidFill>
          <a:ln w="158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0000" y="3020000"/>
            <a:ext cx="3960000" cy="320000"/>
          </a:xfrm>
          <a:prstGeom prst="rect">
            <a:avLst/>
          </a:prstGeom>
          <a:noFill/>
        </p:spPr>
        <p:txBody>
          <a:bodyPr wrap="square">
            <a:spAutoFit/>
          </a:bodyPr>
          <a:lstStyle/>
          <a:p>
            <a:r>
              <a:rPr sz="1300" b="1">
                <a:solidFill>
                  <a:srgbClr val="F59E0B"/>
                </a:solidFill>
                <a:latin typeface="Calibri"/>
              </a:rPr>
              <a:t>The Contract</a:t>
            </a:r>
          </a:p>
        </p:txBody>
      </p:sp>
      <p:sp>
        <p:nvSpPr>
          <p:cNvPr id="13" name="TextBox 12"/>
          <p:cNvSpPr txBox="1"/>
          <p:nvPr/>
        </p:nvSpPr>
        <p:spPr>
          <a:xfrm>
            <a:off x="450000" y="3360000"/>
            <a:ext cx="3960000" cy="1350000"/>
          </a:xfrm>
          <a:prstGeom prst="rect">
            <a:avLst/>
          </a:prstGeom>
          <a:noFill/>
        </p:spPr>
        <p:txBody>
          <a:bodyPr wrap="square">
            <a:spAutoFit/>
          </a:bodyPr>
          <a:lstStyle/>
          <a:p>
            <a:r>
              <a:rPr sz="1150">
                <a:solidFill>
                  <a:srgbClr val="B8D4E8"/>
                </a:solidFill>
                <a:latin typeface="Calibri"/>
              </a:rPr>
              <a:t>Another word for the promise itself — "this class honors the IGreeter contract" means it has a working SayHello method.</a:t>
            </a:r>
          </a:p>
        </p:txBody>
      </p:sp>
      <p:sp>
        <p:nvSpPr>
          <p:cNvPr id="14" name="Rounded Rectangle 13"/>
          <p:cNvSpPr/>
          <p:nvPr/>
        </p:nvSpPr>
        <p:spPr>
          <a:xfrm>
            <a:off x="4670000" y="2940000"/>
            <a:ext cx="4200000" cy="1850000"/>
          </a:xfrm>
          <a:prstGeom prst="roundRect">
            <a:avLst/>
          </a:prstGeom>
          <a:solidFill>
            <a:srgbClr val="142952"/>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790000" y="3020000"/>
            <a:ext cx="3960000" cy="320000"/>
          </a:xfrm>
          <a:prstGeom prst="rect">
            <a:avLst/>
          </a:prstGeom>
          <a:noFill/>
        </p:spPr>
        <p:txBody>
          <a:bodyPr wrap="square">
            <a:spAutoFit/>
          </a:bodyPr>
          <a:lstStyle/>
          <a:p>
            <a:r>
              <a:rPr sz="1300" b="1">
                <a:solidFill>
                  <a:srgbClr val="10B981"/>
                </a:solidFill>
                <a:latin typeface="Calibri"/>
              </a:rPr>
              <a:t>Why it matters</a:t>
            </a:r>
          </a:p>
        </p:txBody>
      </p:sp>
      <p:sp>
        <p:nvSpPr>
          <p:cNvPr id="16" name="TextBox 15"/>
          <p:cNvSpPr txBox="1"/>
          <p:nvPr/>
        </p:nvSpPr>
        <p:spPr>
          <a:xfrm>
            <a:off x="4790000" y="3360000"/>
            <a:ext cx="3960000" cy="1350000"/>
          </a:xfrm>
          <a:prstGeom prst="rect">
            <a:avLst/>
          </a:prstGeom>
          <a:noFill/>
        </p:spPr>
        <p:txBody>
          <a:bodyPr wrap="square">
            <a:spAutoFit/>
          </a:bodyPr>
          <a:lstStyle/>
          <a:p>
            <a:r>
              <a:rPr sz="1150">
                <a:solidFill>
                  <a:srgbClr val="B8D4E8"/>
                </a:solidFill>
                <a:latin typeface="Calibri"/>
              </a:rPr>
              <a:t>Code that depends on the INTERFACE (not the class) keeps working even when you swap in a totally different implementation.</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713232"/>
          </a:xfrm>
          <a:prstGeom prst="rect">
            <a:avLst/>
          </a:prstGeom>
          <a:solidFill>
            <a:srgbClr val="1429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13232"/>
            <a:ext cx="9144000" cy="45720"/>
          </a:xfrm>
          <a:prstGeom prst="rect">
            <a:avLst/>
          </a:prstGeom>
          <a:solidFill>
            <a:srgbClr val="00C2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91440"/>
            <a:ext cx="8412480" cy="548640"/>
          </a:xfrm>
          <a:prstGeom prst="rect">
            <a:avLst/>
          </a:prstGeom>
          <a:noFill/>
        </p:spPr>
        <p:txBody>
          <a:bodyPr wrap="square">
            <a:spAutoFit/>
          </a:bodyPr>
          <a:lstStyle/>
          <a:p>
            <a:r>
              <a:rPr sz="2100" b="1">
                <a:solidFill>
                  <a:srgbClr val="FFFFFF"/>
                </a:solidFill>
                <a:latin typeface="Calibri"/>
              </a:rPr>
              <a:t>Before Generics: A Real-World Problem</a:t>
            </a:r>
          </a:p>
        </p:txBody>
      </p:sp>
      <p:sp>
        <p:nvSpPr>
          <p:cNvPr id="5" name="TextBox 4"/>
          <p:cNvSpPr txBox="1"/>
          <p:nvPr/>
        </p:nvSpPr>
        <p:spPr>
          <a:xfrm>
            <a:off x="365760" y="868680"/>
            <a:ext cx="8412480" cy="4023360"/>
          </a:xfrm>
          <a:prstGeom prst="rect">
            <a:avLst/>
          </a:prstGeom>
          <a:noFill/>
        </p:spPr>
        <p:txBody>
          <a:bodyPr wrap="square">
            <a:spAutoFit/>
          </a:bodyPr>
          <a:lstStyle/>
          <a:p>
            <a:pPr>
              <a:spcAft>
                <a:spcPts val="1000"/>
              </a:spcAft>
            </a:pPr>
            <a:r>
              <a:rPr sz="1500">
                <a:solidFill>
                  <a:srgbClr val="B8D4E8"/>
                </a:solidFill>
                <a:latin typeface="Calibri"/>
              </a:rPr>
              <a:t>•  Think about a shipping box. The SAME cardboard box can hold books, or clothes, or kitchen plates. The box doesn't care what's inside — it just needs to hold SOMETHING safely.</a:t>
            </a:r>
          </a:p>
          <a:p>
            <a:pPr>
              <a:spcAft>
                <a:spcPts val="1000"/>
              </a:spcAft>
            </a:pPr>
            <a:r>
              <a:rPr sz="1500">
                <a:solidFill>
                  <a:srgbClr val="B8D4E8"/>
                </a:solidFill>
                <a:latin typeface="Calibri"/>
              </a:rPr>
              <a:t>•  Imagine if you had to build a brand-new box design every single time you wanted to ship a different type of item. A 'book box,' a 'clothes box,' a 'plates box' — all nearly identical, all duplicated work.</a:t>
            </a:r>
          </a:p>
          <a:p>
            <a:pPr>
              <a:spcAft>
                <a:spcPts val="1000"/>
              </a:spcAft>
            </a:pPr>
            <a:r>
              <a:rPr sz="1500">
                <a:solidFill>
                  <a:srgbClr val="B8D4E8"/>
                </a:solidFill>
                <a:latin typeface="Calibri"/>
              </a:rPr>
              <a:t>•  In code, we hit this exact problem: 'I want to write ONE storage container that can hold books, or hold members, or hold anything else — without writing the same container three separate times.'</a:t>
            </a:r>
          </a:p>
          <a:p>
            <a:pPr>
              <a:spcAft>
                <a:spcPts val="1000"/>
              </a:spcAft>
            </a:pPr>
            <a:r>
              <a:rPr sz="1500">
                <a:solidFill>
                  <a:srgbClr val="B8D4E8"/>
                </a:solidFill>
                <a:latin typeface="Calibri"/>
              </a:rPr>
              <a:t>•  A generic is C#'s answer: a box shape you design ONCE, where you decide what goes inside it later. The &lt;T&gt; you'll see in the next slide simply means "a placeholder for whatever type we decide to put in this box."</a:t>
            </a:r>
          </a:p>
          <a:p>
            <a:pPr>
              <a:spcAft>
                <a:spcPts val="1000"/>
              </a:spcAft>
            </a:pPr>
            <a:r>
              <a:rPr sz="1500">
                <a:solidFill>
                  <a:srgbClr val="B8D4E8"/>
                </a:solidFill>
                <a:latin typeface="Calibri"/>
              </a:rPr>
              <a:t>•  You are not learning a new concept here — you're learning a new TOOL for something you already understand: reusable containers.</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621792"/>
          </a:xfrm>
          <a:prstGeom prst="rect">
            <a:avLst/>
          </a:prstGeom>
          <a:solidFill>
            <a:srgbClr val="0D15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21792"/>
            <a:ext cx="9144000" cy="3657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0040" y="64008"/>
            <a:ext cx="8503920" cy="502920"/>
          </a:xfrm>
          <a:prstGeom prst="rect">
            <a:avLst/>
          </a:prstGeom>
          <a:noFill/>
        </p:spPr>
        <p:txBody>
          <a:bodyPr wrap="square">
            <a:spAutoFit/>
          </a:bodyPr>
          <a:lstStyle/>
          <a:p>
            <a:r>
              <a:rPr sz="1700" b="1">
                <a:solidFill>
                  <a:srgbClr val="10B981"/>
                </a:solidFill>
                <a:latin typeface="Calibri"/>
              </a:rPr>
              <a:t>⌨  A Real Interface in DeweyLib</a:t>
            </a:r>
          </a:p>
        </p:txBody>
      </p:sp>
      <p:sp>
        <p:nvSpPr>
          <p:cNvPr id="5" name="TextBox 4"/>
          <p:cNvSpPr txBox="1"/>
          <p:nvPr/>
        </p:nvSpPr>
        <p:spPr>
          <a:xfrm>
            <a:off x="274320" y="713232"/>
            <a:ext cx="8595360" cy="3327400"/>
          </a:xfrm>
          <a:prstGeom prst="rect">
            <a:avLst/>
          </a:prstGeom>
          <a:noFill/>
        </p:spPr>
        <p:txBody>
          <a:bodyPr wrap="square">
            <a:spAutoFit/>
          </a:bodyPr>
          <a:lstStyle/>
          <a:p>
            <a:r>
              <a:rPr sz="1200">
                <a:solidFill>
                  <a:srgbClr val="A8D8F0"/>
                </a:solidFill>
                <a:latin typeface="Courier New"/>
              </a:rPr>
              <a:t>public interface IRepository&lt;T&gt; where T : class {</a:t>
            </a:r>
          </a:p>
          <a:p>
            <a:r>
              <a:rPr sz="1200">
                <a:solidFill>
                  <a:srgbClr val="A8D8F0"/>
                </a:solidFill>
                <a:latin typeface="Courier New"/>
              </a:rPr>
              <a:t>    void           Add(T item);</a:t>
            </a:r>
          </a:p>
          <a:p>
            <a:r>
              <a:rPr sz="1200">
                <a:solidFill>
                  <a:srgbClr val="A8D8F0"/>
                </a:solidFill>
                <a:latin typeface="Courier New"/>
              </a:rPr>
              <a:t>    T?             Find(Func&lt;T, bool&gt; predicate);</a:t>
            </a:r>
          </a:p>
          <a:p>
            <a:r>
              <a:rPr sz="1200">
                <a:solidFill>
                  <a:srgbClr val="A8D8F0"/>
                </a:solidFill>
                <a:latin typeface="Courier New"/>
              </a:rPr>
              <a:t>    IEnumerable&lt;T&gt; GetAll();</a:t>
            </a:r>
          </a:p>
          <a:p>
            <a:r>
              <a:rPr sz="1200">
                <a:solidFill>
                  <a:srgbClr val="A8D8F0"/>
                </a:solidFill>
                <a:latin typeface="Courier New"/>
              </a:rPr>
              <a:t>    int            Count { get; }</a:t>
            </a:r>
          </a:p>
          <a:p>
            <a:r>
              <a:rPr sz="1200">
                <a:solidFill>
                  <a:srgbClr val="A8D8F0"/>
                </a:solidFill>
                <a:latin typeface="Courier New"/>
              </a:rPr>
              <a:t>}</a:t>
            </a:r>
          </a:p>
          <a:p>
            <a:endParaRPr sz="1200">
              <a:solidFill>
                <a:srgbClr val="A8D8F0"/>
              </a:solidFill>
              <a:latin typeface="Courier New"/>
            </a:endParaRPr>
          </a:p>
          <a:p>
            <a:r>
              <a:rPr sz="1200">
                <a:solidFill>
                  <a:srgbClr val="A8D8F0"/>
                </a:solidFill>
                <a:latin typeface="Courier New"/>
              </a:rPr>
              <a:t>// ONE class — works for ANY type T</a:t>
            </a:r>
          </a:p>
          <a:p>
            <a:r>
              <a:rPr sz="1200" b="1">
                <a:solidFill>
                  <a:srgbClr val="FFC107"/>
                </a:solidFill>
                <a:latin typeface="Courier New"/>
              </a:rPr>
              <a:t>public class InMemoryRepository&lt;T&gt; : IRepository&lt;T&gt; where T : class {</a:t>
            </a:r>
          </a:p>
          <a:p>
            <a:r>
              <a:rPr sz="1200">
                <a:solidFill>
                  <a:srgbClr val="A8D8F0"/>
                </a:solidFill>
                <a:latin typeface="Courier New"/>
              </a:rPr>
              <a:t>    private readonly List&lt;T&gt; _items = new();</a:t>
            </a:r>
          </a:p>
          <a:p>
            <a:r>
              <a:rPr sz="1200">
                <a:solidFill>
                  <a:srgbClr val="A8D8F0"/>
                </a:solidFill>
                <a:latin typeface="Courier New"/>
              </a:rPr>
              <a:t>    public int Count =&gt; _items.Count;</a:t>
            </a:r>
          </a:p>
          <a:p>
            <a:r>
              <a:rPr sz="1200">
                <a:solidFill>
                  <a:srgbClr val="A8D8F0"/>
                </a:solidFill>
                <a:latin typeface="Courier New"/>
              </a:rPr>
              <a:t>    public void Add(T item) =&gt; _items.Add(item);</a:t>
            </a:r>
          </a:p>
          <a:p>
            <a:r>
              <a:rPr sz="1200">
                <a:solidFill>
                  <a:srgbClr val="A8D8F0"/>
                </a:solidFill>
                <a:latin typeface="Courier New"/>
              </a:rPr>
              <a:t>    public T?   Find(Func&lt;T,bool&gt; p) =&gt; _items.FirstOrDefault(p);</a:t>
            </a:r>
          </a:p>
          <a:p>
            <a:r>
              <a:rPr sz="1200">
                <a:solidFill>
                  <a:srgbClr val="A8D8F0"/>
                </a:solidFill>
                <a:latin typeface="Courier New"/>
              </a:rPr>
              <a:t>    public IEnumerable&lt;T&gt; GetAll()   =&gt; _items.AsReadOnly();</a:t>
            </a:r>
          </a:p>
          <a:p>
            <a:r>
              <a:rPr sz="1200">
                <a:solidFill>
                  <a:srgbClr val="A8D8F0"/>
                </a:solidFill>
                <a:latin typeface="Courier New"/>
              </a:rPr>
              <a:t>}</a:t>
            </a:r>
          </a:p>
        </p:txBody>
      </p:sp>
      <p:sp>
        <p:nvSpPr>
          <p:cNvPr id="6" name="TextBox 5"/>
          <p:cNvSpPr txBox="1"/>
          <p:nvPr/>
        </p:nvSpPr>
        <p:spPr>
          <a:xfrm>
            <a:off x="274320" y="4040760"/>
            <a:ext cx="8595360" cy="700000"/>
          </a:xfrm>
          <a:prstGeom prst="rect">
            <a:avLst/>
          </a:prstGeom>
          <a:noFill/>
        </p:spPr>
        <p:txBody>
          <a:bodyPr wrap="square">
            <a:spAutoFit/>
          </a:bodyPr>
          <a:lstStyle/>
          <a:p>
            <a:r>
              <a:rPr sz="1100" i="1">
                <a:solidFill>
                  <a:srgbClr val="6B93B0"/>
                </a:solidFill>
                <a:latin typeface="Calibri"/>
              </a:rPr>
              <a:t>💡 Same idea as IGreeter — the interface lists what's possible, the class provides the how. (&lt;T&gt; means "works for any type" — more on that soon.)</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4">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142952"/>
          </a:solidFill>
          <a:ln w="12700">
            <a:solidFill>
              <a:srgbClr val="142952"/>
            </a:solidFill>
            <a:prstDash val="solid"/>
          </a:ln>
        </p:spPr>
        <p:txBody>
          <a:bodyPr/>
          <a:lstStyle/>
          <a:p>
            <a:endParaRPr/>
          </a:p>
        </p:txBody>
      </p:sp>
      <p:sp>
        <p:nvSpPr>
          <p:cNvPr id="3" name="Shape 1"/>
          <p:cNvSpPr/>
          <p:nvPr/>
        </p:nvSpPr>
        <p:spPr>
          <a:xfrm>
            <a:off x="0" y="713232"/>
            <a:ext cx="9144000" cy="45720"/>
          </a:xfrm>
          <a:prstGeom prst="rect">
            <a:avLst/>
          </a:prstGeom>
          <a:solidFill>
            <a:srgbClr val="10B981"/>
          </a:solidFill>
          <a:ln w="12700">
            <a:solidFill>
              <a:srgbClr val="10B981"/>
            </a:solidFill>
            <a:prstDash val="solid"/>
          </a:ln>
        </p:spPr>
        <p:txBody>
          <a:bodyPr/>
          <a:lstStyle/>
          <a:p>
            <a:endParaRPr/>
          </a:p>
        </p:txBody>
      </p:sp>
      <p:sp>
        <p:nvSpPr>
          <p:cNvPr id="4" name="Text 2"/>
          <p:cNvSpPr/>
          <p:nvPr/>
        </p:nvSpPr>
        <p:spPr>
          <a:xfrm>
            <a:off x="365760" y="91440"/>
            <a:ext cx="8412480" cy="54864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  Day 1 Complete — What You Covered</a:t>
            </a:r>
            <a:endParaRPr lang="en-US" sz="2000" dirty="0"/>
          </a:p>
        </p:txBody>
      </p:sp>
      <p:sp>
        <p:nvSpPr>
          <p:cNvPr id="5" name="Text 3"/>
          <p:cNvSpPr/>
          <p:nvPr/>
        </p:nvSpPr>
        <p:spPr>
          <a:xfrm>
            <a:off x="457200" y="868680"/>
            <a:ext cx="8229600" cy="3931920"/>
          </a:xfrm>
          <a:prstGeom prst="rect">
            <a:avLst/>
          </a:prstGeom>
          <a:noFill/>
          <a:ln/>
        </p:spPr>
        <p:txBody>
          <a:bodyPr wrap="square" rtlCol="0" anchor="t"/>
          <a:lstStyle/>
          <a:p>
            <a:pPr marL="0" indent="0">
              <a:spcBef>
                <a:spcPts val="400"/>
              </a:spcBef>
              <a:buNone/>
            </a:pPr>
            <a:r>
              <a:rPr lang="en-US" sz="1400" dirty="0">
                <a:solidFill>
                  <a:srgbClr val="B8D4E8"/>
                </a:solidFill>
                <a:latin typeface="Calibri" pitchFamily="34" charset="0"/>
                <a:ea typeface="Calibri" pitchFamily="34" charset="-122"/>
                <a:cs typeface="Calibri" pitchFamily="34" charset="-120"/>
              </a:rPr>
              <a:t>✓  C# history, .NET ecosystem, CLR execution model</a:t>
            </a:r>
            <a:endParaRPr lang="en-US" sz="1400" dirty="0"/>
          </a:p>
          <a:p>
            <a:pPr marL="0" indent="0">
              <a:spcBef>
                <a:spcPts val="400"/>
              </a:spcBef>
              <a:buNone/>
            </a:pPr>
            <a:r>
              <a:rPr lang="en-US" sz="1400" dirty="0">
                <a:solidFill>
                  <a:srgbClr val="B8D4E8"/>
                </a:solidFill>
                <a:latin typeface="Calibri" pitchFamily="34" charset="0"/>
                <a:ea typeface="Calibri" pitchFamily="34" charset="-122"/>
                <a:cs typeface="Calibri" pitchFamily="34" charset="-120"/>
              </a:rPr>
              <a:t>✓  All primitive data types, nullability, and format specifiers</a:t>
            </a:r>
            <a:endParaRPr lang="en-US" sz="1400" dirty="0"/>
          </a:p>
          <a:p>
            <a:pPr marL="0" indent="0">
              <a:spcBef>
                <a:spcPts val="400"/>
              </a:spcBef>
              <a:buNone/>
            </a:pPr>
            <a:r>
              <a:rPr lang="en-US" sz="1400" dirty="0">
                <a:solidFill>
                  <a:srgbClr val="B8D4E8"/>
                </a:solidFill>
                <a:latin typeface="Calibri" pitchFamily="34" charset="0"/>
                <a:ea typeface="Calibri" pitchFamily="34" charset="-122"/>
                <a:cs typeface="Calibri" pitchFamily="34" charset="-120"/>
              </a:rPr>
              <a:t>✓  Control flow: if / switch expressions / all four loop types</a:t>
            </a:r>
            <a:endParaRPr lang="en-US" sz="1400" dirty="0"/>
          </a:p>
          <a:p>
            <a:pPr marL="0" indent="0">
              <a:spcBef>
                <a:spcPts val="400"/>
              </a:spcBef>
              <a:buNone/>
            </a:pPr>
            <a:r>
              <a:rPr lang="en-US" sz="1400" dirty="0">
                <a:solidFill>
                  <a:srgbClr val="B8D4E8"/>
                </a:solidFill>
                <a:latin typeface="Calibri" pitchFamily="34" charset="0"/>
                <a:ea typeface="Calibri" pitchFamily="34" charset="-122"/>
                <a:cs typeface="Calibri" pitchFamily="34" charset="-120"/>
              </a:rPr>
              <a:t>✓  Methods with optional params, out params, and expression bodies</a:t>
            </a:r>
            <a:endParaRPr lang="en-US" sz="1400" dirty="0"/>
          </a:p>
          <a:p>
            <a:pPr marL="0" indent="0">
              <a:spcBef>
                <a:spcPts val="400"/>
              </a:spcBef>
              <a:buNone/>
            </a:pPr>
            <a:r>
              <a:rPr lang="en-US" sz="1400" dirty="0">
                <a:solidFill>
                  <a:srgbClr val="B8D4E8"/>
                </a:solidFill>
                <a:latin typeface="Calibri" pitchFamily="34" charset="0"/>
                <a:ea typeface="Calibri" pitchFamily="34" charset="-122"/>
                <a:cs typeface="Calibri" pitchFamily="34" charset="-120"/>
              </a:rPr>
              <a:t>✓  Classes, properties, constructors, and encapsulation (private set)</a:t>
            </a:r>
            <a:endParaRPr lang="en-US" sz="1400" dirty="0"/>
          </a:p>
          <a:p>
            <a:pPr marL="0" indent="0">
              <a:spcBef>
                <a:spcPts val="400"/>
              </a:spcBef>
              <a:buNone/>
            </a:pPr>
            <a:r>
              <a:rPr lang="en-US" sz="1400" dirty="0">
                <a:solidFill>
                  <a:srgbClr val="B8D4E8"/>
                </a:solidFill>
                <a:latin typeface="Calibri" pitchFamily="34" charset="0"/>
                <a:ea typeface="Calibri" pitchFamily="34" charset="-122"/>
                <a:cs typeface="Calibri" pitchFamily="34" charset="-120"/>
              </a:rPr>
              <a:t>✓  Inheritance, polymorphism, abstract classes, and virtual/override</a:t>
            </a:r>
            <a:endParaRPr lang="en-US" sz="1400" dirty="0"/>
          </a:p>
          <a:p>
            <a:pPr marL="0" indent="0">
              <a:spcBef>
                <a:spcPts val="400"/>
              </a:spcBef>
              <a:buNone/>
            </a:pPr>
            <a:r>
              <a:rPr lang="en-US" sz="1400" dirty="0">
                <a:solidFill>
                  <a:srgbClr val="B8D4E8"/>
                </a:solidFill>
                <a:latin typeface="Calibri" pitchFamily="34" charset="0"/>
                <a:ea typeface="Calibri" pitchFamily="34" charset="-122"/>
                <a:cs typeface="Calibri" pitchFamily="34" charset="-120"/>
              </a:rPr>
              <a:t>✓  Interfaces as contracts and generic types (IRepository&lt;T&gt;)</a:t>
            </a:r>
            <a:endParaRPr lang="en-US" sz="14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35">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142952"/>
          </a:solidFill>
          <a:ln w="12700">
            <a:solidFill>
              <a:srgbClr val="142952"/>
            </a:solidFill>
            <a:prstDash val="solid"/>
          </a:ln>
        </p:spPr>
        <p:txBody>
          <a:bodyPr/>
          <a:lstStyle/>
          <a:p>
            <a:endParaRPr/>
          </a:p>
        </p:txBody>
      </p:sp>
      <p:sp>
        <p:nvSpPr>
          <p:cNvPr id="3" name="Shape 1"/>
          <p:cNvSpPr/>
          <p:nvPr/>
        </p:nvSpPr>
        <p:spPr>
          <a:xfrm>
            <a:off x="0" y="713232"/>
            <a:ext cx="9144000" cy="45720"/>
          </a:xfrm>
          <a:prstGeom prst="rect">
            <a:avLst/>
          </a:prstGeom>
          <a:solidFill>
            <a:srgbClr val="00C2CB"/>
          </a:solidFill>
          <a:ln w="12700">
            <a:solidFill>
              <a:srgbClr val="00C2CB"/>
            </a:solidFill>
            <a:prstDash val="solid"/>
          </a:ln>
        </p:spPr>
        <p:txBody>
          <a:bodyPr/>
          <a:lstStyle/>
          <a:p>
            <a:endParaRPr/>
          </a:p>
        </p:txBody>
      </p:sp>
      <p:sp>
        <p:nvSpPr>
          <p:cNvPr id="4" name="Text 2"/>
          <p:cNvSpPr/>
          <p:nvPr/>
        </p:nvSpPr>
        <p:spPr>
          <a:xfrm>
            <a:off x="365760" y="91440"/>
            <a:ext cx="8412480" cy="548640"/>
          </a:xfrm>
          <a:prstGeom prst="rect">
            <a:avLst/>
          </a:prstGeom>
          <a:noFill/>
          <a:ln/>
        </p:spPr>
        <p:txBody>
          <a:bodyPr wrap="square" lIns="0" tIns="0" rIns="0" bIns="0"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Day 2 Preview — What's Coming</a:t>
            </a:r>
            <a:endParaRPr lang="en-US" sz="2100" dirty="0"/>
          </a:p>
        </p:txBody>
      </p:sp>
      <p:sp>
        <p:nvSpPr>
          <p:cNvPr id="5" name="Text 3"/>
          <p:cNvSpPr/>
          <p:nvPr/>
        </p:nvSpPr>
        <p:spPr>
          <a:xfrm>
            <a:off x="365760" y="868680"/>
            <a:ext cx="8412480" cy="4023360"/>
          </a:xfrm>
          <a:prstGeom prst="rect">
            <a:avLst/>
          </a:prstGeom>
          <a:noFill/>
          <a:ln/>
        </p:spPr>
        <p:txBody>
          <a:bodyPr wrap="square" rtlCol="0" anchor="t"/>
          <a:lstStyle/>
          <a:p>
            <a:pPr marL="342900" indent="-342900">
              <a:buSzPct val="100000"/>
              <a:buChar char="•"/>
            </a:pPr>
            <a:r>
              <a:rPr lang="en-US" sz="1400" dirty="0">
                <a:solidFill>
                  <a:srgbClr val="B8D4E8"/>
                </a:solidFill>
                <a:latin typeface="Calibri" pitchFamily="34" charset="0"/>
                <a:ea typeface="Calibri" pitchFamily="34" charset="-122"/>
                <a:cs typeface="Calibri" pitchFamily="34" charset="-120"/>
              </a:rPr>
              <a:t>LINQ — query collections with SQL-like syntax: Where / Select / GroupBy / OrderBy</a:t>
            </a:r>
            <a:endParaRPr lang="en-US" sz="1400" dirty="0"/>
          </a:p>
          <a:p>
            <a:pPr marL="342900" indent="-342900">
              <a:buSzPct val="100000"/>
              <a:buChar char="•"/>
            </a:pPr>
            <a:r>
              <a:rPr lang="en-US" sz="1400" dirty="0">
                <a:solidFill>
                  <a:srgbClr val="B8D4E8"/>
                </a:solidFill>
                <a:latin typeface="Calibri" pitchFamily="34" charset="0"/>
                <a:ea typeface="Calibri" pitchFamily="34" charset="-122"/>
                <a:cs typeface="Calibri" pitchFamily="34" charset="-120"/>
              </a:rPr>
              <a:t>Delegates &amp; Events — pass methods as parameters; decouple notification producers from consumers</a:t>
            </a:r>
            <a:endParaRPr lang="en-US" sz="1400" dirty="0"/>
          </a:p>
          <a:p>
            <a:pPr marL="342900" indent="-342900">
              <a:buSzPct val="100000"/>
              <a:buChar char="•"/>
            </a:pPr>
            <a:r>
              <a:rPr lang="en-US" sz="1400" dirty="0">
                <a:solidFill>
                  <a:srgbClr val="B8D4E8"/>
                </a:solidFill>
                <a:latin typeface="Calibri" pitchFamily="34" charset="0"/>
                <a:ea typeface="Calibri" pitchFamily="34" charset="-122"/>
                <a:cs typeface="Calibri" pitchFamily="34" charset="-120"/>
              </a:rPr>
              <a:t>Async/Await — write non-blocking I/O code that stays readable and scales</a:t>
            </a:r>
            <a:endParaRPr lang="en-US" sz="1400" dirty="0"/>
          </a:p>
          <a:p>
            <a:pPr marL="342900" indent="-342900">
              <a:buSzPct val="100000"/>
              <a:buChar char="•"/>
            </a:pPr>
            <a:r>
              <a:rPr lang="en-US" sz="1400" dirty="0">
                <a:solidFill>
                  <a:srgbClr val="B8D4E8"/>
                </a:solidFill>
                <a:latin typeface="Calibri" pitchFamily="34" charset="0"/>
                <a:ea typeface="Calibri" pitchFamily="34" charset="-122"/>
                <a:cs typeface="Calibri" pitchFamily="34" charset="-120"/>
              </a:rPr>
              <a:t>Exception Handling — custom exceptions with rich context; the services-throw/UI-catches pattern</a:t>
            </a:r>
            <a:endParaRPr lang="en-US" sz="1400" dirty="0"/>
          </a:p>
          <a:p>
            <a:pPr marL="342900" indent="-342900">
              <a:buSzPct val="100000"/>
              <a:buChar char="•"/>
            </a:pPr>
            <a:r>
              <a:rPr lang="en-US" sz="1400" dirty="0">
                <a:solidFill>
                  <a:srgbClr val="B8D4E8"/>
                </a:solidFill>
                <a:latin typeface="Calibri" pitchFamily="34" charset="0"/>
                <a:ea typeface="Calibri" pitchFamily="34" charset="-122"/>
                <a:cs typeface="Calibri" pitchFamily="34" charset="-120"/>
              </a:rPr>
              <a:t>Reflection &amp; Attributes — inspect types at runtime; the plugin pattern</a:t>
            </a:r>
            <a:endParaRPr lang="en-US" sz="1400" dirty="0"/>
          </a:p>
          <a:p>
            <a:pPr marL="342900" indent="-342900">
              <a:buSzPct val="100000"/>
              <a:buChar char="•"/>
            </a:pPr>
            <a:r>
              <a:rPr lang="en-US" sz="1400" dirty="0">
                <a:solidFill>
                  <a:srgbClr val="B8D4E8"/>
                </a:solidFill>
                <a:latin typeface="Calibri" pitchFamily="34" charset="0"/>
                <a:ea typeface="Calibri" pitchFamily="34" charset="-122"/>
                <a:cs typeface="Calibri" pitchFamily="34" charset="-120"/>
              </a:rPr>
              <a:t>Memory Management &amp; GC — understand the heap, Span&lt;T&gt;, and IDisposable</a:t>
            </a:r>
            <a:endParaRPr lang="en-US" sz="1400" dirty="0"/>
          </a:p>
          <a:p>
            <a:pPr marL="342900" indent="-342900">
              <a:buSzPct val="100000"/>
              <a:buChar char="•"/>
            </a:pPr>
            <a:r>
              <a:rPr lang="en-US" sz="1400" dirty="0">
                <a:solidFill>
                  <a:srgbClr val="B8D4E8"/>
                </a:solidFill>
                <a:latin typeface="Calibri" pitchFamily="34" charset="0"/>
                <a:ea typeface="Calibri" pitchFamily="34" charset="-122"/>
                <a:cs typeface="Calibri" pitchFamily="34" charset="-120"/>
              </a:rPr>
              <a:t>ASP.NET Core Web API — wire everything into a running REST API with Swagger</a:t>
            </a:r>
            <a:endParaRPr lang="en-US" sz="1400" dirty="0"/>
          </a:p>
        </p:txBody>
      </p:sp>
      <p:sp>
        <p:nvSpPr>
          <p:cNvPr id="6" name="Shape 4"/>
          <p:cNvSpPr/>
          <p:nvPr/>
        </p:nvSpPr>
        <p:spPr>
          <a:xfrm>
            <a:off x="274320" y="4343400"/>
            <a:ext cx="8595360" cy="548640"/>
          </a:xfrm>
          <a:prstGeom prst="rect">
            <a:avLst/>
          </a:prstGeom>
          <a:solidFill>
            <a:srgbClr val="142952"/>
          </a:solidFill>
          <a:ln w="12700">
            <a:solidFill>
              <a:srgbClr val="00C2CB">
                <a:alpha val="50000"/>
              </a:srgbClr>
            </a:solidFill>
            <a:prstDash val="solid"/>
          </a:ln>
        </p:spPr>
        <p:txBody>
          <a:bodyPr/>
          <a:lstStyle/>
          <a:p>
            <a:endParaRPr/>
          </a:p>
        </p:txBody>
      </p:sp>
      <p:sp>
        <p:nvSpPr>
          <p:cNvPr id="7" name="Text 5"/>
          <p:cNvSpPr/>
          <p:nvPr/>
        </p:nvSpPr>
        <p:spPr>
          <a:xfrm>
            <a:off x="457200" y="4407408"/>
            <a:ext cx="8229600" cy="384048"/>
          </a:xfrm>
          <a:prstGeom prst="rect">
            <a:avLst/>
          </a:prstGeom>
          <a:noFill/>
          <a:ln/>
        </p:spPr>
        <p:txBody>
          <a:bodyPr wrap="square" lIns="0" tIns="0" rIns="0" bIns="0" rtlCol="0" anchor="ctr"/>
          <a:lstStyle/>
          <a:p>
            <a:pPr marL="0" indent="0">
              <a:buNone/>
            </a:pPr>
            <a:r>
              <a:rPr lang="en-US" sz="1150" i="1" dirty="0">
                <a:solidFill>
                  <a:srgbClr val="6B93B0"/>
                </a:solidFill>
                <a:latin typeface="Calibri" pitchFamily="34" charset="0"/>
                <a:ea typeface="Calibri" pitchFamily="34" charset="-122"/>
                <a:cs typeface="Calibri" pitchFamily="34" charset="-120"/>
              </a:rPr>
              <a:t>🏠  Evening suggestion: read through Lab_Intermediate_DeweyLib.cs milestones M5–M8 — come with questions!</a:t>
            </a:r>
            <a:endParaRPr lang="en-US" sz="11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36">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457200" cy="5143500"/>
          </a:xfrm>
          <a:prstGeom prst="rect">
            <a:avLst/>
          </a:prstGeom>
          <a:solidFill>
            <a:srgbClr val="00C2CB"/>
          </a:solidFill>
          <a:ln w="12700">
            <a:solidFill>
              <a:srgbClr val="00C2CB"/>
            </a:solidFill>
            <a:prstDash val="solid"/>
          </a:ln>
        </p:spPr>
        <p:txBody>
          <a:bodyPr/>
          <a:lstStyle/>
          <a:p>
            <a:endParaRPr/>
          </a:p>
        </p:txBody>
      </p:sp>
      <p:sp>
        <p:nvSpPr>
          <p:cNvPr id="3" name="Shape 1"/>
          <p:cNvSpPr/>
          <p:nvPr/>
        </p:nvSpPr>
        <p:spPr>
          <a:xfrm>
            <a:off x="731520" y="457200"/>
            <a:ext cx="1828800" cy="438912"/>
          </a:xfrm>
          <a:prstGeom prst="rect">
            <a:avLst/>
          </a:prstGeom>
          <a:solidFill>
            <a:srgbClr val="00C2CB"/>
          </a:solidFill>
          <a:ln w="12700">
            <a:solidFill>
              <a:srgbClr val="00C2CB"/>
            </a:solidFill>
            <a:prstDash val="solid"/>
          </a:ln>
        </p:spPr>
        <p:txBody>
          <a:bodyPr/>
          <a:lstStyle/>
          <a:p>
            <a:endParaRPr/>
          </a:p>
        </p:txBody>
      </p:sp>
      <p:sp>
        <p:nvSpPr>
          <p:cNvPr id="4" name="Text 2"/>
          <p:cNvSpPr/>
          <p:nvPr/>
        </p:nvSpPr>
        <p:spPr>
          <a:xfrm>
            <a:off x="731520" y="438912"/>
            <a:ext cx="1828800" cy="475488"/>
          </a:xfrm>
          <a:prstGeom prst="rect">
            <a:avLst/>
          </a:prstGeom>
          <a:noFill/>
          <a:ln/>
        </p:spPr>
        <p:txBody>
          <a:bodyPr wrap="square" lIns="0" tIns="0" rIns="0" bIns="0" rtlCol="0" anchor="ctr"/>
          <a:lstStyle/>
          <a:p>
            <a:pPr marL="0" indent="0" algn="ctr">
              <a:buNone/>
            </a:pPr>
            <a:r>
              <a:rPr lang="en-US" sz="1300" b="1" dirty="0">
                <a:solidFill>
                  <a:srgbClr val="0A1628"/>
                </a:solidFill>
                <a:latin typeface="Calibri" pitchFamily="34" charset="0"/>
                <a:ea typeface="Calibri" pitchFamily="34" charset="-122"/>
                <a:cs typeface="Calibri" pitchFamily="34" charset="-120"/>
              </a:rPr>
              <a:t>DAY 2  ·  3.5 HOURS</a:t>
            </a:r>
            <a:endParaRPr lang="en-US" sz="1300" dirty="0"/>
          </a:p>
        </p:txBody>
      </p:sp>
      <p:sp>
        <p:nvSpPr>
          <p:cNvPr id="5" name="Text 3"/>
          <p:cNvSpPr/>
          <p:nvPr/>
        </p:nvSpPr>
        <p:spPr>
          <a:xfrm>
            <a:off x="731520" y="1051560"/>
            <a:ext cx="8046720" cy="1828800"/>
          </a:xfrm>
          <a:prstGeom prst="rect">
            <a:avLst/>
          </a:prstGeom>
          <a:noFill/>
          <a:ln/>
        </p:spPr>
        <p:txBody>
          <a:bodyPr wrap="square" lIns="0" tIns="0" rIns="0" bIns="0" rtlCol="0" anchor="ctr"/>
          <a:lstStyle/>
          <a:p>
            <a:pPr marL="0" indent="0">
              <a:buNone/>
            </a:pPr>
            <a:r>
              <a:rPr lang="en-US" sz="3800" b="1" dirty="0">
                <a:solidFill>
                  <a:srgbClr val="FFFFFF"/>
                </a:solidFill>
                <a:latin typeface="Calibri" pitchFamily="34" charset="0"/>
                <a:ea typeface="Calibri" pitchFamily="34" charset="-122"/>
                <a:cs typeface="Calibri" pitchFamily="34" charset="-120"/>
              </a:rPr>
              <a:t>Advanced C# &amp; Applications</a:t>
            </a:r>
            <a:endParaRPr lang="en-US" sz="3800" dirty="0"/>
          </a:p>
        </p:txBody>
      </p:sp>
      <p:sp>
        <p:nvSpPr>
          <p:cNvPr id="6" name="Text 4"/>
          <p:cNvSpPr/>
          <p:nvPr/>
        </p:nvSpPr>
        <p:spPr>
          <a:xfrm>
            <a:off x="731520" y="2926080"/>
            <a:ext cx="7315200" cy="731520"/>
          </a:xfrm>
          <a:prstGeom prst="rect">
            <a:avLst/>
          </a:prstGeom>
          <a:noFill/>
          <a:ln/>
        </p:spPr>
        <p:txBody>
          <a:bodyPr wrap="square" lIns="0" tIns="0" rIns="0" bIns="0" rtlCol="0" anchor="ctr"/>
          <a:lstStyle/>
          <a:p>
            <a:pPr marL="0" indent="0">
              <a:buNone/>
            </a:pPr>
            <a:r>
              <a:rPr lang="en-US" sz="1600" dirty="0">
                <a:solidFill>
                  <a:srgbClr val="B8D4E8"/>
                </a:solidFill>
                <a:latin typeface="Calibri" pitchFamily="34" charset="0"/>
                <a:ea typeface="Calibri" pitchFamily="34" charset="-122"/>
                <a:cs typeface="Calibri" pitchFamily="34" charset="-120"/>
              </a:rPr>
              <a:t>LINQ · Delegates · Async · Exceptions · Reflection · ASP.NET Core</a:t>
            </a:r>
            <a:endParaRPr lang="en-US" sz="1600" dirty="0"/>
          </a:p>
        </p:txBody>
      </p:sp>
      <p:sp>
        <p:nvSpPr>
          <p:cNvPr id="7" name="Text 5"/>
          <p:cNvSpPr/>
          <p:nvPr/>
        </p:nvSpPr>
        <p:spPr>
          <a:xfrm>
            <a:off x="731520" y="4572000"/>
            <a:ext cx="7315200" cy="365760"/>
          </a:xfrm>
          <a:prstGeom prst="rect">
            <a:avLst/>
          </a:prstGeom>
          <a:noFill/>
          <a:ln/>
        </p:spPr>
        <p:txBody>
          <a:bodyPr wrap="square" rtlCol="0" anchor="ctr"/>
          <a:lstStyle/>
          <a:p>
            <a:pPr marL="0" indent="0">
              <a:buNone/>
            </a:pPr>
            <a:r>
              <a:rPr lang="en-US" sz="1000" dirty="0">
                <a:solidFill>
                  <a:srgbClr val="6B93B0"/>
                </a:solidFill>
                <a:latin typeface="Calibri" pitchFamily="34" charset="0"/>
                <a:ea typeface="Calibri" pitchFamily="34" charset="-122"/>
                <a:cs typeface="Calibri" pitchFamily="34" charset="-120"/>
              </a:rPr>
              <a:t>C# Fundamentals &amp; Advanced Topics  ·  Remote Training</a:t>
            </a:r>
            <a:endParaRPr lang="en-US" sz="10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37">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142952"/>
          </a:solidFill>
          <a:ln w="12700">
            <a:solidFill>
              <a:srgbClr val="142952"/>
            </a:solidFill>
            <a:prstDash val="solid"/>
          </a:ln>
        </p:spPr>
        <p:txBody>
          <a:bodyPr/>
          <a:lstStyle/>
          <a:p>
            <a:endParaRPr lang="en-US"/>
          </a:p>
        </p:txBody>
      </p:sp>
      <p:sp>
        <p:nvSpPr>
          <p:cNvPr id="3" name="Shape 1"/>
          <p:cNvSpPr/>
          <p:nvPr/>
        </p:nvSpPr>
        <p:spPr>
          <a:xfrm>
            <a:off x="0" y="713232"/>
            <a:ext cx="9144000" cy="45720"/>
          </a:xfrm>
          <a:prstGeom prst="rect">
            <a:avLst/>
          </a:prstGeom>
          <a:solidFill>
            <a:srgbClr val="00C2CB"/>
          </a:solidFill>
          <a:ln w="12700">
            <a:solidFill>
              <a:srgbClr val="00C2CB"/>
            </a:solidFill>
            <a:prstDash val="solid"/>
          </a:ln>
        </p:spPr>
        <p:txBody>
          <a:bodyPr/>
          <a:lstStyle/>
          <a:p>
            <a:endParaRPr lang="en-US"/>
          </a:p>
        </p:txBody>
      </p:sp>
      <p:sp>
        <p:nvSpPr>
          <p:cNvPr id="4" name="Text 2"/>
          <p:cNvSpPr/>
          <p:nvPr/>
        </p:nvSpPr>
        <p:spPr>
          <a:xfrm>
            <a:off x="365760" y="91440"/>
            <a:ext cx="8412480" cy="548640"/>
          </a:xfrm>
          <a:prstGeom prst="rect">
            <a:avLst/>
          </a:prstGeom>
          <a:noFill/>
          <a:ln/>
        </p:spPr>
        <p:txBody>
          <a:bodyPr wrap="square" lIns="0" tIns="0" rIns="0" bIns="0"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Day 2 — Full Agenda</a:t>
            </a:r>
            <a:endParaRPr lang="en-US" sz="2100" dirty="0"/>
          </a:p>
        </p:txBody>
      </p:sp>
      <p:sp>
        <p:nvSpPr>
          <p:cNvPr id="5" name="Shape 3"/>
          <p:cNvSpPr/>
          <p:nvPr/>
        </p:nvSpPr>
        <p:spPr>
          <a:xfrm>
            <a:off x="0" y="960120"/>
            <a:ext cx="9144000" cy="380307"/>
          </a:xfrm>
          <a:prstGeom prst="rect">
            <a:avLst/>
          </a:prstGeom>
          <a:solidFill>
            <a:srgbClr val="142952"/>
          </a:solidFill>
          <a:ln w="12700">
            <a:solidFill>
              <a:srgbClr val="142952"/>
            </a:solidFill>
            <a:prstDash val="solid"/>
          </a:ln>
        </p:spPr>
        <p:txBody>
          <a:bodyPr/>
          <a:lstStyle/>
          <a:p>
            <a:endParaRPr lang="en-US"/>
          </a:p>
        </p:txBody>
      </p:sp>
      <p:sp>
        <p:nvSpPr>
          <p:cNvPr id="6" name="Shape 4"/>
          <p:cNvSpPr/>
          <p:nvPr/>
        </p:nvSpPr>
        <p:spPr>
          <a:xfrm>
            <a:off x="0" y="960120"/>
            <a:ext cx="54864" cy="380307"/>
          </a:xfrm>
          <a:prstGeom prst="rect">
            <a:avLst/>
          </a:prstGeom>
          <a:solidFill>
            <a:srgbClr val="00C2CB"/>
          </a:solidFill>
          <a:ln w="12700">
            <a:solidFill>
              <a:srgbClr val="00C2CB"/>
            </a:solidFill>
            <a:prstDash val="solid"/>
          </a:ln>
        </p:spPr>
        <p:txBody>
          <a:bodyPr/>
          <a:lstStyle/>
          <a:p>
            <a:endParaRPr lang="en-US"/>
          </a:p>
        </p:txBody>
      </p:sp>
      <p:sp>
        <p:nvSpPr>
          <p:cNvPr id="7" name="Text 5"/>
          <p:cNvSpPr/>
          <p:nvPr/>
        </p:nvSpPr>
        <p:spPr>
          <a:xfrm>
            <a:off x="182880" y="960120"/>
            <a:ext cx="1371600" cy="380307"/>
          </a:xfrm>
          <a:prstGeom prst="rect">
            <a:avLst/>
          </a:prstGeom>
          <a:noFill/>
          <a:ln/>
        </p:spPr>
        <p:txBody>
          <a:bodyPr wrap="square" lIns="0" tIns="0" rIns="0" bIns="0" rtlCol="0" anchor="ctr"/>
          <a:lstStyle/>
          <a:p>
            <a:pPr marL="0" indent="0">
              <a:buNone/>
            </a:pPr>
            <a:r>
              <a:rPr lang="en-US" sz="1150" dirty="0">
                <a:solidFill>
                  <a:srgbClr val="6B93B0"/>
                </a:solidFill>
                <a:latin typeface="Calibri" pitchFamily="34" charset="0"/>
                <a:ea typeface="Calibri" pitchFamily="34" charset="-122"/>
                <a:cs typeface="Calibri" pitchFamily="34" charset="-120"/>
              </a:rPr>
              <a:t>8:00 – 8:05</a:t>
            </a:r>
            <a:endParaRPr lang="en-US" sz="1150" dirty="0"/>
          </a:p>
        </p:txBody>
      </p:sp>
      <p:sp>
        <p:nvSpPr>
          <p:cNvPr id="8" name="Text 6"/>
          <p:cNvSpPr/>
          <p:nvPr/>
        </p:nvSpPr>
        <p:spPr>
          <a:xfrm>
            <a:off x="1737360" y="960120"/>
            <a:ext cx="6217920" cy="380307"/>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Day 1 recap Q&amp;A</a:t>
            </a:r>
            <a:endParaRPr lang="en-US" sz="1250" dirty="0"/>
          </a:p>
        </p:txBody>
      </p:sp>
      <p:sp>
        <p:nvSpPr>
          <p:cNvPr id="9" name="Text 7"/>
          <p:cNvSpPr/>
          <p:nvPr/>
        </p:nvSpPr>
        <p:spPr>
          <a:xfrm>
            <a:off x="8046720" y="960120"/>
            <a:ext cx="1005840" cy="380307"/>
          </a:xfrm>
          <a:prstGeom prst="rect">
            <a:avLst/>
          </a:prstGeom>
          <a:noFill/>
          <a:ln/>
        </p:spPr>
        <p:txBody>
          <a:bodyPr wrap="square" lIns="0" tIns="0" rIns="0" bIns="0" rtlCol="0" anchor="ctr"/>
          <a:lstStyle/>
          <a:p>
            <a:pPr marL="0" indent="0" algn="r">
              <a:buNone/>
            </a:pPr>
            <a:r>
              <a:rPr lang="en-US" sz="1000" dirty="0">
                <a:solidFill>
                  <a:srgbClr val="00C2CB"/>
                </a:solidFill>
                <a:latin typeface="Calibri" pitchFamily="34" charset="0"/>
                <a:ea typeface="Calibri" pitchFamily="34" charset="-122"/>
                <a:cs typeface="Calibri" pitchFamily="34" charset="-120"/>
              </a:rPr>
              <a:t>Instruction</a:t>
            </a:r>
            <a:endParaRPr lang="en-US" sz="1000" dirty="0"/>
          </a:p>
        </p:txBody>
      </p:sp>
      <p:sp>
        <p:nvSpPr>
          <p:cNvPr id="10" name="Shape 8"/>
          <p:cNvSpPr/>
          <p:nvPr/>
        </p:nvSpPr>
        <p:spPr>
          <a:xfrm>
            <a:off x="0" y="1340427"/>
            <a:ext cx="9144000" cy="380307"/>
          </a:xfrm>
          <a:prstGeom prst="rect">
            <a:avLst/>
          </a:prstGeom>
          <a:solidFill>
            <a:srgbClr val="0F2040"/>
          </a:solidFill>
          <a:ln w="12700">
            <a:solidFill>
              <a:srgbClr val="0F2040"/>
            </a:solidFill>
            <a:prstDash val="solid"/>
          </a:ln>
        </p:spPr>
        <p:txBody>
          <a:bodyPr/>
          <a:lstStyle/>
          <a:p>
            <a:endParaRPr lang="en-US"/>
          </a:p>
        </p:txBody>
      </p:sp>
      <p:sp>
        <p:nvSpPr>
          <p:cNvPr id="11" name="Shape 9"/>
          <p:cNvSpPr/>
          <p:nvPr/>
        </p:nvSpPr>
        <p:spPr>
          <a:xfrm>
            <a:off x="0" y="1340427"/>
            <a:ext cx="54864" cy="380307"/>
          </a:xfrm>
          <a:prstGeom prst="rect">
            <a:avLst/>
          </a:prstGeom>
          <a:solidFill>
            <a:srgbClr val="00C2CB"/>
          </a:solidFill>
          <a:ln w="12700">
            <a:solidFill>
              <a:srgbClr val="00C2CB"/>
            </a:solidFill>
            <a:prstDash val="solid"/>
          </a:ln>
        </p:spPr>
        <p:txBody>
          <a:bodyPr/>
          <a:lstStyle/>
          <a:p>
            <a:endParaRPr lang="en-US"/>
          </a:p>
        </p:txBody>
      </p:sp>
      <p:sp>
        <p:nvSpPr>
          <p:cNvPr id="12" name="Text 10"/>
          <p:cNvSpPr/>
          <p:nvPr/>
        </p:nvSpPr>
        <p:spPr>
          <a:xfrm>
            <a:off x="182880" y="1340427"/>
            <a:ext cx="1371600" cy="380307"/>
          </a:xfrm>
          <a:prstGeom prst="rect">
            <a:avLst/>
          </a:prstGeom>
          <a:noFill/>
          <a:ln/>
        </p:spPr>
        <p:txBody>
          <a:bodyPr wrap="square" lIns="0" tIns="0" rIns="0" bIns="0" rtlCol="0" anchor="ctr"/>
          <a:lstStyle/>
          <a:p>
            <a:pPr marL="0" indent="0">
              <a:buNone/>
            </a:pPr>
            <a:r>
              <a:rPr lang="en-US" sz="1150" dirty="0">
                <a:solidFill>
                  <a:srgbClr val="6B93B0"/>
                </a:solidFill>
                <a:latin typeface="Calibri" pitchFamily="34" charset="0"/>
                <a:ea typeface="Calibri" pitchFamily="34" charset="-122"/>
                <a:cs typeface="Calibri" pitchFamily="34" charset="-120"/>
              </a:rPr>
              <a:t>8:05 – 8:40</a:t>
            </a:r>
            <a:endParaRPr lang="en-US" sz="1150" dirty="0"/>
          </a:p>
        </p:txBody>
      </p:sp>
      <p:sp>
        <p:nvSpPr>
          <p:cNvPr id="13" name="Text 11"/>
          <p:cNvSpPr/>
          <p:nvPr/>
        </p:nvSpPr>
        <p:spPr>
          <a:xfrm>
            <a:off x="1737360" y="1340427"/>
            <a:ext cx="6217920" cy="380307"/>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Section 5: LINQ — Language Integrated Query</a:t>
            </a:r>
            <a:endParaRPr lang="en-US" sz="1250" dirty="0"/>
          </a:p>
        </p:txBody>
      </p:sp>
      <p:sp>
        <p:nvSpPr>
          <p:cNvPr id="14" name="Text 12"/>
          <p:cNvSpPr/>
          <p:nvPr/>
        </p:nvSpPr>
        <p:spPr>
          <a:xfrm>
            <a:off x="8046720" y="1340427"/>
            <a:ext cx="1005840" cy="380307"/>
          </a:xfrm>
          <a:prstGeom prst="rect">
            <a:avLst/>
          </a:prstGeom>
          <a:noFill/>
          <a:ln/>
        </p:spPr>
        <p:txBody>
          <a:bodyPr wrap="square" lIns="0" tIns="0" rIns="0" bIns="0" rtlCol="0" anchor="ctr"/>
          <a:lstStyle/>
          <a:p>
            <a:pPr marL="0" indent="0" algn="r">
              <a:buNone/>
            </a:pPr>
            <a:r>
              <a:rPr lang="en-US" sz="1000" dirty="0">
                <a:solidFill>
                  <a:srgbClr val="00C2CB"/>
                </a:solidFill>
                <a:latin typeface="Calibri" pitchFamily="34" charset="0"/>
                <a:ea typeface="Calibri" pitchFamily="34" charset="-122"/>
                <a:cs typeface="Calibri" pitchFamily="34" charset="-120"/>
              </a:rPr>
              <a:t>Instruction</a:t>
            </a:r>
            <a:endParaRPr lang="en-US" sz="1000" dirty="0"/>
          </a:p>
        </p:txBody>
      </p:sp>
      <p:sp>
        <p:nvSpPr>
          <p:cNvPr id="15" name="Shape 13"/>
          <p:cNvSpPr/>
          <p:nvPr/>
        </p:nvSpPr>
        <p:spPr>
          <a:xfrm>
            <a:off x="0" y="1720735"/>
            <a:ext cx="9144000" cy="380307"/>
          </a:xfrm>
          <a:prstGeom prst="rect">
            <a:avLst/>
          </a:prstGeom>
          <a:solidFill>
            <a:srgbClr val="142952"/>
          </a:solidFill>
          <a:ln w="12700">
            <a:solidFill>
              <a:srgbClr val="142952"/>
            </a:solidFill>
            <a:prstDash val="solid"/>
          </a:ln>
        </p:spPr>
        <p:txBody>
          <a:bodyPr/>
          <a:lstStyle/>
          <a:p>
            <a:endParaRPr lang="en-US"/>
          </a:p>
        </p:txBody>
      </p:sp>
      <p:sp>
        <p:nvSpPr>
          <p:cNvPr id="16" name="Shape 14"/>
          <p:cNvSpPr/>
          <p:nvPr/>
        </p:nvSpPr>
        <p:spPr>
          <a:xfrm>
            <a:off x="0" y="1720735"/>
            <a:ext cx="54864" cy="380307"/>
          </a:xfrm>
          <a:prstGeom prst="rect">
            <a:avLst/>
          </a:prstGeom>
          <a:solidFill>
            <a:srgbClr val="F59E0B"/>
          </a:solidFill>
          <a:ln w="12700">
            <a:solidFill>
              <a:srgbClr val="F59E0B"/>
            </a:solidFill>
            <a:prstDash val="solid"/>
          </a:ln>
        </p:spPr>
        <p:txBody>
          <a:bodyPr/>
          <a:lstStyle/>
          <a:p>
            <a:endParaRPr lang="en-US"/>
          </a:p>
        </p:txBody>
      </p:sp>
      <p:sp>
        <p:nvSpPr>
          <p:cNvPr id="17" name="Text 15"/>
          <p:cNvSpPr/>
          <p:nvPr/>
        </p:nvSpPr>
        <p:spPr>
          <a:xfrm>
            <a:off x="182880" y="1720735"/>
            <a:ext cx="1371600" cy="380307"/>
          </a:xfrm>
          <a:prstGeom prst="rect">
            <a:avLst/>
          </a:prstGeom>
          <a:noFill/>
          <a:ln/>
        </p:spPr>
        <p:txBody>
          <a:bodyPr wrap="square" lIns="0" tIns="0" rIns="0" bIns="0" rtlCol="0" anchor="ctr"/>
          <a:lstStyle/>
          <a:p>
            <a:pPr marL="0" indent="0">
              <a:buNone/>
            </a:pPr>
            <a:r>
              <a:rPr lang="en-US" sz="1150" dirty="0">
                <a:solidFill>
                  <a:srgbClr val="6B93B0"/>
                </a:solidFill>
                <a:latin typeface="Calibri" pitchFamily="34" charset="0"/>
                <a:ea typeface="Calibri" pitchFamily="34" charset="-122"/>
                <a:cs typeface="Calibri" pitchFamily="34" charset="-120"/>
              </a:rPr>
              <a:t>8:40 – 9:00</a:t>
            </a:r>
            <a:endParaRPr lang="en-US" sz="1150" dirty="0"/>
          </a:p>
        </p:txBody>
      </p:sp>
      <p:sp>
        <p:nvSpPr>
          <p:cNvPr id="18" name="Text 16"/>
          <p:cNvSpPr/>
          <p:nvPr/>
        </p:nvSpPr>
        <p:spPr>
          <a:xfrm>
            <a:off x="1737360" y="1720735"/>
            <a:ext cx="6217920" cy="380307"/>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Lab 4: LINQ Reports on the DeweyLib Catalog</a:t>
            </a:r>
            <a:endParaRPr lang="en-US" sz="1250" dirty="0"/>
          </a:p>
        </p:txBody>
      </p:sp>
      <p:sp>
        <p:nvSpPr>
          <p:cNvPr id="19" name="Text 17"/>
          <p:cNvSpPr/>
          <p:nvPr/>
        </p:nvSpPr>
        <p:spPr>
          <a:xfrm>
            <a:off x="8046720" y="1720735"/>
            <a:ext cx="1005840" cy="380307"/>
          </a:xfrm>
          <a:prstGeom prst="rect">
            <a:avLst/>
          </a:prstGeom>
          <a:noFill/>
          <a:ln/>
        </p:spPr>
        <p:txBody>
          <a:bodyPr wrap="square" lIns="0" tIns="0" rIns="0" bIns="0" rtlCol="0" anchor="ctr"/>
          <a:lstStyle/>
          <a:p>
            <a:pPr marL="0" indent="0" algn="r">
              <a:buNone/>
            </a:pPr>
            <a:r>
              <a:rPr lang="en-US" sz="1000" dirty="0">
                <a:solidFill>
                  <a:srgbClr val="F59E0B"/>
                </a:solidFill>
                <a:latin typeface="Calibri" pitchFamily="34" charset="0"/>
                <a:ea typeface="Calibri" pitchFamily="34" charset="-122"/>
                <a:cs typeface="Calibri" pitchFamily="34" charset="-120"/>
              </a:rPr>
              <a:t>Lab</a:t>
            </a:r>
            <a:endParaRPr lang="en-US" sz="1000" dirty="0"/>
          </a:p>
        </p:txBody>
      </p:sp>
      <p:sp>
        <p:nvSpPr>
          <p:cNvPr id="20" name="Shape 18"/>
          <p:cNvSpPr/>
          <p:nvPr/>
        </p:nvSpPr>
        <p:spPr>
          <a:xfrm>
            <a:off x="0" y="2101042"/>
            <a:ext cx="9144000" cy="380307"/>
          </a:xfrm>
          <a:prstGeom prst="rect">
            <a:avLst/>
          </a:prstGeom>
          <a:solidFill>
            <a:srgbClr val="0F2040"/>
          </a:solidFill>
          <a:ln w="12700">
            <a:solidFill>
              <a:srgbClr val="0F2040"/>
            </a:solidFill>
            <a:prstDash val="solid"/>
          </a:ln>
        </p:spPr>
        <p:txBody>
          <a:bodyPr/>
          <a:lstStyle/>
          <a:p>
            <a:endParaRPr lang="en-US"/>
          </a:p>
        </p:txBody>
      </p:sp>
      <p:sp>
        <p:nvSpPr>
          <p:cNvPr id="21" name="Shape 19"/>
          <p:cNvSpPr/>
          <p:nvPr/>
        </p:nvSpPr>
        <p:spPr>
          <a:xfrm>
            <a:off x="0" y="2101042"/>
            <a:ext cx="54864" cy="380307"/>
          </a:xfrm>
          <a:prstGeom prst="rect">
            <a:avLst/>
          </a:prstGeom>
          <a:solidFill>
            <a:srgbClr val="5B21B6"/>
          </a:solidFill>
          <a:ln w="12700">
            <a:solidFill>
              <a:srgbClr val="5B21B6"/>
            </a:solidFill>
            <a:prstDash val="solid"/>
          </a:ln>
        </p:spPr>
        <p:txBody>
          <a:bodyPr/>
          <a:lstStyle/>
          <a:p>
            <a:endParaRPr lang="en-US"/>
          </a:p>
        </p:txBody>
      </p:sp>
      <p:sp>
        <p:nvSpPr>
          <p:cNvPr id="22" name="Text 20"/>
          <p:cNvSpPr/>
          <p:nvPr/>
        </p:nvSpPr>
        <p:spPr>
          <a:xfrm>
            <a:off x="182880" y="2101042"/>
            <a:ext cx="1371600" cy="380307"/>
          </a:xfrm>
          <a:prstGeom prst="rect">
            <a:avLst/>
          </a:prstGeom>
          <a:noFill/>
          <a:ln/>
        </p:spPr>
        <p:txBody>
          <a:bodyPr wrap="square" lIns="0" tIns="0" rIns="0" bIns="0" rtlCol="0" anchor="ctr"/>
          <a:lstStyle/>
          <a:p>
            <a:pPr marL="0" indent="0">
              <a:buNone/>
            </a:pPr>
            <a:r>
              <a:rPr lang="en-US" sz="1150" dirty="0">
                <a:solidFill>
                  <a:srgbClr val="6B93B0"/>
                </a:solidFill>
                <a:latin typeface="Calibri" pitchFamily="34" charset="0"/>
                <a:ea typeface="Calibri" pitchFamily="34" charset="-122"/>
                <a:cs typeface="Calibri" pitchFamily="34" charset="-120"/>
              </a:rPr>
              <a:t>9:00 – 9:05</a:t>
            </a:r>
            <a:endParaRPr lang="en-US" sz="1150" dirty="0"/>
          </a:p>
        </p:txBody>
      </p:sp>
      <p:sp>
        <p:nvSpPr>
          <p:cNvPr id="23" name="Text 21"/>
          <p:cNvSpPr/>
          <p:nvPr/>
        </p:nvSpPr>
        <p:spPr>
          <a:xfrm>
            <a:off x="1737360" y="2101042"/>
            <a:ext cx="6217920" cy="380307"/>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Break</a:t>
            </a:r>
            <a:endParaRPr lang="en-US" sz="1250" dirty="0"/>
          </a:p>
        </p:txBody>
      </p:sp>
      <p:sp>
        <p:nvSpPr>
          <p:cNvPr id="24" name="Text 22"/>
          <p:cNvSpPr/>
          <p:nvPr/>
        </p:nvSpPr>
        <p:spPr>
          <a:xfrm>
            <a:off x="8046720" y="2101042"/>
            <a:ext cx="1005840" cy="380307"/>
          </a:xfrm>
          <a:prstGeom prst="rect">
            <a:avLst/>
          </a:prstGeom>
          <a:noFill/>
          <a:ln/>
        </p:spPr>
        <p:txBody>
          <a:bodyPr wrap="square" lIns="0" tIns="0" rIns="0" bIns="0" rtlCol="0" anchor="ctr"/>
          <a:lstStyle/>
          <a:p>
            <a:pPr marL="0" indent="0" algn="r">
              <a:buNone/>
            </a:pPr>
            <a:r>
              <a:rPr lang="en-US" sz="1000" dirty="0">
                <a:solidFill>
                  <a:srgbClr val="5B21B6"/>
                </a:solidFill>
                <a:latin typeface="Calibri" pitchFamily="34" charset="0"/>
                <a:ea typeface="Calibri" pitchFamily="34" charset="-122"/>
                <a:cs typeface="Calibri" pitchFamily="34" charset="-120"/>
              </a:rPr>
              <a:t>Break</a:t>
            </a:r>
            <a:endParaRPr lang="en-US" sz="1000" dirty="0"/>
          </a:p>
        </p:txBody>
      </p:sp>
      <p:sp>
        <p:nvSpPr>
          <p:cNvPr id="25" name="Shape 23"/>
          <p:cNvSpPr/>
          <p:nvPr/>
        </p:nvSpPr>
        <p:spPr>
          <a:xfrm>
            <a:off x="0" y="2481349"/>
            <a:ext cx="9144000" cy="380307"/>
          </a:xfrm>
          <a:prstGeom prst="rect">
            <a:avLst/>
          </a:prstGeom>
          <a:solidFill>
            <a:srgbClr val="142952"/>
          </a:solidFill>
          <a:ln w="12700">
            <a:solidFill>
              <a:srgbClr val="142952"/>
            </a:solidFill>
            <a:prstDash val="solid"/>
          </a:ln>
        </p:spPr>
        <p:txBody>
          <a:bodyPr/>
          <a:lstStyle/>
          <a:p>
            <a:endParaRPr lang="en-US"/>
          </a:p>
        </p:txBody>
      </p:sp>
      <p:sp>
        <p:nvSpPr>
          <p:cNvPr id="26" name="Shape 24"/>
          <p:cNvSpPr/>
          <p:nvPr/>
        </p:nvSpPr>
        <p:spPr>
          <a:xfrm>
            <a:off x="0" y="2481349"/>
            <a:ext cx="54864" cy="380307"/>
          </a:xfrm>
          <a:prstGeom prst="rect">
            <a:avLst/>
          </a:prstGeom>
          <a:solidFill>
            <a:srgbClr val="00C2CB"/>
          </a:solidFill>
          <a:ln w="12700">
            <a:solidFill>
              <a:srgbClr val="00C2CB"/>
            </a:solidFill>
            <a:prstDash val="solid"/>
          </a:ln>
        </p:spPr>
        <p:txBody>
          <a:bodyPr/>
          <a:lstStyle/>
          <a:p>
            <a:endParaRPr lang="en-US"/>
          </a:p>
        </p:txBody>
      </p:sp>
      <p:sp>
        <p:nvSpPr>
          <p:cNvPr id="27" name="Text 25"/>
          <p:cNvSpPr/>
          <p:nvPr/>
        </p:nvSpPr>
        <p:spPr>
          <a:xfrm>
            <a:off x="182880" y="2481349"/>
            <a:ext cx="1371600" cy="380307"/>
          </a:xfrm>
          <a:prstGeom prst="rect">
            <a:avLst/>
          </a:prstGeom>
          <a:noFill/>
          <a:ln/>
        </p:spPr>
        <p:txBody>
          <a:bodyPr wrap="square" lIns="0" tIns="0" rIns="0" bIns="0" rtlCol="0" anchor="ctr"/>
          <a:lstStyle/>
          <a:p>
            <a:pPr marL="0" indent="0">
              <a:buNone/>
            </a:pPr>
            <a:r>
              <a:rPr lang="en-US" sz="1150" dirty="0">
                <a:solidFill>
                  <a:srgbClr val="6B93B0"/>
                </a:solidFill>
                <a:latin typeface="Calibri" pitchFamily="34" charset="0"/>
                <a:ea typeface="Calibri" pitchFamily="34" charset="-122"/>
                <a:cs typeface="Calibri" pitchFamily="34" charset="-120"/>
              </a:rPr>
              <a:t>9:05 – 9:35</a:t>
            </a:r>
            <a:endParaRPr lang="en-US" sz="1150" dirty="0"/>
          </a:p>
        </p:txBody>
      </p:sp>
      <p:sp>
        <p:nvSpPr>
          <p:cNvPr id="28" name="Text 26"/>
          <p:cNvSpPr/>
          <p:nvPr/>
        </p:nvSpPr>
        <p:spPr>
          <a:xfrm>
            <a:off x="1737360" y="2481349"/>
            <a:ext cx="6217920" cy="380307"/>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Section 6: Delegates, Events &amp; the Observer Pattern</a:t>
            </a:r>
            <a:endParaRPr lang="en-US" sz="1250" dirty="0"/>
          </a:p>
        </p:txBody>
      </p:sp>
      <p:sp>
        <p:nvSpPr>
          <p:cNvPr id="29" name="Text 27"/>
          <p:cNvSpPr/>
          <p:nvPr/>
        </p:nvSpPr>
        <p:spPr>
          <a:xfrm>
            <a:off x="8046720" y="2481349"/>
            <a:ext cx="1005840" cy="380307"/>
          </a:xfrm>
          <a:prstGeom prst="rect">
            <a:avLst/>
          </a:prstGeom>
          <a:noFill/>
          <a:ln/>
        </p:spPr>
        <p:txBody>
          <a:bodyPr wrap="square" lIns="0" tIns="0" rIns="0" bIns="0" rtlCol="0" anchor="ctr"/>
          <a:lstStyle/>
          <a:p>
            <a:pPr marL="0" indent="0" algn="r">
              <a:buNone/>
            </a:pPr>
            <a:r>
              <a:rPr lang="en-US" sz="1000" dirty="0">
                <a:solidFill>
                  <a:srgbClr val="00C2CB"/>
                </a:solidFill>
                <a:latin typeface="Calibri" pitchFamily="34" charset="0"/>
                <a:ea typeface="Calibri" pitchFamily="34" charset="-122"/>
                <a:cs typeface="Calibri" pitchFamily="34" charset="-120"/>
              </a:rPr>
              <a:t>Instruction</a:t>
            </a:r>
            <a:endParaRPr lang="en-US" sz="1000" dirty="0"/>
          </a:p>
        </p:txBody>
      </p:sp>
      <p:sp>
        <p:nvSpPr>
          <p:cNvPr id="30" name="Shape 28"/>
          <p:cNvSpPr/>
          <p:nvPr/>
        </p:nvSpPr>
        <p:spPr>
          <a:xfrm>
            <a:off x="0" y="2861656"/>
            <a:ext cx="9144000" cy="380307"/>
          </a:xfrm>
          <a:prstGeom prst="rect">
            <a:avLst/>
          </a:prstGeom>
          <a:solidFill>
            <a:srgbClr val="0F2040"/>
          </a:solidFill>
          <a:ln w="12700">
            <a:solidFill>
              <a:srgbClr val="0F2040"/>
            </a:solidFill>
            <a:prstDash val="solid"/>
          </a:ln>
        </p:spPr>
        <p:txBody>
          <a:bodyPr/>
          <a:lstStyle/>
          <a:p>
            <a:endParaRPr lang="en-US"/>
          </a:p>
        </p:txBody>
      </p:sp>
      <p:sp>
        <p:nvSpPr>
          <p:cNvPr id="31" name="Shape 29"/>
          <p:cNvSpPr/>
          <p:nvPr/>
        </p:nvSpPr>
        <p:spPr>
          <a:xfrm>
            <a:off x="0" y="2861656"/>
            <a:ext cx="54864" cy="380307"/>
          </a:xfrm>
          <a:prstGeom prst="rect">
            <a:avLst/>
          </a:prstGeom>
          <a:solidFill>
            <a:srgbClr val="5B21B6"/>
          </a:solidFill>
          <a:ln w="12700">
            <a:solidFill>
              <a:srgbClr val="5B21B6"/>
            </a:solidFill>
            <a:prstDash val="solid"/>
          </a:ln>
        </p:spPr>
        <p:txBody>
          <a:bodyPr/>
          <a:lstStyle/>
          <a:p>
            <a:endParaRPr lang="en-US"/>
          </a:p>
        </p:txBody>
      </p:sp>
      <p:sp>
        <p:nvSpPr>
          <p:cNvPr id="32" name="Text 30"/>
          <p:cNvSpPr/>
          <p:nvPr/>
        </p:nvSpPr>
        <p:spPr>
          <a:xfrm>
            <a:off x="182880" y="2861656"/>
            <a:ext cx="1371600" cy="380307"/>
          </a:xfrm>
          <a:prstGeom prst="rect">
            <a:avLst/>
          </a:prstGeom>
          <a:noFill/>
          <a:ln/>
        </p:spPr>
        <p:txBody>
          <a:bodyPr wrap="square" lIns="0" tIns="0" rIns="0" bIns="0" rtlCol="0" anchor="ctr"/>
          <a:lstStyle/>
          <a:p>
            <a:pPr marL="0" indent="0">
              <a:buNone/>
            </a:pPr>
            <a:r>
              <a:rPr lang="en-US" sz="1150" dirty="0">
                <a:solidFill>
                  <a:srgbClr val="6B93B0"/>
                </a:solidFill>
                <a:latin typeface="Calibri" pitchFamily="34" charset="0"/>
                <a:ea typeface="Calibri" pitchFamily="34" charset="-122"/>
                <a:cs typeface="Calibri" pitchFamily="34" charset="-120"/>
              </a:rPr>
              <a:t>9:35 – 9:40</a:t>
            </a:r>
            <a:endParaRPr lang="en-US" sz="1150" dirty="0"/>
          </a:p>
        </p:txBody>
      </p:sp>
      <p:sp>
        <p:nvSpPr>
          <p:cNvPr id="33" name="Text 31"/>
          <p:cNvSpPr/>
          <p:nvPr/>
        </p:nvSpPr>
        <p:spPr>
          <a:xfrm>
            <a:off x="1737360" y="2861656"/>
            <a:ext cx="6217920" cy="380307"/>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Break</a:t>
            </a:r>
            <a:endParaRPr lang="en-US" sz="1250" dirty="0"/>
          </a:p>
        </p:txBody>
      </p:sp>
      <p:sp>
        <p:nvSpPr>
          <p:cNvPr id="34" name="Text 32"/>
          <p:cNvSpPr/>
          <p:nvPr/>
        </p:nvSpPr>
        <p:spPr>
          <a:xfrm>
            <a:off x="8046720" y="2861656"/>
            <a:ext cx="1005840" cy="380307"/>
          </a:xfrm>
          <a:prstGeom prst="rect">
            <a:avLst/>
          </a:prstGeom>
          <a:noFill/>
          <a:ln/>
        </p:spPr>
        <p:txBody>
          <a:bodyPr wrap="square" lIns="0" tIns="0" rIns="0" bIns="0" rtlCol="0" anchor="ctr"/>
          <a:lstStyle/>
          <a:p>
            <a:pPr marL="0" indent="0" algn="r">
              <a:buNone/>
            </a:pPr>
            <a:r>
              <a:rPr lang="en-US" sz="1000" dirty="0">
                <a:solidFill>
                  <a:srgbClr val="5B21B6"/>
                </a:solidFill>
                <a:latin typeface="Calibri" pitchFamily="34" charset="0"/>
                <a:ea typeface="Calibri" pitchFamily="34" charset="-122"/>
                <a:cs typeface="Calibri" pitchFamily="34" charset="-120"/>
              </a:rPr>
              <a:t>Break</a:t>
            </a:r>
            <a:endParaRPr lang="en-US" sz="1000" dirty="0"/>
          </a:p>
        </p:txBody>
      </p:sp>
      <p:sp>
        <p:nvSpPr>
          <p:cNvPr id="35" name="Shape 33"/>
          <p:cNvSpPr/>
          <p:nvPr/>
        </p:nvSpPr>
        <p:spPr>
          <a:xfrm>
            <a:off x="0" y="3241964"/>
            <a:ext cx="9144000" cy="380307"/>
          </a:xfrm>
          <a:prstGeom prst="rect">
            <a:avLst/>
          </a:prstGeom>
          <a:solidFill>
            <a:srgbClr val="142952"/>
          </a:solidFill>
          <a:ln w="12700">
            <a:solidFill>
              <a:srgbClr val="142952"/>
            </a:solidFill>
            <a:prstDash val="solid"/>
          </a:ln>
        </p:spPr>
        <p:txBody>
          <a:bodyPr/>
          <a:lstStyle/>
          <a:p>
            <a:endParaRPr lang="en-US"/>
          </a:p>
        </p:txBody>
      </p:sp>
      <p:sp>
        <p:nvSpPr>
          <p:cNvPr id="36" name="Shape 34"/>
          <p:cNvSpPr/>
          <p:nvPr/>
        </p:nvSpPr>
        <p:spPr>
          <a:xfrm>
            <a:off x="0" y="3241964"/>
            <a:ext cx="54864" cy="380307"/>
          </a:xfrm>
          <a:prstGeom prst="rect">
            <a:avLst/>
          </a:prstGeom>
          <a:solidFill>
            <a:srgbClr val="00C2CB"/>
          </a:solidFill>
          <a:ln w="12700">
            <a:solidFill>
              <a:srgbClr val="00C2CB"/>
            </a:solidFill>
            <a:prstDash val="solid"/>
          </a:ln>
        </p:spPr>
        <p:txBody>
          <a:bodyPr/>
          <a:lstStyle/>
          <a:p>
            <a:endParaRPr lang="en-US"/>
          </a:p>
        </p:txBody>
      </p:sp>
      <p:sp>
        <p:nvSpPr>
          <p:cNvPr id="37" name="Text 35"/>
          <p:cNvSpPr/>
          <p:nvPr/>
        </p:nvSpPr>
        <p:spPr>
          <a:xfrm>
            <a:off x="182880" y="3241964"/>
            <a:ext cx="1371600" cy="380307"/>
          </a:xfrm>
          <a:prstGeom prst="rect">
            <a:avLst/>
          </a:prstGeom>
          <a:noFill/>
          <a:ln/>
        </p:spPr>
        <p:txBody>
          <a:bodyPr wrap="square" lIns="0" tIns="0" rIns="0" bIns="0" rtlCol="0" anchor="ctr"/>
          <a:lstStyle/>
          <a:p>
            <a:pPr marL="0" indent="0">
              <a:buNone/>
            </a:pPr>
            <a:r>
              <a:rPr lang="en-US" sz="1150" dirty="0">
                <a:solidFill>
                  <a:srgbClr val="6B93B0"/>
                </a:solidFill>
                <a:latin typeface="Calibri" pitchFamily="34" charset="0"/>
                <a:ea typeface="Calibri" pitchFamily="34" charset="-122"/>
                <a:cs typeface="Calibri" pitchFamily="34" charset="-120"/>
              </a:rPr>
              <a:t>9:40 – 10:15</a:t>
            </a:r>
            <a:endParaRPr lang="en-US" sz="1150" dirty="0"/>
          </a:p>
        </p:txBody>
      </p:sp>
      <p:sp>
        <p:nvSpPr>
          <p:cNvPr id="38" name="Text 36"/>
          <p:cNvSpPr/>
          <p:nvPr/>
        </p:nvSpPr>
        <p:spPr>
          <a:xfrm>
            <a:off x="1737360" y="3241964"/>
            <a:ext cx="6217920" cy="380307"/>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Section 7: Async/Await — Concurrent Programming</a:t>
            </a:r>
            <a:endParaRPr lang="en-US" sz="1250" dirty="0"/>
          </a:p>
        </p:txBody>
      </p:sp>
      <p:sp>
        <p:nvSpPr>
          <p:cNvPr id="39" name="Text 37"/>
          <p:cNvSpPr/>
          <p:nvPr/>
        </p:nvSpPr>
        <p:spPr>
          <a:xfrm>
            <a:off x="8046720" y="3241964"/>
            <a:ext cx="1005840" cy="380307"/>
          </a:xfrm>
          <a:prstGeom prst="rect">
            <a:avLst/>
          </a:prstGeom>
          <a:noFill/>
          <a:ln/>
        </p:spPr>
        <p:txBody>
          <a:bodyPr wrap="square" lIns="0" tIns="0" rIns="0" bIns="0" rtlCol="0" anchor="ctr"/>
          <a:lstStyle/>
          <a:p>
            <a:pPr marL="0" indent="0" algn="r">
              <a:buNone/>
            </a:pPr>
            <a:r>
              <a:rPr lang="en-US" sz="1000" dirty="0">
                <a:solidFill>
                  <a:srgbClr val="00C2CB"/>
                </a:solidFill>
                <a:latin typeface="Calibri" pitchFamily="34" charset="0"/>
                <a:ea typeface="Calibri" pitchFamily="34" charset="-122"/>
                <a:cs typeface="Calibri" pitchFamily="34" charset="-120"/>
              </a:rPr>
              <a:t>Instruction</a:t>
            </a:r>
            <a:endParaRPr lang="en-US" sz="1000" dirty="0"/>
          </a:p>
        </p:txBody>
      </p:sp>
      <p:sp>
        <p:nvSpPr>
          <p:cNvPr id="40" name="Shape 38"/>
          <p:cNvSpPr/>
          <p:nvPr/>
        </p:nvSpPr>
        <p:spPr>
          <a:xfrm>
            <a:off x="0" y="3622271"/>
            <a:ext cx="9144000" cy="380307"/>
          </a:xfrm>
          <a:prstGeom prst="rect">
            <a:avLst/>
          </a:prstGeom>
          <a:solidFill>
            <a:srgbClr val="0F2040"/>
          </a:solidFill>
          <a:ln w="12700">
            <a:solidFill>
              <a:srgbClr val="0F2040"/>
            </a:solidFill>
            <a:prstDash val="solid"/>
          </a:ln>
        </p:spPr>
        <p:txBody>
          <a:bodyPr/>
          <a:lstStyle/>
          <a:p>
            <a:endParaRPr lang="en-US"/>
          </a:p>
        </p:txBody>
      </p:sp>
      <p:sp>
        <p:nvSpPr>
          <p:cNvPr id="41" name="Shape 39"/>
          <p:cNvSpPr/>
          <p:nvPr/>
        </p:nvSpPr>
        <p:spPr>
          <a:xfrm>
            <a:off x="0" y="3622271"/>
            <a:ext cx="54864" cy="380307"/>
          </a:xfrm>
          <a:prstGeom prst="rect">
            <a:avLst/>
          </a:prstGeom>
          <a:solidFill>
            <a:srgbClr val="F59E0B"/>
          </a:solidFill>
          <a:ln w="12700">
            <a:solidFill>
              <a:srgbClr val="F59E0B"/>
            </a:solidFill>
            <a:prstDash val="solid"/>
          </a:ln>
        </p:spPr>
        <p:txBody>
          <a:bodyPr/>
          <a:lstStyle/>
          <a:p>
            <a:endParaRPr lang="en-US"/>
          </a:p>
        </p:txBody>
      </p:sp>
      <p:sp>
        <p:nvSpPr>
          <p:cNvPr id="42" name="Text 40"/>
          <p:cNvSpPr/>
          <p:nvPr/>
        </p:nvSpPr>
        <p:spPr>
          <a:xfrm>
            <a:off x="182880" y="3622271"/>
            <a:ext cx="1371600" cy="380307"/>
          </a:xfrm>
          <a:prstGeom prst="rect">
            <a:avLst/>
          </a:prstGeom>
          <a:noFill/>
          <a:ln/>
        </p:spPr>
        <p:txBody>
          <a:bodyPr wrap="square" lIns="0" tIns="0" rIns="0" bIns="0" rtlCol="0" anchor="ctr"/>
          <a:lstStyle/>
          <a:p>
            <a:pPr marL="0" indent="0">
              <a:buNone/>
            </a:pPr>
            <a:r>
              <a:rPr lang="en-US" sz="1150" dirty="0">
                <a:solidFill>
                  <a:srgbClr val="6B93B0"/>
                </a:solidFill>
                <a:latin typeface="Calibri" pitchFamily="34" charset="0"/>
                <a:ea typeface="Calibri" pitchFamily="34" charset="-122"/>
                <a:cs typeface="Calibri" pitchFamily="34" charset="-120"/>
              </a:rPr>
              <a:t>10:15 – 10:40</a:t>
            </a:r>
            <a:endParaRPr lang="en-US" sz="1150" dirty="0"/>
          </a:p>
        </p:txBody>
      </p:sp>
      <p:sp>
        <p:nvSpPr>
          <p:cNvPr id="43" name="Text 41"/>
          <p:cNvSpPr/>
          <p:nvPr/>
        </p:nvSpPr>
        <p:spPr>
          <a:xfrm>
            <a:off x="1737360" y="3622271"/>
            <a:ext cx="6217920" cy="380307"/>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Lab 5: Async Branch Search + Event Notifications</a:t>
            </a:r>
            <a:endParaRPr lang="en-US" sz="1250" dirty="0"/>
          </a:p>
        </p:txBody>
      </p:sp>
      <p:sp>
        <p:nvSpPr>
          <p:cNvPr id="44" name="Text 42"/>
          <p:cNvSpPr/>
          <p:nvPr/>
        </p:nvSpPr>
        <p:spPr>
          <a:xfrm>
            <a:off x="8046720" y="3622271"/>
            <a:ext cx="1005840" cy="380307"/>
          </a:xfrm>
          <a:prstGeom prst="rect">
            <a:avLst/>
          </a:prstGeom>
          <a:noFill/>
          <a:ln/>
        </p:spPr>
        <p:txBody>
          <a:bodyPr wrap="square" lIns="0" tIns="0" rIns="0" bIns="0" rtlCol="0" anchor="ctr"/>
          <a:lstStyle/>
          <a:p>
            <a:pPr marL="0" indent="0" algn="r">
              <a:buNone/>
            </a:pPr>
            <a:r>
              <a:rPr lang="en-US" sz="1000" dirty="0">
                <a:solidFill>
                  <a:srgbClr val="F59E0B"/>
                </a:solidFill>
                <a:latin typeface="Calibri" pitchFamily="34" charset="0"/>
                <a:ea typeface="Calibri" pitchFamily="34" charset="-122"/>
                <a:cs typeface="Calibri" pitchFamily="34" charset="-120"/>
              </a:rPr>
              <a:t>Lab</a:t>
            </a:r>
            <a:endParaRPr lang="en-US" sz="1000" dirty="0"/>
          </a:p>
        </p:txBody>
      </p:sp>
      <p:sp>
        <p:nvSpPr>
          <p:cNvPr id="45" name="Shape 43"/>
          <p:cNvSpPr/>
          <p:nvPr/>
        </p:nvSpPr>
        <p:spPr>
          <a:xfrm>
            <a:off x="0" y="4002578"/>
            <a:ext cx="9144000" cy="380307"/>
          </a:xfrm>
          <a:prstGeom prst="rect">
            <a:avLst/>
          </a:prstGeom>
          <a:solidFill>
            <a:srgbClr val="142952"/>
          </a:solidFill>
          <a:ln w="12700">
            <a:solidFill>
              <a:srgbClr val="142952"/>
            </a:solidFill>
            <a:prstDash val="solid"/>
          </a:ln>
        </p:spPr>
        <p:txBody>
          <a:bodyPr/>
          <a:lstStyle/>
          <a:p>
            <a:endParaRPr lang="en-US"/>
          </a:p>
        </p:txBody>
      </p:sp>
      <p:sp>
        <p:nvSpPr>
          <p:cNvPr id="46" name="Shape 44"/>
          <p:cNvSpPr/>
          <p:nvPr/>
        </p:nvSpPr>
        <p:spPr>
          <a:xfrm>
            <a:off x="0" y="4002578"/>
            <a:ext cx="54864" cy="380307"/>
          </a:xfrm>
          <a:prstGeom prst="rect">
            <a:avLst/>
          </a:prstGeom>
          <a:solidFill>
            <a:srgbClr val="5B21B6"/>
          </a:solidFill>
          <a:ln w="12700">
            <a:solidFill>
              <a:srgbClr val="5B21B6"/>
            </a:solidFill>
            <a:prstDash val="solid"/>
          </a:ln>
        </p:spPr>
        <p:txBody>
          <a:bodyPr/>
          <a:lstStyle/>
          <a:p>
            <a:endParaRPr lang="en-US"/>
          </a:p>
        </p:txBody>
      </p:sp>
      <p:sp>
        <p:nvSpPr>
          <p:cNvPr id="47" name="Text 45"/>
          <p:cNvSpPr/>
          <p:nvPr/>
        </p:nvSpPr>
        <p:spPr>
          <a:xfrm>
            <a:off x="182880" y="4002578"/>
            <a:ext cx="1371600" cy="380307"/>
          </a:xfrm>
          <a:prstGeom prst="rect">
            <a:avLst/>
          </a:prstGeom>
          <a:noFill/>
          <a:ln/>
        </p:spPr>
        <p:txBody>
          <a:bodyPr wrap="square" lIns="0" tIns="0" rIns="0" bIns="0" rtlCol="0" anchor="ctr"/>
          <a:lstStyle/>
          <a:p>
            <a:pPr marL="0" indent="0">
              <a:buNone/>
            </a:pPr>
            <a:r>
              <a:rPr lang="en-US" sz="1150" dirty="0">
                <a:solidFill>
                  <a:srgbClr val="6B93B0"/>
                </a:solidFill>
                <a:latin typeface="Calibri" pitchFamily="34" charset="0"/>
                <a:ea typeface="Calibri" pitchFamily="34" charset="-122"/>
                <a:cs typeface="Calibri" pitchFamily="34" charset="-120"/>
              </a:rPr>
              <a:t>10:40 – 10:45</a:t>
            </a:r>
            <a:endParaRPr lang="en-US" sz="1150" dirty="0"/>
          </a:p>
        </p:txBody>
      </p:sp>
      <p:sp>
        <p:nvSpPr>
          <p:cNvPr id="48" name="Text 46"/>
          <p:cNvSpPr/>
          <p:nvPr/>
        </p:nvSpPr>
        <p:spPr>
          <a:xfrm>
            <a:off x="1737360" y="4002578"/>
            <a:ext cx="6217920" cy="380307"/>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Break</a:t>
            </a:r>
            <a:endParaRPr lang="en-US" sz="1250" dirty="0"/>
          </a:p>
        </p:txBody>
      </p:sp>
      <p:sp>
        <p:nvSpPr>
          <p:cNvPr id="49" name="Text 47"/>
          <p:cNvSpPr/>
          <p:nvPr/>
        </p:nvSpPr>
        <p:spPr>
          <a:xfrm>
            <a:off x="8046720" y="4002578"/>
            <a:ext cx="1005840" cy="380307"/>
          </a:xfrm>
          <a:prstGeom prst="rect">
            <a:avLst/>
          </a:prstGeom>
          <a:noFill/>
          <a:ln/>
        </p:spPr>
        <p:txBody>
          <a:bodyPr wrap="square" lIns="0" tIns="0" rIns="0" bIns="0" rtlCol="0" anchor="ctr"/>
          <a:lstStyle/>
          <a:p>
            <a:pPr marL="0" indent="0" algn="r">
              <a:buNone/>
            </a:pPr>
            <a:r>
              <a:rPr lang="en-US" sz="1000" dirty="0">
                <a:solidFill>
                  <a:srgbClr val="5B21B6"/>
                </a:solidFill>
                <a:latin typeface="Calibri" pitchFamily="34" charset="0"/>
                <a:ea typeface="Calibri" pitchFamily="34" charset="-122"/>
                <a:cs typeface="Calibri" pitchFamily="34" charset="-120"/>
              </a:rPr>
              <a:t>Break</a:t>
            </a:r>
            <a:endParaRPr lang="en-US" sz="1000" dirty="0"/>
          </a:p>
        </p:txBody>
      </p:sp>
      <p:sp>
        <p:nvSpPr>
          <p:cNvPr id="50" name="Shape 48"/>
          <p:cNvSpPr/>
          <p:nvPr/>
        </p:nvSpPr>
        <p:spPr>
          <a:xfrm>
            <a:off x="0" y="4382885"/>
            <a:ext cx="9144000" cy="380307"/>
          </a:xfrm>
          <a:prstGeom prst="rect">
            <a:avLst/>
          </a:prstGeom>
          <a:solidFill>
            <a:srgbClr val="0F2040"/>
          </a:solidFill>
          <a:ln w="12700">
            <a:solidFill>
              <a:srgbClr val="0F2040"/>
            </a:solidFill>
            <a:prstDash val="solid"/>
          </a:ln>
        </p:spPr>
        <p:txBody>
          <a:bodyPr/>
          <a:lstStyle/>
          <a:p>
            <a:endParaRPr lang="en-US"/>
          </a:p>
        </p:txBody>
      </p:sp>
      <p:sp>
        <p:nvSpPr>
          <p:cNvPr id="51" name="Shape 49"/>
          <p:cNvSpPr/>
          <p:nvPr/>
        </p:nvSpPr>
        <p:spPr>
          <a:xfrm>
            <a:off x="0" y="4382885"/>
            <a:ext cx="54864" cy="380307"/>
          </a:xfrm>
          <a:prstGeom prst="rect">
            <a:avLst/>
          </a:prstGeom>
          <a:solidFill>
            <a:srgbClr val="00C2CB"/>
          </a:solidFill>
          <a:ln w="12700">
            <a:solidFill>
              <a:srgbClr val="00C2CB"/>
            </a:solidFill>
            <a:prstDash val="solid"/>
          </a:ln>
        </p:spPr>
        <p:txBody>
          <a:bodyPr/>
          <a:lstStyle/>
          <a:p>
            <a:endParaRPr lang="en-US"/>
          </a:p>
        </p:txBody>
      </p:sp>
      <p:sp>
        <p:nvSpPr>
          <p:cNvPr id="52" name="Text 50"/>
          <p:cNvSpPr/>
          <p:nvPr/>
        </p:nvSpPr>
        <p:spPr>
          <a:xfrm>
            <a:off x="182880" y="4382885"/>
            <a:ext cx="1371600" cy="380307"/>
          </a:xfrm>
          <a:prstGeom prst="rect">
            <a:avLst/>
          </a:prstGeom>
          <a:noFill/>
          <a:ln/>
        </p:spPr>
        <p:txBody>
          <a:bodyPr wrap="square" lIns="0" tIns="0" rIns="0" bIns="0" rtlCol="0" anchor="ctr"/>
          <a:lstStyle/>
          <a:p>
            <a:pPr marL="0" indent="0">
              <a:buNone/>
            </a:pPr>
            <a:r>
              <a:rPr lang="en-US" sz="1150" dirty="0">
                <a:solidFill>
                  <a:srgbClr val="6B93B0"/>
                </a:solidFill>
                <a:latin typeface="Calibri" pitchFamily="34" charset="0"/>
                <a:ea typeface="Calibri" pitchFamily="34" charset="-122"/>
                <a:cs typeface="Calibri" pitchFamily="34" charset="-120"/>
              </a:rPr>
              <a:t>10:45 – 11:10</a:t>
            </a:r>
            <a:endParaRPr lang="en-US" sz="1150" dirty="0"/>
          </a:p>
        </p:txBody>
      </p:sp>
      <p:sp>
        <p:nvSpPr>
          <p:cNvPr id="53" name="Text 51"/>
          <p:cNvSpPr/>
          <p:nvPr/>
        </p:nvSpPr>
        <p:spPr>
          <a:xfrm>
            <a:off x="1737360" y="4382885"/>
            <a:ext cx="6217920" cy="380307"/>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Section 8: Exceptions · Reflection · Memory</a:t>
            </a:r>
            <a:endParaRPr lang="en-US" sz="1250" dirty="0"/>
          </a:p>
        </p:txBody>
      </p:sp>
      <p:sp>
        <p:nvSpPr>
          <p:cNvPr id="54" name="Text 52"/>
          <p:cNvSpPr/>
          <p:nvPr/>
        </p:nvSpPr>
        <p:spPr>
          <a:xfrm>
            <a:off x="8046720" y="4382885"/>
            <a:ext cx="1005840" cy="380307"/>
          </a:xfrm>
          <a:prstGeom prst="rect">
            <a:avLst/>
          </a:prstGeom>
          <a:noFill/>
          <a:ln/>
        </p:spPr>
        <p:txBody>
          <a:bodyPr wrap="square" lIns="0" tIns="0" rIns="0" bIns="0" rtlCol="0" anchor="ctr"/>
          <a:lstStyle/>
          <a:p>
            <a:pPr marL="0" indent="0" algn="r">
              <a:buNone/>
            </a:pPr>
            <a:r>
              <a:rPr lang="en-US" sz="1000" dirty="0">
                <a:solidFill>
                  <a:srgbClr val="00C2CB"/>
                </a:solidFill>
                <a:latin typeface="Calibri" pitchFamily="34" charset="0"/>
                <a:ea typeface="Calibri" pitchFamily="34" charset="-122"/>
                <a:cs typeface="Calibri" pitchFamily="34" charset="-120"/>
              </a:rPr>
              <a:t>Instruction</a:t>
            </a:r>
            <a:endParaRPr lang="en-US" sz="1000" dirty="0"/>
          </a:p>
        </p:txBody>
      </p:sp>
      <p:sp>
        <p:nvSpPr>
          <p:cNvPr id="55" name="Shape 53"/>
          <p:cNvSpPr/>
          <p:nvPr/>
        </p:nvSpPr>
        <p:spPr>
          <a:xfrm>
            <a:off x="0" y="4763193"/>
            <a:ext cx="9144000" cy="380307"/>
          </a:xfrm>
          <a:prstGeom prst="rect">
            <a:avLst/>
          </a:prstGeom>
          <a:solidFill>
            <a:srgbClr val="142952"/>
          </a:solidFill>
          <a:ln w="12700">
            <a:solidFill>
              <a:srgbClr val="142952"/>
            </a:solidFill>
            <a:prstDash val="solid"/>
          </a:ln>
        </p:spPr>
        <p:txBody>
          <a:bodyPr/>
          <a:lstStyle/>
          <a:p>
            <a:endParaRPr lang="en-US"/>
          </a:p>
        </p:txBody>
      </p:sp>
      <p:sp>
        <p:nvSpPr>
          <p:cNvPr id="56" name="Shape 54"/>
          <p:cNvSpPr/>
          <p:nvPr/>
        </p:nvSpPr>
        <p:spPr>
          <a:xfrm>
            <a:off x="0" y="4763193"/>
            <a:ext cx="54864" cy="380307"/>
          </a:xfrm>
          <a:prstGeom prst="rect">
            <a:avLst/>
          </a:prstGeom>
          <a:solidFill>
            <a:srgbClr val="F59E0B"/>
          </a:solidFill>
          <a:ln w="12700">
            <a:solidFill>
              <a:srgbClr val="F59E0B"/>
            </a:solidFill>
            <a:prstDash val="solid"/>
          </a:ln>
        </p:spPr>
        <p:txBody>
          <a:bodyPr/>
          <a:lstStyle/>
          <a:p>
            <a:endParaRPr lang="en-US"/>
          </a:p>
        </p:txBody>
      </p:sp>
      <p:sp>
        <p:nvSpPr>
          <p:cNvPr id="57" name="Text 55"/>
          <p:cNvSpPr/>
          <p:nvPr/>
        </p:nvSpPr>
        <p:spPr>
          <a:xfrm>
            <a:off x="182880" y="4763193"/>
            <a:ext cx="1371600" cy="380307"/>
          </a:xfrm>
          <a:prstGeom prst="rect">
            <a:avLst/>
          </a:prstGeom>
          <a:noFill/>
          <a:ln/>
        </p:spPr>
        <p:txBody>
          <a:bodyPr wrap="square" lIns="0" tIns="0" rIns="0" bIns="0" rtlCol="0" anchor="ctr"/>
          <a:lstStyle/>
          <a:p>
            <a:pPr marL="0" indent="0">
              <a:buNone/>
            </a:pPr>
            <a:r>
              <a:rPr lang="en-US" sz="1150" dirty="0">
                <a:solidFill>
                  <a:srgbClr val="6B93B0"/>
                </a:solidFill>
                <a:latin typeface="Calibri" pitchFamily="34" charset="0"/>
                <a:ea typeface="Calibri" pitchFamily="34" charset="-122"/>
                <a:cs typeface="Calibri" pitchFamily="34" charset="-120"/>
              </a:rPr>
              <a:t>11:10 – 11:30</a:t>
            </a:r>
            <a:endParaRPr lang="en-US" sz="1150" dirty="0"/>
          </a:p>
        </p:txBody>
      </p:sp>
      <p:sp>
        <p:nvSpPr>
          <p:cNvPr id="58" name="Text 56"/>
          <p:cNvSpPr/>
          <p:nvPr/>
        </p:nvSpPr>
        <p:spPr>
          <a:xfrm>
            <a:off x="1737360" y="4763193"/>
            <a:ext cx="6217920" cy="380307"/>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Section 9: ASP.NET Core Web API Capstone (Lab 6)</a:t>
            </a:r>
            <a:endParaRPr lang="en-US" sz="1250" dirty="0"/>
          </a:p>
        </p:txBody>
      </p:sp>
      <p:sp>
        <p:nvSpPr>
          <p:cNvPr id="59" name="Text 57"/>
          <p:cNvSpPr/>
          <p:nvPr/>
        </p:nvSpPr>
        <p:spPr>
          <a:xfrm>
            <a:off x="8046720" y="4763193"/>
            <a:ext cx="1005840" cy="380307"/>
          </a:xfrm>
          <a:prstGeom prst="rect">
            <a:avLst/>
          </a:prstGeom>
          <a:noFill/>
          <a:ln/>
        </p:spPr>
        <p:txBody>
          <a:bodyPr wrap="square" lIns="0" tIns="0" rIns="0" bIns="0" rtlCol="0" anchor="ctr"/>
          <a:lstStyle/>
          <a:p>
            <a:pPr marL="0" indent="0" algn="r">
              <a:buNone/>
            </a:pPr>
            <a:r>
              <a:rPr lang="en-US" sz="1000" dirty="0">
                <a:solidFill>
                  <a:srgbClr val="F59E0B"/>
                </a:solidFill>
                <a:latin typeface="Calibri" pitchFamily="34" charset="0"/>
                <a:ea typeface="Calibri" pitchFamily="34" charset="-122"/>
                <a:cs typeface="Calibri" pitchFamily="34" charset="-120"/>
              </a:rPr>
              <a:t>Lab</a:t>
            </a:r>
            <a:endParaRPr lang="en-US" sz="10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713232"/>
          </a:xfrm>
          <a:prstGeom prst="rect">
            <a:avLst/>
          </a:prstGeom>
          <a:solidFill>
            <a:srgbClr val="1429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13232"/>
            <a:ext cx="9144000" cy="457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91440"/>
            <a:ext cx="8412480" cy="548640"/>
          </a:xfrm>
          <a:prstGeom prst="rect">
            <a:avLst/>
          </a:prstGeom>
          <a:noFill/>
        </p:spPr>
        <p:txBody>
          <a:bodyPr wrap="square">
            <a:spAutoFit/>
          </a:bodyPr>
          <a:lstStyle/>
          <a:p>
            <a:r>
              <a:rPr sz="2100" b="1">
                <a:solidFill>
                  <a:srgbClr val="FFFFFF"/>
                </a:solidFill>
                <a:latin typeface="Calibri"/>
              </a:rPr>
              <a:t>Before LINQ: A Real-World Problem</a:t>
            </a:r>
          </a:p>
        </p:txBody>
      </p:sp>
      <p:sp>
        <p:nvSpPr>
          <p:cNvPr id="5" name="TextBox 4"/>
          <p:cNvSpPr txBox="1"/>
          <p:nvPr/>
        </p:nvSpPr>
        <p:spPr>
          <a:xfrm>
            <a:off x="365760" y="868680"/>
            <a:ext cx="8412480" cy="4023360"/>
          </a:xfrm>
          <a:prstGeom prst="rect">
            <a:avLst/>
          </a:prstGeom>
          <a:noFill/>
        </p:spPr>
        <p:txBody>
          <a:bodyPr wrap="square">
            <a:spAutoFit/>
          </a:bodyPr>
          <a:lstStyle/>
          <a:p>
            <a:pPr>
              <a:spcAft>
                <a:spcPts val="1000"/>
              </a:spcAft>
            </a:pPr>
            <a:r>
              <a:rPr sz="1500">
                <a:solidFill>
                  <a:srgbClr val="B8D4E8"/>
                </a:solidFill>
                <a:latin typeface="Calibri"/>
              </a:rPr>
              <a:t>•  Imagine you have a huge box of mixed photographs. You want: only the ones from 2024, sorted by date, with just the captions listed out.</a:t>
            </a:r>
          </a:p>
          <a:p>
            <a:pPr>
              <a:spcAft>
                <a:spcPts val="1000"/>
              </a:spcAft>
            </a:pPr>
            <a:r>
              <a:rPr sz="1500">
                <a:solidFill>
                  <a:srgbClr val="B8D4E8"/>
                </a:solidFill>
                <a:latin typeface="Calibri"/>
              </a:rPr>
              <a:t>•  Without any special tool, you'd go through the box one photo at a time, checking the date on each one, setting aside the ones that match, then sorting that smaller pile by hand.</a:t>
            </a:r>
          </a:p>
          <a:p>
            <a:pPr>
              <a:spcAft>
                <a:spcPts val="1000"/>
              </a:spcAft>
            </a:pPr>
            <a:r>
              <a:rPr sz="1500">
                <a:solidFill>
                  <a:srgbClr val="B8D4E8"/>
                </a:solidFill>
                <a:latin typeface="Calibri"/>
              </a:rPr>
              <a:t>•  That's exactly what a loop with if-statements does in code — check each item one at a time, decide whether to keep it, build up a new pile.</a:t>
            </a:r>
          </a:p>
          <a:p>
            <a:pPr>
              <a:spcAft>
                <a:spcPts val="1000"/>
              </a:spcAft>
            </a:pPr>
            <a:r>
              <a:rPr sz="1500">
                <a:solidFill>
                  <a:srgbClr val="B8D4E8"/>
                </a:solidFill>
                <a:latin typeface="Calibri"/>
              </a:rPr>
              <a:t>•  LINQ is a toolkit that does this same sorting-and-filtering job, but in one readable line instead of a multi-line loop. Where you'd say 'go through and keep only the 2024 ones,' LINQ lets you write almost that exact sentence in code.</a:t>
            </a:r>
          </a:p>
          <a:p>
            <a:pPr>
              <a:spcAft>
                <a:spcPts val="1000"/>
              </a:spcAft>
            </a:pPr>
            <a:r>
              <a:rPr sz="1500">
                <a:solidFill>
                  <a:srgbClr val="B8D4E8"/>
                </a:solidFill>
                <a:latin typeface="Calibri"/>
              </a:rPr>
              <a:t>•  Nothing about LINQ is doing something NEW — it's doing the filtering and sorting you already understand, just with much less typing.</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38">
    <p:bg>
      <p:bgPr>
        <a:solidFill>
          <a:srgbClr val="0F2040"/>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0C2CB"/>
          </a:solidFill>
          <a:ln w="12700">
            <a:solidFill>
              <a:srgbClr val="00C2CB"/>
            </a:solidFill>
            <a:prstDash val="solid"/>
          </a:ln>
        </p:spPr>
        <p:txBody>
          <a:bodyPr/>
          <a:lstStyle/>
          <a:p>
            <a:endParaRPr lang="en-US"/>
          </a:p>
        </p:txBody>
      </p:sp>
      <p:sp>
        <p:nvSpPr>
          <p:cNvPr id="3" name="Text 1"/>
          <p:cNvSpPr/>
          <p:nvPr/>
        </p:nvSpPr>
        <p:spPr>
          <a:xfrm>
            <a:off x="457200" y="73152"/>
            <a:ext cx="2743200" cy="411480"/>
          </a:xfrm>
          <a:prstGeom prst="rect">
            <a:avLst/>
          </a:prstGeom>
          <a:noFill/>
          <a:ln/>
        </p:spPr>
        <p:txBody>
          <a:bodyPr wrap="square" lIns="0" tIns="0" rIns="0" bIns="0" rtlCol="0" anchor="ctr"/>
          <a:lstStyle/>
          <a:p>
            <a:pPr marL="0" indent="0">
              <a:buNone/>
            </a:pPr>
            <a:r>
              <a:rPr lang="en-US" sz="1300" b="1" dirty="0">
                <a:solidFill>
                  <a:srgbClr val="0A1628"/>
                </a:solidFill>
                <a:latin typeface="Calibri" pitchFamily="34" charset="0"/>
                <a:ea typeface="Calibri" pitchFamily="34" charset="-122"/>
                <a:cs typeface="Calibri" pitchFamily="34" charset="-120"/>
              </a:rPr>
              <a:t>SECTION 5</a:t>
            </a:r>
            <a:endParaRPr lang="en-US" sz="1300" dirty="0"/>
          </a:p>
        </p:txBody>
      </p:sp>
      <p:sp>
        <p:nvSpPr>
          <p:cNvPr id="4" name="Text 2"/>
          <p:cNvSpPr/>
          <p:nvPr/>
        </p:nvSpPr>
        <p:spPr>
          <a:xfrm>
            <a:off x="6858000" y="73152"/>
            <a:ext cx="1828800" cy="411480"/>
          </a:xfrm>
          <a:prstGeom prst="rect">
            <a:avLst/>
          </a:prstGeom>
          <a:noFill/>
          <a:ln/>
        </p:spPr>
        <p:txBody>
          <a:bodyPr wrap="square" lIns="0" tIns="0" rIns="0" bIns="0" rtlCol="0" anchor="ctr"/>
          <a:lstStyle/>
          <a:p>
            <a:pPr marL="0" indent="0" algn="r">
              <a:buNone/>
            </a:pPr>
            <a:r>
              <a:rPr lang="en-US" sz="1200" dirty="0">
                <a:solidFill>
                  <a:srgbClr val="0A1628"/>
                </a:solidFill>
                <a:latin typeface="Calibri" pitchFamily="34" charset="0"/>
                <a:ea typeface="Calibri" pitchFamily="34" charset="-122"/>
                <a:cs typeface="Calibri" pitchFamily="34" charset="-120"/>
              </a:rPr>
              <a:t>8:05 – 8:40  (35 min)</a:t>
            </a:r>
            <a:endParaRPr lang="en-US" sz="1200" dirty="0"/>
          </a:p>
        </p:txBody>
      </p:sp>
      <p:sp>
        <p:nvSpPr>
          <p:cNvPr id="5" name="Text 3"/>
          <p:cNvSpPr/>
          <p:nvPr/>
        </p:nvSpPr>
        <p:spPr>
          <a:xfrm>
            <a:off x="457200" y="502920"/>
            <a:ext cx="8229600" cy="502920"/>
          </a:xfrm>
          <a:prstGeom prst="rect">
            <a:avLst/>
          </a:prstGeom>
          <a:noFill/>
          <a:ln/>
        </p:spPr>
        <p:txBody>
          <a:bodyPr wrap="square" lIns="0" tIns="0" rIns="0" bIns="0" rtlCol="0" anchor="ctr"/>
          <a:lstStyle/>
          <a:p>
            <a:pPr marL="0" indent="0">
              <a:buNone/>
            </a:pPr>
            <a:r>
              <a:rPr lang="en-US" sz="2400" b="1" dirty="0">
                <a:solidFill>
                  <a:srgbClr val="0A1628"/>
                </a:solidFill>
                <a:latin typeface="Calibri" pitchFamily="34" charset="0"/>
                <a:ea typeface="Calibri" pitchFamily="34" charset="-122"/>
                <a:cs typeface="Calibri" pitchFamily="34" charset="-120"/>
              </a:rPr>
              <a:t>LINQ — Language Integrated Query</a:t>
            </a:r>
            <a:endParaRPr lang="en-US" sz="2400" dirty="0"/>
          </a:p>
        </p:txBody>
      </p:sp>
      <p:sp>
        <p:nvSpPr>
          <p:cNvPr id="6" name="Text 4"/>
          <p:cNvSpPr/>
          <p:nvPr/>
        </p:nvSpPr>
        <p:spPr>
          <a:xfrm>
            <a:off x="457200" y="1234440"/>
            <a:ext cx="8229600" cy="3657600"/>
          </a:xfrm>
          <a:prstGeom prst="rect">
            <a:avLst/>
          </a:prstGeom>
          <a:noFill/>
          <a:ln/>
        </p:spPr>
        <p:txBody>
          <a:bodyPr wrap="square" rtlCol="0" anchor="t"/>
          <a:lstStyle/>
          <a:p>
            <a:pPr marL="342900" indent="-342900">
              <a:buSzPct val="100000"/>
              <a:buChar char="•"/>
            </a:pPr>
            <a:r>
              <a:rPr lang="en-US" sz="1400" dirty="0">
                <a:solidFill>
                  <a:srgbClr val="B8D4E8"/>
                </a:solidFill>
                <a:latin typeface="Calibri" pitchFamily="34" charset="0"/>
                <a:ea typeface="Calibri" pitchFamily="34" charset="-122"/>
                <a:cs typeface="Calibri" pitchFamily="34" charset="-120"/>
              </a:rPr>
              <a:t>What LINQ is and where it runs</a:t>
            </a:r>
            <a:endParaRPr lang="en-US" sz="1400" dirty="0"/>
          </a:p>
          <a:p>
            <a:pPr marL="342900" indent="-342900">
              <a:buSzPct val="100000"/>
              <a:buChar char="•"/>
            </a:pPr>
            <a:r>
              <a:rPr lang="en-US" sz="1400" dirty="0">
                <a:solidFill>
                  <a:srgbClr val="B8D4E8"/>
                </a:solidFill>
                <a:latin typeface="Calibri" pitchFamily="34" charset="0"/>
                <a:ea typeface="Calibri" pitchFamily="34" charset="-122"/>
                <a:cs typeface="Calibri" pitchFamily="34" charset="-120"/>
              </a:rPr>
              <a:t>Where / Select / OrderBy / GroupBy</a:t>
            </a:r>
            <a:endParaRPr lang="en-US" sz="1400" dirty="0"/>
          </a:p>
          <a:p>
            <a:pPr marL="342900" indent="-342900">
              <a:buSzPct val="100000"/>
              <a:buChar char="•"/>
            </a:pPr>
            <a:r>
              <a:rPr lang="en-US" sz="1400" dirty="0">
                <a:solidFill>
                  <a:srgbClr val="B8D4E8"/>
                </a:solidFill>
                <a:latin typeface="Calibri" pitchFamily="34" charset="0"/>
                <a:ea typeface="Calibri" pitchFamily="34" charset="-122"/>
                <a:cs typeface="Calibri" pitchFamily="34" charset="-120"/>
              </a:rPr>
              <a:t>First / FirstOrDefault / Any / All</a:t>
            </a:r>
            <a:endParaRPr lang="en-US" sz="1400" dirty="0"/>
          </a:p>
          <a:p>
            <a:pPr marL="342900" indent="-342900">
              <a:buSzPct val="100000"/>
              <a:buChar char="•"/>
            </a:pPr>
            <a:r>
              <a:rPr lang="en-US" sz="1400" dirty="0">
                <a:solidFill>
                  <a:srgbClr val="B8D4E8"/>
                </a:solidFill>
                <a:latin typeface="Calibri" pitchFamily="34" charset="0"/>
                <a:ea typeface="Calibri" pitchFamily="34" charset="-122"/>
                <a:cs typeface="Calibri" pitchFamily="34" charset="-120"/>
              </a:rPr>
              <a:t>Aggregates: Sum, Count, Min, Max, Average</a:t>
            </a:r>
            <a:endParaRPr lang="en-US" sz="1400" dirty="0"/>
          </a:p>
          <a:p>
            <a:pPr marL="342900" indent="-342900">
              <a:buSzPct val="100000"/>
              <a:buChar char="•"/>
            </a:pPr>
            <a:r>
              <a:rPr lang="en-US" sz="1400" dirty="0">
                <a:solidFill>
                  <a:srgbClr val="B8D4E8"/>
                </a:solidFill>
                <a:latin typeface="Calibri" pitchFamily="34" charset="0"/>
                <a:ea typeface="Calibri" pitchFamily="34" charset="-122"/>
                <a:cs typeface="Calibri" pitchFamily="34" charset="-120"/>
              </a:rPr>
              <a:t>CRITICAL: deferred execution — the gotcha everyone hits</a:t>
            </a:r>
            <a:endParaRPr lang="en-US" sz="1400" dirty="0"/>
          </a:p>
          <a:p>
            <a:pPr marL="342900" indent="-342900">
              <a:buSzPct val="100000"/>
              <a:buChar char="•"/>
            </a:pPr>
            <a:r>
              <a:rPr lang="en-US" sz="1400" dirty="0">
                <a:solidFill>
                  <a:srgbClr val="B8D4E8"/>
                </a:solidFill>
                <a:latin typeface="Calibri" pitchFamily="34" charset="0"/>
                <a:ea typeface="Calibri" pitchFamily="34" charset="-122"/>
                <a:cs typeface="Calibri" pitchFamily="34" charset="-120"/>
              </a:rPr>
              <a:t>Query syntax vs. method syntax</a:t>
            </a:r>
            <a:endParaRPr lang="en-US" sz="14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39">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142952"/>
          </a:solidFill>
          <a:ln w="12700">
            <a:solidFill>
              <a:srgbClr val="142952"/>
            </a:solidFill>
            <a:prstDash val="solid"/>
          </a:ln>
        </p:spPr>
        <p:txBody>
          <a:bodyPr/>
          <a:lstStyle/>
          <a:p>
            <a:endParaRPr lang="en-US"/>
          </a:p>
        </p:txBody>
      </p:sp>
      <p:sp>
        <p:nvSpPr>
          <p:cNvPr id="3" name="Shape 1"/>
          <p:cNvSpPr/>
          <p:nvPr/>
        </p:nvSpPr>
        <p:spPr>
          <a:xfrm>
            <a:off x="0" y="713232"/>
            <a:ext cx="9144000" cy="45720"/>
          </a:xfrm>
          <a:prstGeom prst="rect">
            <a:avLst/>
          </a:prstGeom>
          <a:solidFill>
            <a:srgbClr val="00C2CB"/>
          </a:solidFill>
          <a:ln w="12700">
            <a:solidFill>
              <a:srgbClr val="00C2CB"/>
            </a:solidFill>
            <a:prstDash val="solid"/>
          </a:ln>
        </p:spPr>
        <p:txBody>
          <a:bodyPr/>
          <a:lstStyle/>
          <a:p>
            <a:endParaRPr lang="en-US"/>
          </a:p>
        </p:txBody>
      </p:sp>
      <p:sp>
        <p:nvSpPr>
          <p:cNvPr id="4" name="Text 2"/>
          <p:cNvSpPr/>
          <p:nvPr/>
        </p:nvSpPr>
        <p:spPr>
          <a:xfrm>
            <a:off x="365760" y="91440"/>
            <a:ext cx="8412480" cy="548640"/>
          </a:xfrm>
          <a:prstGeom prst="rect">
            <a:avLst/>
          </a:prstGeom>
          <a:noFill/>
          <a:ln/>
        </p:spPr>
        <p:txBody>
          <a:bodyPr wrap="square" lIns="0" tIns="0" rIns="0" bIns="0"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What is LINQ?</a:t>
            </a:r>
            <a:endParaRPr lang="en-US" sz="2100" dirty="0"/>
          </a:p>
        </p:txBody>
      </p:sp>
      <p:sp>
        <p:nvSpPr>
          <p:cNvPr id="5" name="Text 3"/>
          <p:cNvSpPr/>
          <p:nvPr/>
        </p:nvSpPr>
        <p:spPr>
          <a:xfrm>
            <a:off x="365760" y="868680"/>
            <a:ext cx="8412480" cy="4023360"/>
          </a:xfrm>
          <a:prstGeom prst="rect">
            <a:avLst/>
          </a:prstGeom>
          <a:noFill/>
          <a:ln/>
        </p:spPr>
        <p:txBody>
          <a:bodyPr wrap="square" rtlCol="0" anchor="t"/>
          <a:lstStyle/>
          <a:p>
            <a:pPr marL="342900" indent="-342900">
              <a:buSzPct val="100000"/>
              <a:buChar char="•"/>
            </a:pPr>
            <a:r>
              <a:rPr lang="en-US" sz="1400" dirty="0">
                <a:solidFill>
                  <a:srgbClr val="B8D4E8"/>
                </a:solidFill>
                <a:latin typeface="Calibri" pitchFamily="34" charset="0"/>
                <a:ea typeface="Calibri" pitchFamily="34" charset="-122"/>
                <a:cs typeface="Calibri" pitchFamily="34" charset="-120"/>
              </a:rPr>
              <a:t>Language Integrated Query — query any IEnumerable&lt;T&gt; using a fluent, chain-able syntax</a:t>
            </a:r>
            <a:endParaRPr lang="en-US" sz="1400" dirty="0"/>
          </a:p>
          <a:p>
            <a:pPr marL="342900" indent="-342900">
              <a:buSzPct val="100000"/>
              <a:buChar char="•"/>
            </a:pPr>
            <a:r>
              <a:rPr lang="en-US" sz="1400" dirty="0">
                <a:solidFill>
                  <a:srgbClr val="B8D4E8"/>
                </a:solidFill>
                <a:latin typeface="Calibri" pitchFamily="34" charset="0"/>
                <a:ea typeface="Calibri" pitchFamily="34" charset="-122"/>
                <a:cs typeface="Calibri" pitchFamily="34" charset="-120"/>
              </a:rPr>
              <a:t>Works on: in-memory collections, databases (via EF Core), XML, JSON, and more — same syntax</a:t>
            </a:r>
            <a:endParaRPr lang="en-US" sz="1400" dirty="0"/>
          </a:p>
          <a:p>
            <a:pPr marL="342900" indent="-342900">
              <a:buSzPct val="100000"/>
              <a:buChar char="•"/>
            </a:pPr>
            <a:r>
              <a:rPr lang="en-US" sz="1400" dirty="0">
                <a:solidFill>
                  <a:srgbClr val="B8D4E8"/>
                </a:solidFill>
                <a:latin typeface="Calibri" pitchFamily="34" charset="0"/>
                <a:ea typeface="Calibri" pitchFamily="34" charset="-122"/>
                <a:cs typeface="Calibri" pitchFamily="34" charset="-120"/>
              </a:rPr>
              <a:t>Replaces nested loops and if-else filtering with readable, composable queries</a:t>
            </a:r>
            <a:endParaRPr lang="en-US" sz="1400" dirty="0"/>
          </a:p>
          <a:p>
            <a:pPr marL="342900" indent="-342900">
              <a:buSzPct val="100000"/>
              <a:buChar char="•"/>
            </a:pPr>
            <a:r>
              <a:rPr lang="en-US" sz="1400" dirty="0">
                <a:solidFill>
                  <a:srgbClr val="B8D4E8"/>
                </a:solidFill>
                <a:latin typeface="Calibri" pitchFamily="34" charset="0"/>
                <a:ea typeface="Calibri" pitchFamily="34" charset="-122"/>
                <a:cs typeface="Calibri" pitchFamily="34" charset="-120"/>
              </a:rPr>
              <a:t>Not magic: each LINQ method is an extension method on IEnumerable&lt;T&gt; — you could write them yourself</a:t>
            </a:r>
            <a:endParaRPr lang="en-US" sz="1400" dirty="0"/>
          </a:p>
          <a:p>
            <a:pPr marL="342900" indent="-342900">
              <a:buSzPct val="100000"/>
              <a:buChar char="•"/>
            </a:pPr>
            <a:r>
              <a:rPr lang="en-US" sz="1400" dirty="0">
                <a:solidFill>
                  <a:srgbClr val="B8D4E8"/>
                </a:solidFill>
                <a:latin typeface="Calibri" pitchFamily="34" charset="0"/>
                <a:ea typeface="Calibri" pitchFamily="34" charset="-122"/>
                <a:cs typeface="Calibri" pitchFamily="34" charset="-120"/>
              </a:rPr>
              <a:t>Two syntaxes: method syntax (catalog.Where(...).OrderBy(...)) and query syntax (from i in catalog where ... select i) — method syntax is more common in modern C#</a:t>
            </a:r>
            <a:endParaRPr lang="en-US" sz="1400" dirty="0"/>
          </a:p>
        </p:txBody>
      </p:sp>
      <p:sp>
        <p:nvSpPr>
          <p:cNvPr id="6" name="Shape 4"/>
          <p:cNvSpPr/>
          <p:nvPr/>
        </p:nvSpPr>
        <p:spPr>
          <a:xfrm>
            <a:off x="7498080" y="137160"/>
            <a:ext cx="1463040" cy="420624"/>
          </a:xfrm>
          <a:prstGeom prst="rect">
            <a:avLst/>
          </a:prstGeom>
          <a:solidFill>
            <a:srgbClr val="F59E0B"/>
          </a:solidFill>
          <a:ln w="12700">
            <a:solidFill>
              <a:srgbClr val="F59E0B"/>
            </a:solidFill>
            <a:prstDash val="solid"/>
          </a:ln>
        </p:spPr>
        <p:txBody>
          <a:bodyPr/>
          <a:lstStyle/>
          <a:p>
            <a:endParaRPr lang="en-US"/>
          </a:p>
        </p:txBody>
      </p:sp>
      <p:sp>
        <p:nvSpPr>
          <p:cNvPr id="7" name="Text 5"/>
          <p:cNvSpPr/>
          <p:nvPr/>
        </p:nvSpPr>
        <p:spPr>
          <a:xfrm>
            <a:off x="7498080" y="118872"/>
            <a:ext cx="1463040" cy="457200"/>
          </a:xfrm>
          <a:prstGeom prst="rect">
            <a:avLst/>
          </a:prstGeom>
          <a:noFill/>
          <a:ln/>
        </p:spPr>
        <p:txBody>
          <a:bodyPr wrap="square" lIns="0" tIns="0" rIns="0" bIns="0" rtlCol="0" anchor="ctr"/>
          <a:lstStyle/>
          <a:p>
            <a:pPr marL="0" indent="0" algn="ctr">
              <a:buNone/>
            </a:pPr>
            <a:r>
              <a:rPr lang="en-US" sz="1100" b="1" dirty="0">
                <a:solidFill>
                  <a:srgbClr val="0A1628"/>
                </a:solidFill>
                <a:latin typeface="Calibri" pitchFamily="34" charset="0"/>
                <a:ea typeface="Calibri" pitchFamily="34" charset="-122"/>
                <a:cs typeface="Calibri" pitchFamily="34" charset="-120"/>
              </a:rPr>
              <a:t>⏱ 8:05 – 8:12</a:t>
            </a:r>
            <a:endParaRPr lang="en-US" sz="11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0">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0D1520"/>
          </a:solidFill>
          <a:ln w="12700">
            <a:solidFill>
              <a:srgbClr val="0D1520"/>
            </a:solidFill>
            <a:prstDash val="solid"/>
          </a:ln>
        </p:spPr>
        <p:txBody>
          <a:bodyPr/>
          <a:lstStyle/>
          <a:p>
            <a:endParaRPr lang="en-US"/>
          </a:p>
        </p:txBody>
      </p:sp>
      <p:sp>
        <p:nvSpPr>
          <p:cNvPr id="3" name="Shape 1"/>
          <p:cNvSpPr/>
          <p:nvPr/>
        </p:nvSpPr>
        <p:spPr>
          <a:xfrm>
            <a:off x="0" y="621792"/>
            <a:ext cx="9144000" cy="36576"/>
          </a:xfrm>
          <a:prstGeom prst="rect">
            <a:avLst/>
          </a:prstGeom>
          <a:solidFill>
            <a:srgbClr val="00C2CB"/>
          </a:solidFill>
          <a:ln w="12700">
            <a:solidFill>
              <a:srgbClr val="00C2CB"/>
            </a:solidFill>
            <a:prstDash val="solid"/>
          </a:ln>
        </p:spPr>
        <p:txBody>
          <a:bodyPr/>
          <a:lstStyle/>
          <a:p>
            <a:endParaRPr lang="en-US"/>
          </a:p>
        </p:txBody>
      </p:sp>
      <p:sp>
        <p:nvSpPr>
          <p:cNvPr id="4" name="Text 2"/>
          <p:cNvSpPr/>
          <p:nvPr/>
        </p:nvSpPr>
        <p:spPr>
          <a:xfrm>
            <a:off x="320040" y="64008"/>
            <a:ext cx="8503920" cy="502920"/>
          </a:xfrm>
          <a:prstGeom prst="rect">
            <a:avLst/>
          </a:prstGeom>
          <a:noFill/>
          <a:ln/>
        </p:spPr>
        <p:txBody>
          <a:bodyPr wrap="square" lIns="0" tIns="0" rIns="0" bIns="0" rtlCol="0" anchor="ctr"/>
          <a:lstStyle/>
          <a:p>
            <a:pPr marL="0" indent="0">
              <a:buNone/>
            </a:pPr>
            <a:r>
              <a:rPr lang="en-US" sz="1700" b="1" dirty="0">
                <a:solidFill>
                  <a:srgbClr val="00C2CB"/>
                </a:solidFill>
                <a:latin typeface="Calibri" pitchFamily="34" charset="0"/>
                <a:ea typeface="Calibri" pitchFamily="34" charset="-122"/>
                <a:cs typeface="Calibri" pitchFamily="34" charset="-120"/>
              </a:rPr>
              <a:t>⌨  LINQ Essentials — The Core Operators</a:t>
            </a:r>
            <a:endParaRPr lang="en-US" sz="1700" dirty="0"/>
          </a:p>
        </p:txBody>
      </p:sp>
      <p:sp>
        <p:nvSpPr>
          <p:cNvPr id="5" name="Text 3"/>
          <p:cNvSpPr/>
          <p:nvPr/>
        </p:nvSpPr>
        <p:spPr>
          <a:xfrm>
            <a:off x="274320" y="713232"/>
            <a:ext cx="8595360" cy="4343400"/>
          </a:xfrm>
          <a:prstGeom prst="rect">
            <a:avLst/>
          </a:prstGeom>
          <a:noFill/>
          <a:ln/>
        </p:spPr>
        <p:txBody>
          <a:bodyPr wrap="square" lIns="0" tIns="0" rIns="0" bIns="0" rtlCol="0" anchor="t"/>
          <a:lstStyle/>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var catalog = GetCatalog();  // List&lt;LibraryItem&gt;</a:t>
            </a:r>
            <a:endParaRPr lang="en-US" sz="1200" dirty="0"/>
          </a:p>
          <a:p>
            <a:pPr marL="0" indent="0">
              <a:lnSpc>
                <a:spcPct val="120000"/>
              </a:lnSpc>
              <a:buNone/>
            </a:pP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 WHERE — filter</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var available = catalog.Where(i =&gt; !i.IsCheckedOut);</a:t>
            </a:r>
            <a:endParaRPr lang="en-US" sz="1200" dirty="0"/>
          </a:p>
          <a:p>
            <a:pPr marL="0" indent="0">
              <a:lnSpc>
                <a:spcPct val="120000"/>
              </a:lnSpc>
              <a:buNone/>
            </a:pP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 SELECT — transform / project</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var titles = catalog.Select(i =&gt; i.Title);          // IEnumerable&lt;string&gt;</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var dtos   = catalog.Select(i =&gt; new { i.Title, i.Barcode, i.LoanDays });</a:t>
            </a:r>
            <a:endParaRPr lang="en-US" sz="1200" dirty="0"/>
          </a:p>
          <a:p>
            <a:pPr marL="0" indent="0">
              <a:lnSpc>
                <a:spcPct val="120000"/>
              </a:lnSpc>
              <a:buNone/>
            </a:pP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 ORDER</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var sorted = catalog.OrderBy(i =&gt; i.Title)</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                    .ThenByDescending(i =&gt; i.LoanDays);</a:t>
            </a:r>
            <a:endParaRPr lang="en-US" sz="1200" dirty="0"/>
          </a:p>
          <a:p>
            <a:pPr marL="0" indent="0">
              <a:lnSpc>
                <a:spcPct val="120000"/>
              </a:lnSpc>
              <a:buNone/>
            </a:pP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 GROUPBY — the one to demo slowly!</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foreach (var group in catalog.GroupBy(i =&gt; i.GetType().Name)) {</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    Console.WriteLine($"{group.Key}: {group.Count()} items");</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    foreach (var item in group.OrderBy(i =&gt; i.Title))</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        Console.WriteLine($"  • {item.Title}");</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a:t>
            </a:r>
            <a:endParaRPr lang="en-US" sz="1200" dirty="0"/>
          </a:p>
          <a:p>
            <a:pPr marL="0" indent="0">
              <a:lnSpc>
                <a:spcPct val="120000"/>
              </a:lnSpc>
              <a:buNone/>
            </a:pP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 AGGREGATES</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int  total   = catalog.Count();</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bool hasOut  = catalog.Any(i =&gt; i.IsCheckedOut);</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var  overdue = catalog.Where(i =&gt; i.IsOverdue).Sum(i =&gt; i.CurrentFee);</a:t>
            </a:r>
            <a:endParaRPr lang="en-US" sz="12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1">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0D1520"/>
          </a:solidFill>
          <a:ln w="12700">
            <a:solidFill>
              <a:srgbClr val="0D1520"/>
            </a:solidFill>
            <a:prstDash val="solid"/>
          </a:ln>
        </p:spPr>
        <p:txBody>
          <a:bodyPr/>
          <a:lstStyle/>
          <a:p>
            <a:endParaRPr lang="en-US" dirty="0"/>
          </a:p>
        </p:txBody>
      </p:sp>
      <p:sp>
        <p:nvSpPr>
          <p:cNvPr id="3" name="Shape 1"/>
          <p:cNvSpPr/>
          <p:nvPr/>
        </p:nvSpPr>
        <p:spPr>
          <a:xfrm>
            <a:off x="0" y="621792"/>
            <a:ext cx="9144000" cy="36576"/>
          </a:xfrm>
          <a:prstGeom prst="rect">
            <a:avLst/>
          </a:prstGeom>
          <a:solidFill>
            <a:srgbClr val="F59E0B"/>
          </a:solidFill>
          <a:ln w="12700">
            <a:solidFill>
              <a:srgbClr val="F59E0B"/>
            </a:solidFill>
            <a:prstDash val="solid"/>
          </a:ln>
        </p:spPr>
        <p:txBody>
          <a:bodyPr/>
          <a:lstStyle/>
          <a:p>
            <a:endParaRPr lang="en-US"/>
          </a:p>
        </p:txBody>
      </p:sp>
      <p:sp>
        <p:nvSpPr>
          <p:cNvPr id="4" name="Text 2"/>
          <p:cNvSpPr/>
          <p:nvPr/>
        </p:nvSpPr>
        <p:spPr>
          <a:xfrm>
            <a:off x="320040" y="64008"/>
            <a:ext cx="8503920" cy="502920"/>
          </a:xfrm>
          <a:prstGeom prst="rect">
            <a:avLst/>
          </a:prstGeom>
          <a:noFill/>
          <a:ln/>
        </p:spPr>
        <p:txBody>
          <a:bodyPr wrap="square" lIns="0" tIns="0" rIns="0" bIns="0" rtlCol="0" anchor="ctr"/>
          <a:lstStyle/>
          <a:p>
            <a:pPr marL="0" indent="0">
              <a:buNone/>
            </a:pPr>
            <a:r>
              <a:rPr lang="en-US" sz="1700" b="1" dirty="0">
                <a:solidFill>
                  <a:srgbClr val="F59E0B"/>
                </a:solidFill>
                <a:latin typeface="Calibri" pitchFamily="34" charset="0"/>
                <a:ea typeface="Calibri" pitchFamily="34" charset="-122"/>
                <a:cs typeface="Calibri" pitchFamily="34" charset="-120"/>
              </a:rPr>
              <a:t>⌨  ⚠  Deferred Execution</a:t>
            </a:r>
            <a:endParaRPr lang="en-US" sz="1700" dirty="0"/>
          </a:p>
        </p:txBody>
      </p:sp>
      <p:sp>
        <p:nvSpPr>
          <p:cNvPr id="5" name="Text 3"/>
          <p:cNvSpPr/>
          <p:nvPr/>
        </p:nvSpPr>
        <p:spPr>
          <a:xfrm>
            <a:off x="274320" y="713232"/>
            <a:ext cx="8595360" cy="3566160"/>
          </a:xfrm>
          <a:prstGeom prst="rect">
            <a:avLst/>
          </a:prstGeom>
          <a:noFill/>
          <a:ln/>
        </p:spPr>
        <p:txBody>
          <a:bodyPr wrap="square" lIns="0" tIns="0" rIns="0" bIns="0" rtlCol="0" anchor="t"/>
          <a:lstStyle/>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 The query is NOT run when you define it</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var query = catalog.Where(i =&gt; {</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    Console.Write("★");   // side-effect proves when it runs</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    return !i.IsCheckedOut;</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 Nothing printed yet — the query is just a recipe</a:t>
            </a:r>
            <a:endParaRPr lang="en-US" sz="1200" dirty="0"/>
          </a:p>
          <a:p>
            <a:pPr marL="0" indent="0">
              <a:lnSpc>
                <a:spcPct val="120000"/>
              </a:lnSpc>
              <a:buNone/>
            </a:pP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Console.Write("Enumerating now: ");</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var result = query.ToList();   // ← THIS is when ★★★★ prints</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Console.WriteLine($" → {result.Count} results");</a:t>
            </a:r>
            <a:endParaRPr lang="en-US" sz="1200" dirty="0"/>
          </a:p>
          <a:p>
            <a:pPr marL="0" indent="0">
              <a:lnSpc>
                <a:spcPct val="120000"/>
              </a:lnSpc>
              <a:buNone/>
            </a:pP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 PRACTICAL IMPACT:</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 If the source changes between definition and enumeration,</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 the query sees the CHANGED data.</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catalog.Add(new Book("New Book", "B-999", "Author"));</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 result = query.ToList(); ← would now include the new book!</a:t>
            </a:r>
            <a:endParaRPr lang="en-US" sz="1200" dirty="0"/>
          </a:p>
          <a:p>
            <a:pPr marL="0" indent="0">
              <a:lnSpc>
                <a:spcPct val="120000"/>
              </a:lnSpc>
              <a:buNone/>
            </a:pP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 ToList() / ToArray() / ToDictionary() → MATERIALISE immediately</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 Always materialise when you need a snapshot</a:t>
            </a:r>
            <a:endParaRPr lang="en-US" sz="12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2">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142952"/>
          </a:solidFill>
          <a:ln w="12700">
            <a:solidFill>
              <a:srgbClr val="142952"/>
            </a:solidFill>
            <a:prstDash val="solid"/>
          </a:ln>
        </p:spPr>
        <p:txBody>
          <a:bodyPr/>
          <a:lstStyle/>
          <a:p>
            <a:endParaRPr lang="en-US"/>
          </a:p>
        </p:txBody>
      </p:sp>
      <p:sp>
        <p:nvSpPr>
          <p:cNvPr id="3" name="Shape 1"/>
          <p:cNvSpPr/>
          <p:nvPr/>
        </p:nvSpPr>
        <p:spPr>
          <a:xfrm>
            <a:off x="0" y="713232"/>
            <a:ext cx="9144000" cy="45720"/>
          </a:xfrm>
          <a:prstGeom prst="rect">
            <a:avLst/>
          </a:prstGeom>
          <a:solidFill>
            <a:srgbClr val="00C2CB"/>
          </a:solidFill>
          <a:ln w="12700">
            <a:solidFill>
              <a:srgbClr val="00C2CB"/>
            </a:solidFill>
            <a:prstDash val="solid"/>
          </a:ln>
        </p:spPr>
        <p:txBody>
          <a:bodyPr/>
          <a:lstStyle/>
          <a:p>
            <a:endParaRPr lang="en-US"/>
          </a:p>
        </p:txBody>
      </p:sp>
      <p:sp>
        <p:nvSpPr>
          <p:cNvPr id="4" name="Text 2"/>
          <p:cNvSpPr/>
          <p:nvPr/>
        </p:nvSpPr>
        <p:spPr>
          <a:xfrm>
            <a:off x="365760" y="91440"/>
            <a:ext cx="8412480" cy="548640"/>
          </a:xfrm>
          <a:prstGeom prst="rect">
            <a:avLst/>
          </a:prstGeom>
          <a:noFill/>
          <a:ln/>
        </p:spPr>
        <p:txBody>
          <a:bodyPr wrap="square" lIns="0" tIns="0" rIns="0" bIns="0"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LINQ in Practice — Patterns to Know</a:t>
            </a:r>
            <a:endParaRPr lang="en-US" sz="2100" dirty="0"/>
          </a:p>
        </p:txBody>
      </p:sp>
      <p:sp>
        <p:nvSpPr>
          <p:cNvPr id="5" name="Text 3"/>
          <p:cNvSpPr/>
          <p:nvPr/>
        </p:nvSpPr>
        <p:spPr>
          <a:xfrm>
            <a:off x="365760" y="868680"/>
            <a:ext cx="8412480" cy="4023360"/>
          </a:xfrm>
          <a:prstGeom prst="rect">
            <a:avLst/>
          </a:prstGeom>
          <a:noFill/>
          <a:ln/>
        </p:spPr>
        <p:txBody>
          <a:bodyPr wrap="square" rtlCol="0" anchor="t"/>
          <a:lstStyle/>
          <a:p>
            <a:pPr marL="342900" indent="-342900">
              <a:buSzPct val="100000"/>
              <a:buChar char="•"/>
            </a:pPr>
            <a:r>
              <a:rPr lang="en-US" sz="1400" dirty="0">
                <a:solidFill>
                  <a:srgbClr val="B8D4E8"/>
                </a:solidFill>
                <a:latin typeface="Calibri" pitchFamily="34" charset="0"/>
                <a:ea typeface="Calibri" pitchFamily="34" charset="-122"/>
                <a:cs typeface="Calibri" pitchFamily="34" charset="-120"/>
              </a:rPr>
              <a:t>FirstOrDefault vs First: FirstOrDefault returns null on empty; First THROWS — prefer FirstOrDefault</a:t>
            </a:r>
            <a:endParaRPr lang="en-US" sz="1400" dirty="0"/>
          </a:p>
          <a:p>
            <a:pPr marL="342900" indent="-342900">
              <a:buSzPct val="100000"/>
              <a:buChar char="•"/>
            </a:pPr>
            <a:r>
              <a:rPr lang="en-US" sz="1400" dirty="0">
                <a:solidFill>
                  <a:srgbClr val="B8D4E8"/>
                </a:solidFill>
                <a:latin typeface="Calibri" pitchFamily="34" charset="0"/>
                <a:ea typeface="Calibri" pitchFamily="34" charset="-122"/>
                <a:cs typeface="Calibri" pitchFamily="34" charset="-120"/>
              </a:rPr>
              <a:t>Count() vs .Count: the property is O(1) for List&lt;T&gt;; the method re-enumerates — use the property</a:t>
            </a:r>
            <a:endParaRPr lang="en-US" sz="1400" dirty="0"/>
          </a:p>
          <a:p>
            <a:pPr marL="342900" indent="-342900">
              <a:buSzPct val="100000"/>
              <a:buChar char="•"/>
            </a:pPr>
            <a:r>
              <a:rPr lang="en-US" sz="1400" dirty="0">
                <a:solidFill>
                  <a:srgbClr val="B8D4E8"/>
                </a:solidFill>
                <a:latin typeface="Calibri" pitchFamily="34" charset="0"/>
                <a:ea typeface="Calibri" pitchFamily="34" charset="-122"/>
                <a:cs typeface="Calibri" pitchFamily="34" charset="-120"/>
              </a:rPr>
              <a:t>ToList() to materialise: always call ToList() when passing a LINQ result to a method that enumerates twice</a:t>
            </a:r>
            <a:endParaRPr lang="en-US" sz="1400" dirty="0"/>
          </a:p>
          <a:p>
            <a:pPr marL="342900" indent="-342900">
              <a:buSzPct val="100000"/>
              <a:buChar char="•"/>
            </a:pPr>
            <a:r>
              <a:rPr lang="en-US" sz="1400" dirty="0">
                <a:solidFill>
                  <a:srgbClr val="B8D4E8"/>
                </a:solidFill>
                <a:latin typeface="Calibri" pitchFamily="34" charset="0"/>
                <a:ea typeface="Calibri" pitchFamily="34" charset="-122"/>
                <a:cs typeface="Calibri" pitchFamily="34" charset="-120"/>
              </a:rPr>
              <a:t>Chaining: each method returns IEnumerable&lt;T&gt; — chain as many as you need</a:t>
            </a:r>
            <a:endParaRPr lang="en-US" sz="1400" dirty="0"/>
          </a:p>
          <a:p>
            <a:pPr marL="342900" indent="-342900">
              <a:buSzPct val="100000"/>
              <a:buChar char="•"/>
            </a:pPr>
            <a:r>
              <a:rPr lang="en-US" sz="1400" dirty="0">
                <a:solidFill>
                  <a:srgbClr val="B8D4E8"/>
                </a:solidFill>
                <a:latin typeface="Calibri" pitchFamily="34" charset="0"/>
                <a:ea typeface="Calibri" pitchFamily="34" charset="-122"/>
                <a:cs typeface="Calibri" pitchFamily="34" charset="-120"/>
              </a:rPr>
              <a:t>Select + new { } for projections: anonymous types for read-only views of your data</a:t>
            </a:r>
            <a:endParaRPr lang="en-US" sz="1400" dirty="0"/>
          </a:p>
          <a:p>
            <a:pPr marL="342900" indent="-342900">
              <a:buSzPct val="100000"/>
              <a:buChar char="•"/>
            </a:pPr>
            <a:r>
              <a:rPr lang="en-US" sz="1400" dirty="0">
                <a:solidFill>
                  <a:srgbClr val="B8D4E8"/>
                </a:solidFill>
                <a:latin typeface="Calibri" pitchFamily="34" charset="0"/>
                <a:ea typeface="Calibri" pitchFamily="34" charset="-122"/>
                <a:cs typeface="Calibri" pitchFamily="34" charset="-120"/>
              </a:rPr>
              <a:t>Distinct(), DistinctBy() — remove duplicates by value or by a key selector</a:t>
            </a:r>
            <a:endParaRPr lang="en-US" sz="1400" dirty="0"/>
          </a:p>
          <a:p>
            <a:pPr marL="342900" indent="-342900">
              <a:buSzPct val="100000"/>
              <a:buChar char="•"/>
            </a:pPr>
            <a:r>
              <a:rPr lang="en-US" sz="1400" dirty="0">
                <a:solidFill>
                  <a:srgbClr val="B8D4E8"/>
                </a:solidFill>
                <a:latin typeface="Calibri" pitchFamily="34" charset="0"/>
                <a:ea typeface="Calibri" pitchFamily="34" charset="-122"/>
                <a:cs typeface="Calibri" pitchFamily="34" charset="-120"/>
              </a:rPr>
              <a:t>MaxBy(i =&gt; i.DaysLate) (C# 10+) — find the element with the highest value of a property</a:t>
            </a:r>
            <a:endParaRPr lang="en-US" sz="14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3">
    <p:bg>
      <p:bgPr>
        <a:solidFill>
          <a:srgbClr val="0F2040"/>
        </a:solidFill>
        <a:effectLst/>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1A3A60"/>
          </a:solidFill>
          <a:ln w="12700">
            <a:solidFill>
              <a:srgbClr val="1A3A60"/>
            </a:solidFill>
            <a:prstDash val="solid"/>
          </a:ln>
        </p:spPr>
        <p:txBody>
          <a:bodyPr/>
          <a:lstStyle/>
          <a:p>
            <a:endParaRPr lang="en-US"/>
          </a:p>
        </p:txBody>
      </p:sp>
      <p:sp>
        <p:nvSpPr>
          <p:cNvPr id="3" name="Shape 1"/>
          <p:cNvSpPr/>
          <p:nvPr/>
        </p:nvSpPr>
        <p:spPr>
          <a:xfrm>
            <a:off x="0" y="713232"/>
            <a:ext cx="9144000" cy="45720"/>
          </a:xfrm>
          <a:prstGeom prst="rect">
            <a:avLst/>
          </a:prstGeom>
          <a:solidFill>
            <a:srgbClr val="F59E0B"/>
          </a:solidFill>
          <a:ln w="12700">
            <a:solidFill>
              <a:srgbClr val="F59E0B"/>
            </a:solidFill>
            <a:prstDash val="solid"/>
          </a:ln>
        </p:spPr>
        <p:txBody>
          <a:bodyPr/>
          <a:lstStyle/>
          <a:p>
            <a:endParaRPr lang="en-US"/>
          </a:p>
        </p:txBody>
      </p:sp>
      <p:sp>
        <p:nvSpPr>
          <p:cNvPr id="4" name="Text 2"/>
          <p:cNvSpPr/>
          <p:nvPr/>
        </p:nvSpPr>
        <p:spPr>
          <a:xfrm>
            <a:off x="365760" y="91440"/>
            <a:ext cx="6858000" cy="530352"/>
          </a:xfrm>
          <a:prstGeom prst="rect">
            <a:avLst/>
          </a:prstGeom>
          <a:noFill/>
          <a:ln/>
        </p:spPr>
        <p:txBody>
          <a:bodyPr wrap="square" lIns="0" tIns="0" rIns="0" bIns="0" rtlCol="0" anchor="ctr"/>
          <a:lstStyle/>
          <a:p>
            <a:pPr marL="0" indent="0">
              <a:buNone/>
            </a:pPr>
            <a:r>
              <a:rPr lang="en-US" sz="1900" b="1" dirty="0">
                <a:solidFill>
                  <a:srgbClr val="F59E0B"/>
                </a:solidFill>
                <a:latin typeface="Calibri" pitchFamily="34" charset="0"/>
                <a:ea typeface="Calibri" pitchFamily="34" charset="-122"/>
                <a:cs typeface="Calibri" pitchFamily="34" charset="-120"/>
              </a:rPr>
              <a:t>🧪  LAB 4  ·  LINQ Reports on the DeweyLib Catalog</a:t>
            </a:r>
            <a:endParaRPr lang="en-US" sz="1900" dirty="0"/>
          </a:p>
        </p:txBody>
      </p:sp>
      <p:sp>
        <p:nvSpPr>
          <p:cNvPr id="5" name="Text 3"/>
          <p:cNvSpPr/>
          <p:nvPr/>
        </p:nvSpPr>
        <p:spPr>
          <a:xfrm>
            <a:off x="7315200" y="164592"/>
            <a:ext cx="1645920" cy="365760"/>
          </a:xfrm>
          <a:prstGeom prst="rect">
            <a:avLst/>
          </a:prstGeom>
          <a:noFill/>
          <a:ln/>
        </p:spPr>
        <p:txBody>
          <a:bodyPr wrap="square" lIns="0" tIns="0" rIns="0" bIns="0" rtlCol="0" anchor="ctr"/>
          <a:lstStyle/>
          <a:p>
            <a:pPr marL="0" indent="0" algn="r">
              <a:buNone/>
            </a:pPr>
            <a:r>
              <a:rPr lang="en-US" sz="1300" dirty="0">
                <a:solidFill>
                  <a:srgbClr val="B8D4E8"/>
                </a:solidFill>
                <a:latin typeface="Calibri" pitchFamily="34" charset="0"/>
                <a:ea typeface="Calibri" pitchFamily="34" charset="-122"/>
                <a:cs typeface="Calibri" pitchFamily="34" charset="-120"/>
              </a:rPr>
              <a:t>⏱ 20 min</a:t>
            </a:r>
            <a:endParaRPr lang="en-US" sz="1300" dirty="0"/>
          </a:p>
        </p:txBody>
      </p:sp>
      <p:sp>
        <p:nvSpPr>
          <p:cNvPr id="6" name="Text 4"/>
          <p:cNvSpPr/>
          <p:nvPr/>
        </p:nvSpPr>
        <p:spPr>
          <a:xfrm>
            <a:off x="365760" y="841248"/>
            <a:ext cx="4114800" cy="329184"/>
          </a:xfrm>
          <a:prstGeom prst="rect">
            <a:avLst/>
          </a:prstGeom>
          <a:noFill/>
          <a:ln/>
        </p:spPr>
        <p:txBody>
          <a:bodyPr wrap="square" lIns="0" tIns="0" rIns="0" bIns="0" rtlCol="0" anchor="ctr"/>
          <a:lstStyle/>
          <a:p>
            <a:pPr marL="0" indent="0">
              <a:buNone/>
            </a:pPr>
            <a:r>
              <a:rPr lang="en-US" sz="1300" b="1" dirty="0">
                <a:solidFill>
                  <a:srgbClr val="F59E0B"/>
                </a:solidFill>
                <a:latin typeface="Calibri" pitchFamily="34" charset="0"/>
                <a:ea typeface="Calibri" pitchFamily="34" charset="-122"/>
                <a:cs typeface="Calibri" pitchFamily="34" charset="-120"/>
              </a:rPr>
              <a:t>You will:</a:t>
            </a:r>
            <a:endParaRPr lang="en-US" sz="1300" dirty="0"/>
          </a:p>
        </p:txBody>
      </p:sp>
      <p:sp>
        <p:nvSpPr>
          <p:cNvPr id="7" name="Text 5"/>
          <p:cNvSpPr/>
          <p:nvPr/>
        </p:nvSpPr>
        <p:spPr>
          <a:xfrm>
            <a:off x="365760" y="1188720"/>
            <a:ext cx="4114800" cy="2560320"/>
          </a:xfrm>
          <a:prstGeom prst="rect">
            <a:avLst/>
          </a:prstGeom>
          <a:noFill/>
          <a:ln/>
        </p:spPr>
        <p:txBody>
          <a:bodyPr wrap="square" rtlCol="0" anchor="t"/>
          <a:lstStyle/>
          <a:p>
            <a:pPr marL="342900" indent="-342900">
              <a:buSzPct val="100000"/>
              <a:buChar char="•"/>
            </a:pPr>
            <a:r>
              <a:rPr lang="en-US" sz="1300" dirty="0">
                <a:solidFill>
                  <a:srgbClr val="B8D4E8"/>
                </a:solidFill>
                <a:latin typeface="Calibri" pitchFamily="34" charset="0"/>
                <a:ea typeface="Calibri" pitchFamily="34" charset="-122"/>
                <a:cs typeface="Calibri" pitchFamily="34" charset="-120"/>
              </a:rPr>
              <a:t>Write LINQ queries against a List&lt;LibraryItem&gt;</a:t>
            </a:r>
            <a:endParaRPr lang="en-US" sz="1300" dirty="0"/>
          </a:p>
          <a:p>
            <a:pPr marL="342900" indent="-342900">
              <a:buSzPct val="100000"/>
              <a:buChar char="•"/>
            </a:pPr>
            <a:r>
              <a:rPr lang="en-US" sz="1300" dirty="0">
                <a:solidFill>
                  <a:srgbClr val="B8D4E8"/>
                </a:solidFill>
                <a:latin typeface="Calibri" pitchFamily="34" charset="0"/>
                <a:ea typeface="Calibri" pitchFamily="34" charset="-122"/>
                <a:cs typeface="Calibri" pitchFamily="34" charset="-120"/>
              </a:rPr>
              <a:t>Use GroupBy, OrderBy, Sum, Any, FirstOrDefault</a:t>
            </a:r>
            <a:endParaRPr lang="en-US" sz="1300" dirty="0"/>
          </a:p>
          <a:p>
            <a:pPr marL="342900" indent="-342900">
              <a:buSzPct val="100000"/>
              <a:buChar char="•"/>
            </a:pPr>
            <a:r>
              <a:rPr lang="en-US" sz="1300" dirty="0">
                <a:solidFill>
                  <a:srgbClr val="B8D4E8"/>
                </a:solidFill>
                <a:latin typeface="Calibri" pitchFamily="34" charset="0"/>
                <a:ea typeface="Calibri" pitchFamily="34" charset="-122"/>
                <a:cs typeface="Calibri" pitchFamily="34" charset="-120"/>
              </a:rPr>
              <a:t>Understand deferred execution by observation</a:t>
            </a:r>
            <a:endParaRPr lang="en-US" sz="1300" dirty="0"/>
          </a:p>
          <a:p>
            <a:pPr marL="342900" indent="-342900">
              <a:buSzPct val="100000"/>
              <a:buChar char="•"/>
            </a:pPr>
            <a:r>
              <a:rPr lang="en-US" sz="1300" dirty="0">
                <a:solidFill>
                  <a:srgbClr val="B8D4E8"/>
                </a:solidFill>
                <a:latin typeface="Calibri" pitchFamily="34" charset="0"/>
                <a:ea typeface="Calibri" pitchFamily="34" charset="-122"/>
                <a:cs typeface="Calibri" pitchFamily="34" charset="-120"/>
              </a:rPr>
              <a:t>Build a 5-report console menu</a:t>
            </a:r>
            <a:endParaRPr lang="en-US" sz="1300" dirty="0"/>
          </a:p>
        </p:txBody>
      </p:sp>
      <p:sp>
        <p:nvSpPr>
          <p:cNvPr id="8" name="Shape 6"/>
          <p:cNvSpPr/>
          <p:nvPr/>
        </p:nvSpPr>
        <p:spPr>
          <a:xfrm>
            <a:off x="4617720" y="841248"/>
            <a:ext cx="18288" cy="3200400"/>
          </a:xfrm>
          <a:prstGeom prst="rect">
            <a:avLst/>
          </a:prstGeom>
          <a:solidFill>
            <a:srgbClr val="F59E0B">
              <a:alpha val="30000"/>
            </a:srgbClr>
          </a:solidFill>
          <a:ln w="12700">
            <a:solidFill>
              <a:srgbClr val="F59E0B">
                <a:alpha val="30000"/>
              </a:srgbClr>
            </a:solidFill>
            <a:prstDash val="solid"/>
          </a:ln>
        </p:spPr>
        <p:txBody>
          <a:bodyPr/>
          <a:lstStyle/>
          <a:p>
            <a:endParaRPr lang="en-US"/>
          </a:p>
        </p:txBody>
      </p:sp>
      <p:sp>
        <p:nvSpPr>
          <p:cNvPr id="9" name="Text 7"/>
          <p:cNvSpPr/>
          <p:nvPr/>
        </p:nvSpPr>
        <p:spPr>
          <a:xfrm>
            <a:off x="4754880" y="841248"/>
            <a:ext cx="4114800" cy="329184"/>
          </a:xfrm>
          <a:prstGeom prst="rect">
            <a:avLst/>
          </a:prstGeom>
          <a:noFill/>
          <a:ln/>
        </p:spPr>
        <p:txBody>
          <a:bodyPr wrap="square" lIns="0" tIns="0" rIns="0" bIns="0" rtlCol="0" anchor="ctr"/>
          <a:lstStyle/>
          <a:p>
            <a:pPr marL="0" indent="0">
              <a:buNone/>
            </a:pPr>
            <a:r>
              <a:rPr lang="en-US" sz="1300" b="1" dirty="0">
                <a:solidFill>
                  <a:srgbClr val="F59E0B"/>
                </a:solidFill>
                <a:latin typeface="Calibri" pitchFamily="34" charset="0"/>
                <a:ea typeface="Calibri" pitchFamily="34" charset="-122"/>
                <a:cs typeface="Calibri" pitchFamily="34" charset="-120"/>
              </a:rPr>
              <a:t>Steps:</a:t>
            </a:r>
            <a:endParaRPr lang="en-US" sz="1300" dirty="0"/>
          </a:p>
        </p:txBody>
      </p:sp>
      <p:sp>
        <p:nvSpPr>
          <p:cNvPr id="10" name="Text 8"/>
          <p:cNvSpPr/>
          <p:nvPr/>
        </p:nvSpPr>
        <p:spPr>
          <a:xfrm>
            <a:off x="4754880" y="1188720"/>
            <a:ext cx="4114800" cy="2560320"/>
          </a:xfrm>
          <a:prstGeom prst="rect">
            <a:avLst/>
          </a:prstGeom>
          <a:noFill/>
          <a:ln/>
        </p:spPr>
        <p:txBody>
          <a:bodyPr wrap="square" rtlCol="0" anchor="t"/>
          <a:lstStyle/>
          <a:p>
            <a:pPr marL="342900" indent="-342900">
              <a:buSzPct val="100000"/>
              <a:buChar char="•"/>
            </a:pPr>
            <a:r>
              <a:rPr lang="en-US" sz="1300" dirty="0">
                <a:solidFill>
                  <a:srgbClr val="B8D4E8"/>
                </a:solidFill>
                <a:latin typeface="Calibri" pitchFamily="34" charset="0"/>
                <a:ea typeface="Calibri" pitchFamily="34" charset="-122"/>
                <a:cs typeface="Calibri" pitchFamily="34" charset="-120"/>
              </a:rPr>
              <a:t>Seed the catalog with 4 Books, 2 DVDs, 2 Magazines</a:t>
            </a:r>
            <a:endParaRPr lang="en-US" sz="1300" dirty="0"/>
          </a:p>
          <a:p>
            <a:pPr marL="342900" indent="-342900">
              <a:buSzPct val="100000"/>
              <a:buChar char="•"/>
            </a:pPr>
            <a:r>
              <a:rPr lang="en-US" sz="1300" dirty="0">
                <a:solidFill>
                  <a:srgbClr val="B8D4E8"/>
                </a:solidFill>
                <a:latin typeface="Calibri" pitchFamily="34" charset="0"/>
                <a:ea typeface="Calibri" pitchFamily="34" charset="-122"/>
                <a:cs typeface="Calibri" pitchFamily="34" charset="-120"/>
              </a:rPr>
              <a:t>R1: Available items, alphabetical by title</a:t>
            </a:r>
            <a:endParaRPr lang="en-US" sz="1300" dirty="0"/>
          </a:p>
          <a:p>
            <a:pPr marL="342900" indent="-342900">
              <a:buSzPct val="100000"/>
              <a:buChar char="•"/>
            </a:pPr>
            <a:r>
              <a:rPr lang="en-US" sz="1300" dirty="0">
                <a:solidFill>
                  <a:srgbClr val="B8D4E8"/>
                </a:solidFill>
                <a:latin typeface="Calibri" pitchFamily="34" charset="0"/>
                <a:ea typeface="Calibri" pitchFamily="34" charset="-122"/>
                <a:cs typeface="Calibri" pitchFamily="34" charset="-120"/>
              </a:rPr>
              <a:t>R2: Items checked out, sorted by due date</a:t>
            </a:r>
            <a:endParaRPr lang="en-US" sz="1300" dirty="0"/>
          </a:p>
          <a:p>
            <a:pPr marL="342900" indent="-342900">
              <a:buSzPct val="100000"/>
              <a:buChar char="•"/>
            </a:pPr>
            <a:r>
              <a:rPr lang="en-US" sz="1300" dirty="0">
                <a:solidFill>
                  <a:srgbClr val="B8D4E8"/>
                </a:solidFill>
                <a:latin typeface="Calibri" pitchFamily="34" charset="0"/>
                <a:ea typeface="Calibri" pitchFamily="34" charset="-122"/>
                <a:cs typeface="Calibri" pitchFamily="34" charset="-120"/>
              </a:rPr>
              <a:t>R3: Catalog count grouped by type (GroupBy)</a:t>
            </a:r>
            <a:endParaRPr lang="en-US" sz="1300" dirty="0"/>
          </a:p>
          <a:p>
            <a:pPr marL="342900" indent="-342900">
              <a:buSzPct val="100000"/>
              <a:buChar char="•"/>
            </a:pPr>
            <a:r>
              <a:rPr lang="en-US" sz="1300" dirty="0">
                <a:solidFill>
                  <a:srgbClr val="B8D4E8"/>
                </a:solidFill>
                <a:latin typeface="Calibri" pitchFamily="34" charset="0"/>
                <a:ea typeface="Calibri" pitchFamily="34" charset="-122"/>
                <a:cs typeface="Calibri" pitchFamily="34" charset="-120"/>
              </a:rPr>
              <a:t>R4: Overdue items with total fee (Where + Sum)</a:t>
            </a:r>
            <a:endParaRPr lang="en-US" sz="1300" dirty="0"/>
          </a:p>
          <a:p>
            <a:pPr marL="342900" indent="-342900">
              <a:buSzPct val="100000"/>
              <a:buChar char="•"/>
            </a:pPr>
            <a:r>
              <a:rPr lang="en-US" sz="1300" dirty="0">
                <a:solidFill>
                  <a:srgbClr val="B8D4E8"/>
                </a:solidFill>
                <a:latin typeface="Calibri" pitchFamily="34" charset="0"/>
                <a:ea typeface="Calibri" pitchFamily="34" charset="-122"/>
                <a:cs typeface="Calibri" pitchFamily="34" charset="-120"/>
              </a:rPr>
              <a:t>R5: Add a book, then observe deferred query result</a:t>
            </a:r>
            <a:endParaRPr lang="en-US" sz="13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44">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F2040"/>
          </a:solidFill>
          <a:ln w="12700">
            <a:solidFill>
              <a:srgbClr val="0F2040"/>
            </a:solidFill>
            <a:prstDash val="solid"/>
          </a:ln>
        </p:spPr>
        <p:txBody>
          <a:bodyPr/>
          <a:lstStyle/>
          <a:p>
            <a:endParaRPr lang="en-US"/>
          </a:p>
        </p:txBody>
      </p:sp>
      <p:sp>
        <p:nvSpPr>
          <p:cNvPr id="3" name="Shape 1"/>
          <p:cNvSpPr/>
          <p:nvPr/>
        </p:nvSpPr>
        <p:spPr>
          <a:xfrm>
            <a:off x="3200400" y="457200"/>
            <a:ext cx="2743200" cy="2743200"/>
          </a:xfrm>
          <a:prstGeom prst="ellipse">
            <a:avLst/>
          </a:prstGeom>
          <a:solidFill>
            <a:srgbClr val="10B981">
              <a:alpha val="12000"/>
            </a:srgbClr>
          </a:solidFill>
          <a:ln w="12700">
            <a:solidFill>
              <a:srgbClr val="10B981">
                <a:alpha val="25000"/>
              </a:srgbClr>
            </a:solidFill>
            <a:prstDash val="solid"/>
          </a:ln>
        </p:spPr>
        <p:txBody>
          <a:bodyPr/>
          <a:lstStyle/>
          <a:p>
            <a:endParaRPr lang="en-US"/>
          </a:p>
        </p:txBody>
      </p:sp>
      <p:sp>
        <p:nvSpPr>
          <p:cNvPr id="4" name="Text 2"/>
          <p:cNvSpPr/>
          <p:nvPr/>
        </p:nvSpPr>
        <p:spPr>
          <a:xfrm>
            <a:off x="3200400" y="548640"/>
            <a:ext cx="2743200" cy="1828800"/>
          </a:xfrm>
          <a:prstGeom prst="rect">
            <a:avLst/>
          </a:prstGeom>
          <a:noFill/>
          <a:ln/>
        </p:spPr>
        <p:txBody>
          <a:bodyPr wrap="square" rtlCol="0" anchor="ctr"/>
          <a:lstStyle/>
          <a:p>
            <a:pPr marL="0" indent="0" algn="ctr">
              <a:buNone/>
            </a:pPr>
            <a:r>
              <a:rPr lang="en-US" sz="6000" dirty="0">
                <a:solidFill>
                  <a:srgbClr val="000000"/>
                </a:solidFill>
                <a:latin typeface="Segoe UI Emoji" pitchFamily="34" charset="0"/>
                <a:ea typeface="Segoe UI Emoji" pitchFamily="34" charset="-122"/>
                <a:cs typeface="Segoe UI Emoji" pitchFamily="34" charset="-120"/>
              </a:rPr>
              <a:t>✅</a:t>
            </a:r>
            <a:endParaRPr lang="en-US" sz="6000" dirty="0"/>
          </a:p>
        </p:txBody>
      </p:sp>
      <p:sp>
        <p:nvSpPr>
          <p:cNvPr id="5" name="Shape 3"/>
          <p:cNvSpPr/>
          <p:nvPr/>
        </p:nvSpPr>
        <p:spPr>
          <a:xfrm>
            <a:off x="2286000" y="2743200"/>
            <a:ext cx="4572000" cy="411480"/>
          </a:xfrm>
          <a:prstGeom prst="rect">
            <a:avLst/>
          </a:prstGeom>
          <a:solidFill>
            <a:srgbClr val="10B981"/>
          </a:solidFill>
          <a:ln w="12700">
            <a:solidFill>
              <a:srgbClr val="10B981"/>
            </a:solidFill>
            <a:prstDash val="solid"/>
          </a:ln>
        </p:spPr>
        <p:txBody>
          <a:bodyPr/>
          <a:lstStyle/>
          <a:p>
            <a:endParaRPr lang="en-US"/>
          </a:p>
        </p:txBody>
      </p:sp>
      <p:sp>
        <p:nvSpPr>
          <p:cNvPr id="6" name="Text 4"/>
          <p:cNvSpPr/>
          <p:nvPr/>
        </p:nvSpPr>
        <p:spPr>
          <a:xfrm>
            <a:off x="2286000" y="2724912"/>
            <a:ext cx="4572000" cy="448056"/>
          </a:xfrm>
          <a:prstGeom prst="rect">
            <a:avLst/>
          </a:prstGeom>
          <a:noFill/>
          <a:ln/>
        </p:spPr>
        <p:txBody>
          <a:bodyPr wrap="square" lIns="0" tIns="0" rIns="0" bIns="0" rtlCol="0" anchor="ctr"/>
          <a:lstStyle/>
          <a:p>
            <a:pPr marL="0" indent="0" algn="ctr">
              <a:buNone/>
            </a:pPr>
            <a:r>
              <a:rPr lang="en-US" sz="1400" b="1" dirty="0">
                <a:solidFill>
                  <a:srgbClr val="0A1628"/>
                </a:solidFill>
                <a:latin typeface="Calibri" pitchFamily="34" charset="0"/>
                <a:ea typeface="Calibri" pitchFamily="34" charset="-122"/>
                <a:cs typeface="Calibri" pitchFamily="34" charset="-120"/>
              </a:rPr>
              <a:t>KNOWLEDGE CHECK</a:t>
            </a:r>
            <a:endParaRPr lang="en-US" sz="1400" dirty="0"/>
          </a:p>
        </p:txBody>
      </p:sp>
      <p:sp>
        <p:nvSpPr>
          <p:cNvPr id="7" name="Text 5"/>
          <p:cNvSpPr/>
          <p:nvPr/>
        </p:nvSpPr>
        <p:spPr>
          <a:xfrm>
            <a:off x="731520" y="3291840"/>
            <a:ext cx="7680960" cy="1463040"/>
          </a:xfrm>
          <a:prstGeom prst="rect">
            <a:avLst/>
          </a:prstGeom>
          <a:noFill/>
          <a:ln/>
        </p:spPr>
        <p:txBody>
          <a:bodyPr wrap="square" rtlCol="0" anchor="ctr"/>
          <a:lstStyle/>
          <a:p>
            <a:pPr marL="0" indent="0" algn="ctr">
              <a:buNone/>
            </a:pPr>
            <a:r>
              <a:rPr lang="en-US" sz="1900" dirty="0">
                <a:solidFill>
                  <a:srgbClr val="FFFFFF"/>
                </a:solidFill>
                <a:latin typeface="Calibri" pitchFamily="34" charset="0"/>
                <a:ea typeface="Calibri" pitchFamily="34" charset="-122"/>
                <a:cs typeface="Calibri" pitchFamily="34" charset="-120"/>
              </a:rPr>
              <a:t>What does FirstOrDefault() return if no item matches the predicate?</a:t>
            </a:r>
            <a:endParaRPr lang="en-US" sz="1900" dirty="0"/>
          </a:p>
          <a:p>
            <a:pPr marL="0" indent="0" algn="ctr">
              <a:buNone/>
            </a:pPr>
            <a:r>
              <a:rPr lang="en-US" sz="1900" dirty="0">
                <a:solidFill>
                  <a:srgbClr val="FFFFFF"/>
                </a:solidFill>
                <a:latin typeface="Calibri" pitchFamily="34" charset="0"/>
                <a:ea typeface="Calibri" pitchFamily="34" charset="-122"/>
                <a:cs typeface="Calibri" pitchFamily="34" charset="-120"/>
              </a:rPr>
              <a:t>A) throws an exception   B) returns null   C) returns the default value of T   D) B and C</a:t>
            </a:r>
            <a:endParaRPr lang="en-US" sz="1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713232"/>
          </a:xfrm>
          <a:prstGeom prst="rect">
            <a:avLst/>
          </a:prstGeom>
          <a:solidFill>
            <a:srgbClr val="1429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13232"/>
            <a:ext cx="9144000" cy="45720"/>
          </a:xfrm>
          <a:prstGeom prst="rect">
            <a:avLst/>
          </a:prstGeom>
          <a:solidFill>
            <a:srgbClr val="00C2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91440"/>
            <a:ext cx="8412480" cy="548640"/>
          </a:xfrm>
          <a:prstGeom prst="rect">
            <a:avLst/>
          </a:prstGeom>
          <a:noFill/>
        </p:spPr>
        <p:txBody>
          <a:bodyPr wrap="square">
            <a:spAutoFit/>
          </a:bodyPr>
          <a:lstStyle/>
          <a:p>
            <a:r>
              <a:rPr sz="2100" b="1">
                <a:solidFill>
                  <a:srgbClr val="FFFFFF"/>
                </a:solidFill>
                <a:latin typeface="Calibri"/>
              </a:rPr>
              <a:t>Before Delegates &amp; Events: A Real-World Problem</a:t>
            </a:r>
          </a:p>
        </p:txBody>
      </p:sp>
      <p:sp>
        <p:nvSpPr>
          <p:cNvPr id="5" name="TextBox 4"/>
          <p:cNvSpPr txBox="1"/>
          <p:nvPr/>
        </p:nvSpPr>
        <p:spPr>
          <a:xfrm>
            <a:off x="365760" y="868680"/>
            <a:ext cx="8412480" cy="4023360"/>
          </a:xfrm>
          <a:prstGeom prst="rect">
            <a:avLst/>
          </a:prstGeom>
          <a:noFill/>
        </p:spPr>
        <p:txBody>
          <a:bodyPr wrap="square">
            <a:spAutoFit/>
          </a:bodyPr>
          <a:lstStyle/>
          <a:p>
            <a:pPr>
              <a:spcAft>
                <a:spcPts val="1000"/>
              </a:spcAft>
            </a:pPr>
            <a:r>
              <a:rPr sz="1500">
                <a:solidFill>
                  <a:srgbClr val="B8D4E8"/>
                </a:solidFill>
                <a:latin typeface="Calibri"/>
              </a:rPr>
              <a:t>•  Think about a doorbell. When someone presses it, the doorbell doesn't know or care who's going to react. Maybe the dog barks. Maybe someone walks to the door. Maybe a smart camera starts recording. The doorbell just announces 'something happened' — ringing.</a:t>
            </a:r>
          </a:p>
          <a:p>
            <a:pPr>
              <a:spcAft>
                <a:spcPts val="1000"/>
              </a:spcAft>
            </a:pPr>
            <a:r>
              <a:rPr sz="1500">
                <a:solidFill>
                  <a:srgbClr val="B8D4E8"/>
                </a:solidFill>
                <a:latin typeface="Calibri"/>
              </a:rPr>
              <a:t>•  Critically: the person who WIRED the doorbell didn't have to know in advance everything that would react to it. You can add a new smart camera years later, and the doorbell still works exactly the same way.</a:t>
            </a:r>
          </a:p>
          <a:p>
            <a:pPr>
              <a:spcAft>
                <a:spcPts val="1000"/>
              </a:spcAft>
            </a:pPr>
            <a:r>
              <a:rPr sz="1500">
                <a:solidFill>
                  <a:srgbClr val="B8D4E8"/>
                </a:solidFill>
                <a:latin typeface="Calibri"/>
              </a:rPr>
              <a:t>•  In code, we often want this same separation: one piece of code announces 'something happened' (a book got returned), and OTHER pieces of code react (send an email, write a log, update a screen) — without the announcer needing to know who's listening.</a:t>
            </a:r>
          </a:p>
          <a:p>
            <a:pPr>
              <a:spcAft>
                <a:spcPts val="1000"/>
              </a:spcAft>
            </a:pPr>
            <a:r>
              <a:rPr sz="1500">
                <a:solidFill>
                  <a:srgbClr val="B8D4E8"/>
                </a:solidFill>
                <a:latin typeface="Calibri"/>
              </a:rPr>
              <a:t>•  A delegate is just a variable that can hold a method, instead of holding a number or a string. An event is a safer, more controlled version of that idea — it's literally the doorbell mechanism in C#.</a:t>
            </a:r>
          </a:p>
          <a:p>
            <a:pPr>
              <a:spcAft>
                <a:spcPts val="1000"/>
              </a:spcAft>
            </a:pPr>
            <a:r>
              <a:rPr sz="1500">
                <a:solidFill>
                  <a:srgbClr val="B8D4E8"/>
                </a:solidFill>
                <a:latin typeface="Calibri"/>
              </a:rPr>
              <a:t>•  We'll build this up slowly, one small piece at a time, starting with the simplest possible version: storing a method in a variable.</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45">
    <p:bg>
      <p:bgPr>
        <a:solidFill>
          <a:srgbClr val="0F2040"/>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0C2CB"/>
          </a:solidFill>
          <a:ln w="12700">
            <a:solidFill>
              <a:srgbClr val="00C2CB"/>
            </a:solidFill>
            <a:prstDash val="solid"/>
          </a:ln>
        </p:spPr>
        <p:txBody>
          <a:bodyPr/>
          <a:lstStyle/>
          <a:p>
            <a:endParaRPr lang="en-US"/>
          </a:p>
        </p:txBody>
      </p:sp>
      <p:sp>
        <p:nvSpPr>
          <p:cNvPr id="3" name="Text 1"/>
          <p:cNvSpPr/>
          <p:nvPr/>
        </p:nvSpPr>
        <p:spPr>
          <a:xfrm>
            <a:off x="457200" y="73152"/>
            <a:ext cx="2743200" cy="411480"/>
          </a:xfrm>
          <a:prstGeom prst="rect">
            <a:avLst/>
          </a:prstGeom>
          <a:noFill/>
          <a:ln/>
        </p:spPr>
        <p:txBody>
          <a:bodyPr wrap="square" lIns="0" tIns="0" rIns="0" bIns="0" rtlCol="0" anchor="ctr"/>
          <a:lstStyle/>
          <a:p>
            <a:pPr marL="0" indent="0">
              <a:buNone/>
            </a:pPr>
            <a:r>
              <a:rPr lang="en-US" sz="1300" b="1" dirty="0">
                <a:solidFill>
                  <a:srgbClr val="0A1628"/>
                </a:solidFill>
                <a:latin typeface="Calibri" pitchFamily="34" charset="0"/>
                <a:ea typeface="Calibri" pitchFamily="34" charset="-122"/>
                <a:cs typeface="Calibri" pitchFamily="34" charset="-120"/>
              </a:rPr>
              <a:t>SECTION 6</a:t>
            </a:r>
            <a:endParaRPr lang="en-US" sz="1300" dirty="0"/>
          </a:p>
        </p:txBody>
      </p:sp>
      <p:sp>
        <p:nvSpPr>
          <p:cNvPr id="4" name="Text 2"/>
          <p:cNvSpPr/>
          <p:nvPr/>
        </p:nvSpPr>
        <p:spPr>
          <a:xfrm>
            <a:off x="6858000" y="73152"/>
            <a:ext cx="1828800" cy="411480"/>
          </a:xfrm>
          <a:prstGeom prst="rect">
            <a:avLst/>
          </a:prstGeom>
          <a:noFill/>
          <a:ln/>
        </p:spPr>
        <p:txBody>
          <a:bodyPr wrap="square" lIns="0" tIns="0" rIns="0" bIns="0" rtlCol="0" anchor="ctr"/>
          <a:lstStyle/>
          <a:p>
            <a:pPr marL="0" indent="0" algn="r">
              <a:buNone/>
            </a:pPr>
            <a:r>
              <a:rPr lang="en-US" sz="1200" dirty="0">
                <a:solidFill>
                  <a:srgbClr val="0A1628"/>
                </a:solidFill>
                <a:latin typeface="Calibri" pitchFamily="34" charset="0"/>
                <a:ea typeface="Calibri" pitchFamily="34" charset="-122"/>
                <a:cs typeface="Calibri" pitchFamily="34" charset="-120"/>
              </a:rPr>
              <a:t>9:05 – 9:35  (30 min)</a:t>
            </a:r>
            <a:endParaRPr lang="en-US" sz="1200" dirty="0"/>
          </a:p>
        </p:txBody>
      </p:sp>
      <p:sp>
        <p:nvSpPr>
          <p:cNvPr id="5" name="Text 3"/>
          <p:cNvSpPr/>
          <p:nvPr/>
        </p:nvSpPr>
        <p:spPr>
          <a:xfrm>
            <a:off x="457200" y="502920"/>
            <a:ext cx="8229600" cy="502920"/>
          </a:xfrm>
          <a:prstGeom prst="rect">
            <a:avLst/>
          </a:prstGeom>
          <a:noFill/>
          <a:ln/>
        </p:spPr>
        <p:txBody>
          <a:bodyPr wrap="square" lIns="0" tIns="0" rIns="0" bIns="0" rtlCol="0" anchor="ctr"/>
          <a:lstStyle/>
          <a:p>
            <a:pPr marL="0" indent="0">
              <a:buNone/>
            </a:pPr>
            <a:r>
              <a:rPr lang="en-US" sz="2400" b="1" dirty="0">
                <a:solidFill>
                  <a:srgbClr val="0A1628"/>
                </a:solidFill>
                <a:latin typeface="Calibri" pitchFamily="34" charset="0"/>
                <a:ea typeface="Calibri" pitchFamily="34" charset="-122"/>
                <a:cs typeface="Calibri" pitchFamily="34" charset="-120"/>
              </a:rPr>
              <a:t>Delegates, Events &amp; the Observer Pattern</a:t>
            </a:r>
            <a:endParaRPr lang="en-US" sz="2400" dirty="0"/>
          </a:p>
        </p:txBody>
      </p:sp>
      <p:sp>
        <p:nvSpPr>
          <p:cNvPr id="6" name="Text 4"/>
          <p:cNvSpPr/>
          <p:nvPr/>
        </p:nvSpPr>
        <p:spPr>
          <a:xfrm>
            <a:off x="457200" y="1234440"/>
            <a:ext cx="8229600" cy="3657600"/>
          </a:xfrm>
          <a:prstGeom prst="rect">
            <a:avLst/>
          </a:prstGeom>
          <a:noFill/>
          <a:ln/>
        </p:spPr>
        <p:txBody>
          <a:bodyPr wrap="square" rtlCol="0" anchor="t"/>
          <a:lstStyle/>
          <a:p>
            <a:pPr marL="342900" indent="-342900">
              <a:buSzPct val="100000"/>
              <a:buChar char="•"/>
            </a:pPr>
            <a:r>
              <a:rPr lang="en-US" sz="1400" dirty="0">
                <a:solidFill>
                  <a:srgbClr val="B8D4E8"/>
                </a:solidFill>
                <a:latin typeface="Calibri" pitchFamily="34" charset="0"/>
                <a:ea typeface="Calibri" pitchFamily="34" charset="-122"/>
                <a:cs typeface="Calibri" pitchFamily="34" charset="-120"/>
              </a:rPr>
              <a:t>Delegates: a TYPE for methods</a:t>
            </a:r>
            <a:endParaRPr lang="en-US" sz="1400" dirty="0"/>
          </a:p>
          <a:p>
            <a:pPr marL="342900" indent="-342900">
              <a:buSzPct val="100000"/>
              <a:buChar char="•"/>
            </a:pPr>
            <a:r>
              <a:rPr lang="en-US" sz="1400" dirty="0">
                <a:solidFill>
                  <a:srgbClr val="B8D4E8"/>
                </a:solidFill>
                <a:latin typeface="Calibri" pitchFamily="34" charset="0"/>
                <a:ea typeface="Calibri" pitchFamily="34" charset="-122"/>
                <a:cs typeface="Calibri" pitchFamily="34" charset="-120"/>
              </a:rPr>
              <a:t>Func&lt;T,TResult&gt; and Action&lt;T&gt;: the built-in delegate types</a:t>
            </a:r>
            <a:endParaRPr lang="en-US" sz="1400" dirty="0"/>
          </a:p>
          <a:p>
            <a:pPr marL="342900" indent="-342900">
              <a:buSzPct val="100000"/>
              <a:buChar char="•"/>
            </a:pPr>
            <a:r>
              <a:rPr lang="en-US" sz="1400" dirty="0">
                <a:solidFill>
                  <a:srgbClr val="B8D4E8"/>
                </a:solidFill>
                <a:latin typeface="Calibri" pitchFamily="34" charset="0"/>
                <a:ea typeface="Calibri" pitchFamily="34" charset="-122"/>
                <a:cs typeface="Calibri" pitchFamily="34" charset="-120"/>
              </a:rPr>
              <a:t>Multicast delegates: += runs multiple handlers</a:t>
            </a:r>
            <a:endParaRPr lang="en-US" sz="1400" dirty="0"/>
          </a:p>
          <a:p>
            <a:pPr marL="342900" indent="-342900">
              <a:buSzPct val="100000"/>
              <a:buChar char="•"/>
            </a:pPr>
            <a:r>
              <a:rPr lang="en-US" sz="1400" dirty="0">
                <a:solidFill>
                  <a:srgbClr val="B8D4E8"/>
                </a:solidFill>
                <a:latin typeface="Calibri" pitchFamily="34" charset="0"/>
                <a:ea typeface="Calibri" pitchFamily="34" charset="-122"/>
                <a:cs typeface="Calibri" pitchFamily="34" charset="-120"/>
              </a:rPr>
              <a:t>Events: encapsulated multicast with access control</a:t>
            </a:r>
            <a:endParaRPr lang="en-US" sz="1400" dirty="0"/>
          </a:p>
          <a:p>
            <a:pPr marL="342900" indent="-342900">
              <a:buSzPct val="100000"/>
              <a:buChar char="•"/>
            </a:pPr>
            <a:r>
              <a:rPr lang="en-US" sz="1400" dirty="0">
                <a:solidFill>
                  <a:srgbClr val="B8D4E8"/>
                </a:solidFill>
                <a:latin typeface="Calibri" pitchFamily="34" charset="0"/>
                <a:ea typeface="Calibri" pitchFamily="34" charset="-122"/>
                <a:cs typeface="Calibri" pitchFamily="34" charset="-120"/>
              </a:rPr>
              <a:t>The Observer pattern in DeweyLib</a:t>
            </a:r>
            <a:endParaRPr lang="en-US" sz="14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46">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142952"/>
          </a:solidFill>
          <a:ln w="12700">
            <a:solidFill>
              <a:srgbClr val="142952"/>
            </a:solidFill>
            <a:prstDash val="solid"/>
          </a:ln>
        </p:spPr>
        <p:txBody>
          <a:bodyPr/>
          <a:lstStyle/>
          <a:p>
            <a:endParaRPr lang="en-US"/>
          </a:p>
        </p:txBody>
      </p:sp>
      <p:sp>
        <p:nvSpPr>
          <p:cNvPr id="3" name="Shape 1"/>
          <p:cNvSpPr/>
          <p:nvPr/>
        </p:nvSpPr>
        <p:spPr>
          <a:xfrm>
            <a:off x="0" y="713232"/>
            <a:ext cx="9144000" cy="45720"/>
          </a:xfrm>
          <a:prstGeom prst="rect">
            <a:avLst/>
          </a:prstGeom>
          <a:solidFill>
            <a:srgbClr val="00C2CB"/>
          </a:solidFill>
          <a:ln w="12700">
            <a:solidFill>
              <a:srgbClr val="00C2CB"/>
            </a:solidFill>
            <a:prstDash val="solid"/>
          </a:ln>
        </p:spPr>
        <p:txBody>
          <a:bodyPr/>
          <a:lstStyle/>
          <a:p>
            <a:endParaRPr lang="en-US"/>
          </a:p>
        </p:txBody>
      </p:sp>
      <p:sp>
        <p:nvSpPr>
          <p:cNvPr id="4" name="Text 2"/>
          <p:cNvSpPr/>
          <p:nvPr/>
        </p:nvSpPr>
        <p:spPr>
          <a:xfrm>
            <a:off x="365760" y="91440"/>
            <a:ext cx="8412480" cy="548640"/>
          </a:xfrm>
          <a:prstGeom prst="rect">
            <a:avLst/>
          </a:prstGeom>
          <a:noFill/>
          <a:ln/>
        </p:spPr>
        <p:txBody>
          <a:bodyPr wrap="square" lIns="0" tIns="0" rIns="0" bIns="0"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Delegates — Methods as Values</a:t>
            </a:r>
            <a:endParaRPr lang="en-US" sz="2100" dirty="0"/>
          </a:p>
        </p:txBody>
      </p:sp>
      <p:sp>
        <p:nvSpPr>
          <p:cNvPr id="5" name="Text 3"/>
          <p:cNvSpPr/>
          <p:nvPr/>
        </p:nvSpPr>
        <p:spPr>
          <a:xfrm>
            <a:off x="365760" y="868680"/>
            <a:ext cx="8412480" cy="4023360"/>
          </a:xfrm>
          <a:prstGeom prst="rect">
            <a:avLst/>
          </a:prstGeom>
          <a:noFill/>
          <a:ln/>
        </p:spPr>
        <p:txBody>
          <a:bodyPr wrap="square" rtlCol="0" anchor="t"/>
          <a:lstStyle/>
          <a:p>
            <a:pPr marL="342900" indent="-342900">
              <a:buSzPct val="100000"/>
              <a:buChar char="•"/>
            </a:pPr>
            <a:r>
              <a:rPr lang="en-US" sz="1400" dirty="0">
                <a:solidFill>
                  <a:srgbClr val="B8D4E8"/>
                </a:solidFill>
                <a:latin typeface="Calibri" pitchFamily="34" charset="0"/>
                <a:ea typeface="Calibri" pitchFamily="34" charset="-122"/>
                <a:cs typeface="Calibri" pitchFamily="34" charset="-120"/>
              </a:rPr>
              <a:t>A delegate is a TYPE that represents a method signature — think 'a variable that holds a method'</a:t>
            </a:r>
            <a:endParaRPr lang="en-US" sz="1400" dirty="0"/>
          </a:p>
          <a:p>
            <a:pPr marL="342900" indent="-342900">
              <a:buSzPct val="100000"/>
              <a:buChar char="•"/>
            </a:pPr>
            <a:r>
              <a:rPr lang="en-US" sz="1400" dirty="0">
                <a:solidFill>
                  <a:srgbClr val="B8D4E8"/>
                </a:solidFill>
                <a:latin typeface="Calibri" pitchFamily="34" charset="0"/>
                <a:ea typeface="Calibri" pitchFamily="34" charset="-122"/>
                <a:cs typeface="Calibri" pitchFamily="34" charset="-120"/>
              </a:rPr>
              <a:t>Func&lt;int, decimal&gt; calc = days =&gt; days * 0.25m; — holds any method that takes int and returns decimal</a:t>
            </a:r>
            <a:endParaRPr lang="en-US" sz="1400" dirty="0"/>
          </a:p>
          <a:p>
            <a:pPr marL="342900" indent="-342900">
              <a:buSzPct val="100000"/>
              <a:buChar char="•"/>
            </a:pPr>
            <a:r>
              <a:rPr lang="en-US" sz="1400" dirty="0">
                <a:solidFill>
                  <a:srgbClr val="B8D4E8"/>
                </a:solidFill>
                <a:latin typeface="Calibri" pitchFamily="34" charset="0"/>
                <a:ea typeface="Calibri" pitchFamily="34" charset="-122"/>
                <a:cs typeface="Calibri" pitchFamily="34" charset="-120"/>
              </a:rPr>
              <a:t>Action&lt;string&gt; notify = msg =&gt; Console.WriteLine(msg); — holds a void method</a:t>
            </a:r>
            <a:endParaRPr lang="en-US" sz="1400" dirty="0"/>
          </a:p>
          <a:p>
            <a:pPr marL="342900" indent="-342900">
              <a:buSzPct val="100000"/>
              <a:buChar char="•"/>
            </a:pPr>
            <a:r>
              <a:rPr lang="en-US" sz="1400" dirty="0">
                <a:solidFill>
                  <a:srgbClr val="B8D4E8"/>
                </a:solidFill>
                <a:latin typeface="Calibri" pitchFamily="34" charset="0"/>
                <a:ea typeface="Calibri" pitchFamily="34" charset="-122"/>
                <a:cs typeface="Calibri" pitchFamily="34" charset="-120"/>
              </a:rPr>
              <a:t>Pass methods as parameters (strategy pattern): Charge(8, premium) — inject the fee rule</a:t>
            </a:r>
            <a:endParaRPr lang="en-US" sz="1400" dirty="0"/>
          </a:p>
          <a:p>
            <a:pPr marL="342900" indent="-342900">
              <a:buSzPct val="100000"/>
              <a:buChar char="•"/>
            </a:pPr>
            <a:r>
              <a:rPr lang="en-US" sz="1400" dirty="0">
                <a:solidFill>
                  <a:srgbClr val="B8D4E8"/>
                </a:solidFill>
                <a:latin typeface="Calibri" pitchFamily="34" charset="0"/>
                <a:ea typeface="Calibri" pitchFamily="34" charset="-122"/>
                <a:cs typeface="Calibri" pitchFamily="34" charset="-120"/>
              </a:rPr>
              <a:t>Combine (multicast): notify += LogToFile; — one call invokes BOTH handlers</a:t>
            </a:r>
            <a:endParaRPr lang="en-US" sz="1400" dirty="0"/>
          </a:p>
          <a:p>
            <a:pPr marL="342900" indent="-342900">
              <a:buSzPct val="100000"/>
              <a:buChar char="•"/>
            </a:pPr>
            <a:r>
              <a:rPr lang="en-US" sz="1400" dirty="0">
                <a:solidFill>
                  <a:srgbClr val="B8D4E8"/>
                </a:solidFill>
                <a:latin typeface="Calibri" pitchFamily="34" charset="0"/>
                <a:ea typeface="Calibri" pitchFamily="34" charset="-122"/>
                <a:cs typeface="Calibri" pitchFamily="34" charset="-120"/>
              </a:rPr>
              <a:t>Lambda syntax: (params) =&gt; expression or (params) =&gt; { statements; }</a:t>
            </a:r>
            <a:endParaRPr lang="en-US" sz="1400" dirty="0"/>
          </a:p>
        </p:txBody>
      </p:sp>
      <p:sp>
        <p:nvSpPr>
          <p:cNvPr id="6" name="Shape 4"/>
          <p:cNvSpPr/>
          <p:nvPr/>
        </p:nvSpPr>
        <p:spPr>
          <a:xfrm>
            <a:off x="7498080" y="137160"/>
            <a:ext cx="1463040" cy="420624"/>
          </a:xfrm>
          <a:prstGeom prst="rect">
            <a:avLst/>
          </a:prstGeom>
          <a:solidFill>
            <a:srgbClr val="F59E0B"/>
          </a:solidFill>
          <a:ln w="12700">
            <a:solidFill>
              <a:srgbClr val="F59E0B"/>
            </a:solidFill>
            <a:prstDash val="solid"/>
          </a:ln>
        </p:spPr>
        <p:txBody>
          <a:bodyPr/>
          <a:lstStyle/>
          <a:p>
            <a:endParaRPr lang="en-US"/>
          </a:p>
        </p:txBody>
      </p:sp>
      <p:sp>
        <p:nvSpPr>
          <p:cNvPr id="7" name="Text 5"/>
          <p:cNvSpPr/>
          <p:nvPr/>
        </p:nvSpPr>
        <p:spPr>
          <a:xfrm>
            <a:off x="7498080" y="118872"/>
            <a:ext cx="1463040" cy="457200"/>
          </a:xfrm>
          <a:prstGeom prst="rect">
            <a:avLst/>
          </a:prstGeom>
          <a:noFill/>
          <a:ln/>
        </p:spPr>
        <p:txBody>
          <a:bodyPr wrap="square" lIns="0" tIns="0" rIns="0" bIns="0" rtlCol="0" anchor="ctr"/>
          <a:lstStyle/>
          <a:p>
            <a:pPr marL="0" indent="0" algn="ctr">
              <a:buNone/>
            </a:pPr>
            <a:r>
              <a:rPr lang="en-US" sz="1100" b="1" dirty="0">
                <a:solidFill>
                  <a:srgbClr val="0A1628"/>
                </a:solidFill>
                <a:latin typeface="Calibri" pitchFamily="34" charset="0"/>
                <a:ea typeface="Calibri" pitchFamily="34" charset="-122"/>
                <a:cs typeface="Calibri" pitchFamily="34" charset="-120"/>
              </a:rPr>
              <a:t>⏱ 9:05 – 9:12</a:t>
            </a:r>
            <a:endParaRPr lang="en-US" sz="11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47">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17584"/>
            <a:ext cx="9144000" cy="621792"/>
          </a:xfrm>
          <a:prstGeom prst="rect">
            <a:avLst/>
          </a:prstGeom>
          <a:solidFill>
            <a:srgbClr val="0D1520"/>
          </a:solidFill>
          <a:ln w="12700">
            <a:solidFill>
              <a:srgbClr val="0D1520"/>
            </a:solidFill>
            <a:prstDash val="solid"/>
          </a:ln>
        </p:spPr>
        <p:txBody>
          <a:bodyPr/>
          <a:lstStyle/>
          <a:p>
            <a:endParaRPr lang="en-US"/>
          </a:p>
        </p:txBody>
      </p:sp>
      <p:sp>
        <p:nvSpPr>
          <p:cNvPr id="3" name="Shape 1"/>
          <p:cNvSpPr/>
          <p:nvPr/>
        </p:nvSpPr>
        <p:spPr>
          <a:xfrm>
            <a:off x="0" y="621792"/>
            <a:ext cx="9144000" cy="36576"/>
          </a:xfrm>
          <a:prstGeom prst="rect">
            <a:avLst/>
          </a:prstGeom>
          <a:solidFill>
            <a:srgbClr val="00C2CB"/>
          </a:solidFill>
          <a:ln w="12700">
            <a:solidFill>
              <a:srgbClr val="00C2CB"/>
            </a:solidFill>
            <a:prstDash val="solid"/>
          </a:ln>
        </p:spPr>
        <p:txBody>
          <a:bodyPr/>
          <a:lstStyle/>
          <a:p>
            <a:endParaRPr lang="en-US"/>
          </a:p>
        </p:txBody>
      </p:sp>
      <p:sp>
        <p:nvSpPr>
          <p:cNvPr id="4" name="Text 2"/>
          <p:cNvSpPr/>
          <p:nvPr/>
        </p:nvSpPr>
        <p:spPr>
          <a:xfrm>
            <a:off x="320040" y="64008"/>
            <a:ext cx="8503920" cy="502920"/>
          </a:xfrm>
          <a:prstGeom prst="rect">
            <a:avLst/>
          </a:prstGeom>
          <a:noFill/>
          <a:ln/>
        </p:spPr>
        <p:txBody>
          <a:bodyPr wrap="square" lIns="0" tIns="0" rIns="0" bIns="0" rtlCol="0" anchor="ctr"/>
          <a:lstStyle/>
          <a:p>
            <a:pPr marL="0" indent="0">
              <a:buNone/>
            </a:pPr>
            <a:r>
              <a:rPr lang="en-US" sz="1700" b="1" dirty="0">
                <a:solidFill>
                  <a:srgbClr val="00C2CB"/>
                </a:solidFill>
                <a:latin typeface="Calibri" pitchFamily="34" charset="0"/>
                <a:ea typeface="Calibri" pitchFamily="34" charset="-122"/>
                <a:cs typeface="Calibri" pitchFamily="34" charset="-120"/>
              </a:rPr>
              <a:t>⌨  Delegates → Events</a:t>
            </a:r>
            <a:endParaRPr lang="en-US" sz="1700" dirty="0"/>
          </a:p>
        </p:txBody>
      </p:sp>
      <p:sp>
        <p:nvSpPr>
          <p:cNvPr id="5" name="Text 3"/>
          <p:cNvSpPr/>
          <p:nvPr/>
        </p:nvSpPr>
        <p:spPr>
          <a:xfrm>
            <a:off x="274320" y="713232"/>
            <a:ext cx="8595360" cy="3566160"/>
          </a:xfrm>
          <a:prstGeom prst="rect">
            <a:avLst/>
          </a:prstGeom>
          <a:noFill/>
          <a:ln/>
        </p:spPr>
        <p:txBody>
          <a:bodyPr wrap="square" lIns="0" tIns="0" rIns="0" bIns="0" rtlCol="0" anchor="t"/>
          <a:lstStyle/>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 Step 1: delegate as a method variable</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Func&lt;int, decimal&gt; standard = days =&gt; days * 0.25m;</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Func&lt;int, decimal&gt; premium  = days =&gt; days * 0.10m;</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Console.WriteLine(standard(8));   // 2.00</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Console.WriteLine(premium(8));    // 0.80</a:t>
            </a:r>
            <a:endParaRPr lang="en-US" sz="1200" dirty="0"/>
          </a:p>
          <a:p>
            <a:pPr marL="0" indent="0">
              <a:lnSpc>
                <a:spcPct val="120000"/>
              </a:lnSpc>
              <a:buNone/>
            </a:pP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 Step 2: pass behaviour as a parameter</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static decimal Charge(int days, Func&lt;int,decimal&gt; calc) =&gt; calc(days);</a:t>
            </a:r>
            <a:endParaRPr lang="en-US" sz="1200" dirty="0"/>
          </a:p>
          <a:p>
            <a:pPr marL="0" indent="0">
              <a:lnSpc>
                <a:spcPct val="120000"/>
              </a:lnSpc>
              <a:buNone/>
            </a:pP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 Step 3: multicast — one call, many handlers</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Action&lt;string&gt; log  = msg =&gt; Console.WriteLine($"[LOG]  {msg}");</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               log += msg =&gt; Console.WriteLine($"[SMTP] Send email: {msg}");</a:t>
            </a:r>
            <a:endParaRPr lang="en-US" sz="1200" dirty="0"/>
          </a:p>
          <a:p>
            <a:pPr marL="0" indent="0">
              <a:lnSpc>
                <a:spcPct val="120000"/>
              </a:lnSpc>
              <a:buNone/>
            </a:pPr>
            <a:endParaRPr lang="en-US" sz="1200" dirty="0">
              <a:solidFill>
                <a:srgbClr val="A8D8F0"/>
              </a:solidFill>
              <a:latin typeface="Courier New" pitchFamily="34" charset="0"/>
              <a:ea typeface="Courier New" pitchFamily="34" charset="-122"/>
              <a:cs typeface="Courier New" pitchFamily="34" charset="-120"/>
            </a:endParaRPr>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log("Book overdue");   // both handlers run</a:t>
            </a:r>
            <a:endParaRPr lang="en-US" sz="1200" dirty="0"/>
          </a:p>
          <a:p>
            <a:pPr marL="0" indent="0">
              <a:lnSpc>
                <a:spcPct val="120000"/>
              </a:lnSpc>
              <a:buNone/>
            </a:pP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 Step 4: event — adds ENCAPSULATION to multicast</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public class CheckoutService {</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    public event EventHandler&lt;CirculationEventArgs&gt;? ItemCirculated;</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    //  ↑ outsiders can only += or -=; only THIS class can invoke it</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    void Raise(LibraryItem item, string action) =&gt;</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        ItemCirculated?.Invoke(this, new CirculationEventArgs(item, action));</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a:t>
            </a:r>
            <a:endParaRPr lang="en-US" sz="12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48">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142952"/>
          </a:solidFill>
          <a:ln w="12700">
            <a:solidFill>
              <a:srgbClr val="142952"/>
            </a:solidFill>
            <a:prstDash val="solid"/>
          </a:ln>
        </p:spPr>
        <p:txBody>
          <a:bodyPr/>
          <a:lstStyle/>
          <a:p>
            <a:endParaRPr lang="en-US"/>
          </a:p>
        </p:txBody>
      </p:sp>
      <p:sp>
        <p:nvSpPr>
          <p:cNvPr id="3" name="Shape 1"/>
          <p:cNvSpPr/>
          <p:nvPr/>
        </p:nvSpPr>
        <p:spPr>
          <a:xfrm>
            <a:off x="0" y="713232"/>
            <a:ext cx="9144000" cy="45720"/>
          </a:xfrm>
          <a:prstGeom prst="rect">
            <a:avLst/>
          </a:prstGeom>
          <a:solidFill>
            <a:srgbClr val="00C2CB"/>
          </a:solidFill>
          <a:ln w="12700">
            <a:solidFill>
              <a:srgbClr val="00C2CB"/>
            </a:solidFill>
            <a:prstDash val="solid"/>
          </a:ln>
        </p:spPr>
        <p:txBody>
          <a:bodyPr/>
          <a:lstStyle/>
          <a:p>
            <a:endParaRPr lang="en-US"/>
          </a:p>
        </p:txBody>
      </p:sp>
      <p:sp>
        <p:nvSpPr>
          <p:cNvPr id="4" name="Text 2"/>
          <p:cNvSpPr/>
          <p:nvPr/>
        </p:nvSpPr>
        <p:spPr>
          <a:xfrm>
            <a:off x="365760" y="91440"/>
            <a:ext cx="8412480" cy="548640"/>
          </a:xfrm>
          <a:prstGeom prst="rect">
            <a:avLst/>
          </a:prstGeom>
          <a:noFill/>
          <a:ln/>
        </p:spPr>
        <p:txBody>
          <a:bodyPr wrap="square" lIns="0" tIns="0" rIns="0" bIns="0"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The Observer Pattern — How DeweyLib Uses Events</a:t>
            </a:r>
            <a:endParaRPr lang="en-US" sz="2100" dirty="0"/>
          </a:p>
        </p:txBody>
      </p:sp>
      <p:sp>
        <p:nvSpPr>
          <p:cNvPr id="5" name="Text 3"/>
          <p:cNvSpPr/>
          <p:nvPr/>
        </p:nvSpPr>
        <p:spPr>
          <a:xfrm>
            <a:off x="365760" y="868680"/>
            <a:ext cx="4160520" cy="4023360"/>
          </a:xfrm>
          <a:prstGeom prst="rect">
            <a:avLst/>
          </a:prstGeom>
          <a:noFill/>
          <a:ln/>
        </p:spPr>
        <p:txBody>
          <a:bodyPr wrap="square" rtlCol="0" anchor="t"/>
          <a:lstStyle/>
          <a:p>
            <a:pPr marL="342900" indent="-342900">
              <a:buSzPct val="100000"/>
              <a:buChar char="•"/>
            </a:pPr>
            <a:r>
              <a:rPr lang="en-US" sz="1350" dirty="0">
                <a:solidFill>
                  <a:srgbClr val="B8D4E8"/>
                </a:solidFill>
                <a:latin typeface="Calibri" pitchFamily="34" charset="0"/>
                <a:ea typeface="Calibri" pitchFamily="34" charset="-122"/>
                <a:cs typeface="Calibri" pitchFamily="34" charset="-120"/>
              </a:rPr>
              <a:t>Problem: CheckoutService needs to notify logging, UI, and hold management — but SHOULDN'T depend on them</a:t>
            </a:r>
            <a:endParaRPr lang="en-US" sz="1350" dirty="0"/>
          </a:p>
          <a:p>
            <a:pPr marL="342900" indent="-342900">
              <a:buSzPct val="100000"/>
              <a:buChar char="•"/>
            </a:pPr>
            <a:r>
              <a:rPr lang="en-US" sz="1350" dirty="0">
                <a:solidFill>
                  <a:srgbClr val="B8D4E8"/>
                </a:solidFill>
                <a:latin typeface="Calibri" pitchFamily="34" charset="0"/>
                <a:ea typeface="Calibri" pitchFamily="34" charset="-122"/>
                <a:cs typeface="Calibri" pitchFamily="34" charset="-120"/>
              </a:rPr>
              <a:t>Solution: raise an event; let interested parties subscribe independently</a:t>
            </a:r>
            <a:endParaRPr lang="en-US" sz="1350" dirty="0"/>
          </a:p>
          <a:p>
            <a:pPr marL="342900" indent="-342900">
              <a:buSzPct val="100000"/>
              <a:buChar char="•"/>
            </a:pPr>
            <a:r>
              <a:rPr lang="en-US" sz="1350" dirty="0">
                <a:solidFill>
                  <a:srgbClr val="B8D4E8"/>
                </a:solidFill>
                <a:latin typeface="Calibri" pitchFamily="34" charset="0"/>
                <a:ea typeface="Calibri" pitchFamily="34" charset="-122"/>
                <a:cs typeface="Calibri" pitchFamily="34" charset="-120"/>
              </a:rPr>
              <a:t>Three subscribers in DeweyLib — all wired at startup, the service knows about NONE of them:</a:t>
            </a:r>
            <a:endParaRPr lang="en-US" sz="1350" dirty="0"/>
          </a:p>
        </p:txBody>
      </p:sp>
      <p:sp>
        <p:nvSpPr>
          <p:cNvPr id="6" name="Shape 4"/>
          <p:cNvSpPr/>
          <p:nvPr/>
        </p:nvSpPr>
        <p:spPr>
          <a:xfrm>
            <a:off x="4617720" y="896112"/>
            <a:ext cx="18288" cy="3931920"/>
          </a:xfrm>
          <a:prstGeom prst="rect">
            <a:avLst/>
          </a:prstGeom>
          <a:solidFill>
            <a:srgbClr val="00C2CB">
              <a:alpha val="45000"/>
            </a:srgbClr>
          </a:solidFill>
          <a:ln w="12700">
            <a:solidFill>
              <a:srgbClr val="00C2CB">
                <a:alpha val="45000"/>
              </a:srgbClr>
            </a:solidFill>
            <a:prstDash val="solid"/>
          </a:ln>
        </p:spPr>
        <p:txBody>
          <a:bodyPr/>
          <a:lstStyle/>
          <a:p>
            <a:endParaRPr lang="en-US"/>
          </a:p>
        </p:txBody>
      </p:sp>
      <p:sp>
        <p:nvSpPr>
          <p:cNvPr id="7" name="Text 5"/>
          <p:cNvSpPr/>
          <p:nvPr/>
        </p:nvSpPr>
        <p:spPr>
          <a:xfrm>
            <a:off x="4754880" y="868680"/>
            <a:ext cx="4160520" cy="4023360"/>
          </a:xfrm>
          <a:prstGeom prst="rect">
            <a:avLst/>
          </a:prstGeom>
          <a:noFill/>
          <a:ln/>
        </p:spPr>
        <p:txBody>
          <a:bodyPr wrap="square" rtlCol="0" anchor="t"/>
          <a:lstStyle/>
          <a:p>
            <a:pPr marL="342900" indent="-342900">
              <a:buSzPct val="100000"/>
              <a:buChar char="•"/>
            </a:pPr>
            <a:r>
              <a:rPr lang="en-US" sz="1350" dirty="0">
                <a:solidFill>
                  <a:srgbClr val="B8D4E8"/>
                </a:solidFill>
                <a:latin typeface="Calibri" pitchFamily="34" charset="0"/>
                <a:ea typeface="Calibri" pitchFamily="34" charset="-122"/>
                <a:cs typeface="Calibri" pitchFamily="34" charset="-120"/>
              </a:rPr>
              <a:t>service.ItemCirculated +=</a:t>
            </a:r>
            <a:endParaRPr lang="en-US" sz="1350" dirty="0"/>
          </a:p>
          <a:p>
            <a:pPr marL="342900" indent="-342900">
              <a:buSzPct val="100000"/>
              <a:buChar char="•"/>
            </a:pPr>
            <a:r>
              <a:rPr lang="en-US" sz="1350" dirty="0">
                <a:solidFill>
                  <a:srgbClr val="B8D4E8"/>
                </a:solidFill>
                <a:latin typeface="Calibri" pitchFamily="34" charset="0"/>
                <a:ea typeface="Calibri" pitchFamily="34" charset="-122"/>
                <a:cs typeface="Calibri" pitchFamily="34" charset="-120"/>
              </a:rPr>
              <a:t>  (s,e) =&gt; Console.WriteLine(...);</a:t>
            </a:r>
            <a:endParaRPr lang="en-US" sz="1350" dirty="0"/>
          </a:p>
          <a:p>
            <a:pPr marL="342900" indent="-342900">
              <a:buSzPct val="100000"/>
              <a:buChar char="•"/>
            </a:pPr>
            <a:r>
              <a:rPr lang="en-US" sz="1350" dirty="0">
                <a:solidFill>
                  <a:srgbClr val="B8D4E8"/>
                </a:solidFill>
                <a:latin typeface="Calibri" pitchFamily="34" charset="0"/>
                <a:ea typeface="Calibri" pitchFamily="34" charset="-122"/>
                <a:cs typeface="Calibri" pitchFamily="34" charset="-120"/>
              </a:rPr>
              <a:t>service.ItemCirculated +=</a:t>
            </a:r>
            <a:endParaRPr lang="en-US" sz="1350" dirty="0"/>
          </a:p>
          <a:p>
            <a:pPr marL="342900" indent="-342900">
              <a:buSzPct val="100000"/>
              <a:buChar char="•"/>
            </a:pPr>
            <a:r>
              <a:rPr lang="en-US" sz="1350" dirty="0">
                <a:solidFill>
                  <a:srgbClr val="B8D4E8"/>
                </a:solidFill>
                <a:latin typeface="Calibri" pitchFamily="34" charset="0"/>
                <a:ea typeface="Calibri" pitchFamily="34" charset="-122"/>
                <a:cs typeface="Calibri" pitchFamily="34" charset="-120"/>
              </a:rPr>
              <a:t>  (s,e) =&gt; File.AppendAllText(log,...);</a:t>
            </a:r>
            <a:endParaRPr lang="en-US" sz="1350" dirty="0"/>
          </a:p>
          <a:p>
            <a:pPr marL="342900" indent="-342900">
              <a:buSzPct val="100000"/>
              <a:buChar char="•"/>
            </a:pPr>
            <a:r>
              <a:rPr lang="en-US" sz="1350" dirty="0">
                <a:solidFill>
                  <a:srgbClr val="B8D4E8"/>
                </a:solidFill>
                <a:latin typeface="Calibri" pitchFamily="34" charset="0"/>
                <a:ea typeface="Calibri" pitchFamily="34" charset="-122"/>
                <a:cs typeface="Calibri" pitchFamily="34" charset="-120"/>
              </a:rPr>
              <a:t>service.ItemCirculated +=</a:t>
            </a:r>
            <a:endParaRPr lang="en-US" sz="1350" dirty="0"/>
          </a:p>
          <a:p>
            <a:pPr marL="342900" indent="-342900">
              <a:buSzPct val="100000"/>
              <a:buChar char="•"/>
            </a:pPr>
            <a:r>
              <a:rPr lang="en-US" sz="1350" dirty="0">
                <a:solidFill>
                  <a:srgbClr val="B8D4E8"/>
                </a:solidFill>
                <a:latin typeface="Calibri" pitchFamily="34" charset="0"/>
                <a:ea typeface="Calibri" pitchFamily="34" charset="-122"/>
                <a:cs typeface="Calibri" pitchFamily="34" charset="-120"/>
              </a:rPr>
              <a:t>  holdWatcher.OnCirculation;</a:t>
            </a:r>
            <a:endParaRPr lang="en-US" sz="1350" dirty="0"/>
          </a:p>
          <a:p>
            <a:pPr marL="342900" indent="-342900">
              <a:buSzPct val="100000"/>
              <a:buChar char="•"/>
            </a:pPr>
            <a:endParaRPr lang="en-US" sz="1350" dirty="0"/>
          </a:p>
          <a:p>
            <a:pPr marL="342900" indent="-342900">
              <a:buSzPct val="100000"/>
              <a:buChar char="•"/>
            </a:pPr>
            <a:r>
              <a:rPr lang="en-US" sz="1350" dirty="0">
                <a:solidFill>
                  <a:srgbClr val="B8D4E8"/>
                </a:solidFill>
                <a:latin typeface="Calibri" pitchFamily="34" charset="0"/>
                <a:ea typeface="Calibri" pitchFamily="34" charset="-122"/>
                <a:cs typeface="Calibri" pitchFamily="34" charset="-120"/>
              </a:rPr>
              <a:t>The service didn't change. A fourth subscriber would be one more line.</a:t>
            </a:r>
            <a:endParaRPr lang="en-US" sz="1350" dirty="0"/>
          </a:p>
          <a:p>
            <a:pPr marL="342900" indent="-342900">
              <a:buSzPct val="100000"/>
              <a:buChar char="•"/>
            </a:pPr>
            <a:r>
              <a:rPr lang="en-US" sz="1350" dirty="0">
                <a:solidFill>
                  <a:srgbClr val="B8D4E8"/>
                </a:solidFill>
                <a:latin typeface="Calibri" pitchFamily="34" charset="0"/>
                <a:ea typeface="Calibri" pitchFamily="34" charset="-122"/>
                <a:cs typeface="Calibri" pitchFamily="34" charset="-120"/>
              </a:rPr>
              <a:t>Same event → API wires ILogger instead — zero service changes.</a:t>
            </a:r>
            <a:endParaRPr lang="en-US" sz="135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713232"/>
          </a:xfrm>
          <a:prstGeom prst="rect">
            <a:avLst/>
          </a:prstGeom>
          <a:solidFill>
            <a:srgbClr val="1429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13232"/>
            <a:ext cx="9144000" cy="457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91440"/>
            <a:ext cx="8412480" cy="548640"/>
          </a:xfrm>
          <a:prstGeom prst="rect">
            <a:avLst/>
          </a:prstGeom>
          <a:noFill/>
        </p:spPr>
        <p:txBody>
          <a:bodyPr wrap="square">
            <a:spAutoFit/>
          </a:bodyPr>
          <a:lstStyle/>
          <a:p>
            <a:r>
              <a:rPr sz="2100" b="1">
                <a:solidFill>
                  <a:srgbClr val="FFFFFF"/>
                </a:solidFill>
                <a:latin typeface="Calibri"/>
              </a:rPr>
              <a:t>Before Async/Await: A Real-World Problem</a:t>
            </a:r>
          </a:p>
        </p:txBody>
      </p:sp>
      <p:sp>
        <p:nvSpPr>
          <p:cNvPr id="5" name="TextBox 4"/>
          <p:cNvSpPr txBox="1"/>
          <p:nvPr/>
        </p:nvSpPr>
        <p:spPr>
          <a:xfrm>
            <a:off x="365760" y="868680"/>
            <a:ext cx="8412480" cy="4023360"/>
          </a:xfrm>
          <a:prstGeom prst="rect">
            <a:avLst/>
          </a:prstGeom>
          <a:noFill/>
        </p:spPr>
        <p:txBody>
          <a:bodyPr wrap="square">
            <a:spAutoFit/>
          </a:bodyPr>
          <a:lstStyle/>
          <a:p>
            <a:pPr>
              <a:spcAft>
                <a:spcPts val="1000"/>
              </a:spcAft>
            </a:pPr>
            <a:r>
              <a:rPr sz="1500">
                <a:solidFill>
                  <a:srgbClr val="B8D4E8"/>
                </a:solidFill>
                <a:latin typeface="Calibri"/>
              </a:rPr>
              <a:t>•  Imagine you order food at a restaurant. After ordering, you don't stand frozen at the counter staring at the kitchen door until your food is ready — you go sit down, talk to your friends, check your phone. When your food is ready, the staff brings it to your table.</a:t>
            </a:r>
          </a:p>
          <a:p>
            <a:pPr>
              <a:spcAft>
                <a:spcPts val="1000"/>
              </a:spcAft>
            </a:pPr>
            <a:r>
              <a:rPr sz="1500">
                <a:solidFill>
                  <a:srgbClr val="B8D4E8"/>
                </a:solidFill>
                <a:latin typeface="Calibri"/>
              </a:rPr>
              <a:t>•  Now imagine a BAD restaurant where the moment you order, you are physically required to stand and wait, doing nothing else, until the food arrives. Every other customer is stuck behind you too. Nothing else can happen anywhere in the restaurant.</a:t>
            </a:r>
          </a:p>
          <a:p>
            <a:pPr>
              <a:spcAft>
                <a:spcPts val="1000"/>
              </a:spcAft>
            </a:pPr>
            <a:r>
              <a:rPr sz="1500">
                <a:solidFill>
                  <a:srgbClr val="B8D4E8"/>
                </a:solidFill>
                <a:latin typeface="Calibri"/>
              </a:rPr>
              <a:t>•  Without async code, that's what your program does while waiting on something slow — like a network request. It freezes completely, unable to do anything else, even though the 'waiting' part doesn't need a computer's attention every millisecond.</a:t>
            </a:r>
          </a:p>
          <a:p>
            <a:pPr>
              <a:spcAft>
                <a:spcPts val="1000"/>
              </a:spcAft>
            </a:pPr>
            <a:r>
              <a:rPr sz="1500">
                <a:solidFill>
                  <a:srgbClr val="B8D4E8"/>
                </a:solidFill>
                <a:latin typeface="Calibri"/>
              </a:rPr>
              <a:t>•  Async/await is how C# lets your program 'go sit down' while waiting, and come back to finish the job the moment the result is ready — instead of freezing the whole program.</a:t>
            </a:r>
          </a:p>
          <a:p>
            <a:pPr>
              <a:spcAft>
                <a:spcPts val="1000"/>
              </a:spcAft>
            </a:pPr>
            <a:r>
              <a:rPr sz="1500">
                <a:solidFill>
                  <a:srgbClr val="B8D4E8"/>
                </a:solidFill>
                <a:latin typeface="Calibri"/>
              </a:rPr>
              <a:t>•  It is NOT about doing two things at the exact same instant. It's about not wasting time standing around doing nothing while you wait.</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49">
    <p:bg>
      <p:bgPr>
        <a:solidFill>
          <a:srgbClr val="0F2040"/>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0C2CB"/>
          </a:solidFill>
          <a:ln w="12700">
            <a:solidFill>
              <a:srgbClr val="00C2CB"/>
            </a:solidFill>
            <a:prstDash val="solid"/>
          </a:ln>
        </p:spPr>
        <p:txBody>
          <a:bodyPr/>
          <a:lstStyle/>
          <a:p>
            <a:endParaRPr lang="en-US"/>
          </a:p>
        </p:txBody>
      </p:sp>
      <p:sp>
        <p:nvSpPr>
          <p:cNvPr id="3" name="Text 1"/>
          <p:cNvSpPr/>
          <p:nvPr/>
        </p:nvSpPr>
        <p:spPr>
          <a:xfrm>
            <a:off x="457200" y="73152"/>
            <a:ext cx="2743200" cy="411480"/>
          </a:xfrm>
          <a:prstGeom prst="rect">
            <a:avLst/>
          </a:prstGeom>
          <a:noFill/>
          <a:ln/>
        </p:spPr>
        <p:txBody>
          <a:bodyPr wrap="square" lIns="0" tIns="0" rIns="0" bIns="0" rtlCol="0" anchor="ctr"/>
          <a:lstStyle/>
          <a:p>
            <a:pPr marL="0" indent="0">
              <a:buNone/>
            </a:pPr>
            <a:r>
              <a:rPr lang="en-US" sz="1300" b="1" dirty="0">
                <a:solidFill>
                  <a:srgbClr val="0A1628"/>
                </a:solidFill>
                <a:latin typeface="Calibri" pitchFamily="34" charset="0"/>
                <a:ea typeface="Calibri" pitchFamily="34" charset="-122"/>
                <a:cs typeface="Calibri" pitchFamily="34" charset="-120"/>
              </a:rPr>
              <a:t>SECTION 7</a:t>
            </a:r>
            <a:endParaRPr lang="en-US" sz="1300" dirty="0"/>
          </a:p>
        </p:txBody>
      </p:sp>
      <p:sp>
        <p:nvSpPr>
          <p:cNvPr id="4" name="Text 2"/>
          <p:cNvSpPr/>
          <p:nvPr/>
        </p:nvSpPr>
        <p:spPr>
          <a:xfrm>
            <a:off x="6858000" y="73152"/>
            <a:ext cx="1828800" cy="411480"/>
          </a:xfrm>
          <a:prstGeom prst="rect">
            <a:avLst/>
          </a:prstGeom>
          <a:noFill/>
          <a:ln/>
        </p:spPr>
        <p:txBody>
          <a:bodyPr wrap="square" lIns="0" tIns="0" rIns="0" bIns="0" rtlCol="0" anchor="ctr"/>
          <a:lstStyle/>
          <a:p>
            <a:pPr marL="0" indent="0" algn="r">
              <a:buNone/>
            </a:pPr>
            <a:r>
              <a:rPr lang="en-US" sz="1200" dirty="0">
                <a:solidFill>
                  <a:srgbClr val="0A1628"/>
                </a:solidFill>
                <a:latin typeface="Calibri" pitchFamily="34" charset="0"/>
                <a:ea typeface="Calibri" pitchFamily="34" charset="-122"/>
                <a:cs typeface="Calibri" pitchFamily="34" charset="-120"/>
              </a:rPr>
              <a:t>9:40 – 10:15  (35 min)</a:t>
            </a:r>
            <a:endParaRPr lang="en-US" sz="1200" dirty="0"/>
          </a:p>
        </p:txBody>
      </p:sp>
      <p:sp>
        <p:nvSpPr>
          <p:cNvPr id="5" name="Text 3"/>
          <p:cNvSpPr/>
          <p:nvPr/>
        </p:nvSpPr>
        <p:spPr>
          <a:xfrm>
            <a:off x="457200" y="502920"/>
            <a:ext cx="8229600" cy="502920"/>
          </a:xfrm>
          <a:prstGeom prst="rect">
            <a:avLst/>
          </a:prstGeom>
          <a:noFill/>
          <a:ln/>
        </p:spPr>
        <p:txBody>
          <a:bodyPr wrap="square" lIns="0" tIns="0" rIns="0" bIns="0" rtlCol="0" anchor="ctr"/>
          <a:lstStyle/>
          <a:p>
            <a:pPr marL="0" indent="0">
              <a:buNone/>
            </a:pPr>
            <a:r>
              <a:rPr lang="en-US" sz="2400" b="1" dirty="0">
                <a:solidFill>
                  <a:srgbClr val="0A1628"/>
                </a:solidFill>
                <a:latin typeface="Calibri" pitchFamily="34" charset="0"/>
                <a:ea typeface="Calibri" pitchFamily="34" charset="-122"/>
                <a:cs typeface="Calibri" pitchFamily="34" charset="-120"/>
              </a:rPr>
              <a:t>Asynchronous Programming</a:t>
            </a:r>
            <a:endParaRPr lang="en-US" sz="2400" dirty="0"/>
          </a:p>
        </p:txBody>
      </p:sp>
      <p:sp>
        <p:nvSpPr>
          <p:cNvPr id="6" name="Text 4"/>
          <p:cNvSpPr/>
          <p:nvPr/>
        </p:nvSpPr>
        <p:spPr>
          <a:xfrm>
            <a:off x="457200" y="1234440"/>
            <a:ext cx="8229600" cy="3657600"/>
          </a:xfrm>
          <a:prstGeom prst="rect">
            <a:avLst/>
          </a:prstGeom>
          <a:noFill/>
          <a:ln/>
        </p:spPr>
        <p:txBody>
          <a:bodyPr wrap="square" rtlCol="0" anchor="t"/>
          <a:lstStyle/>
          <a:p>
            <a:pPr marL="342900" indent="-342900">
              <a:buSzPct val="100000"/>
              <a:buChar char="•"/>
            </a:pPr>
            <a:r>
              <a:rPr lang="en-US" sz="1400" dirty="0">
                <a:solidFill>
                  <a:srgbClr val="B8D4E8"/>
                </a:solidFill>
                <a:latin typeface="Calibri" pitchFamily="34" charset="0"/>
                <a:ea typeface="Calibri" pitchFamily="34" charset="-122"/>
                <a:cs typeface="Calibri" pitchFamily="34" charset="-120"/>
              </a:rPr>
              <a:t>Why async? — the thread-blocking problem</a:t>
            </a:r>
            <a:endParaRPr lang="en-US" sz="1400" dirty="0"/>
          </a:p>
          <a:p>
            <a:pPr marL="342900" indent="-342900">
              <a:buSzPct val="100000"/>
              <a:buChar char="•"/>
            </a:pPr>
            <a:r>
              <a:rPr lang="en-US" sz="1400" dirty="0">
                <a:solidFill>
                  <a:srgbClr val="B8D4E8"/>
                </a:solidFill>
                <a:latin typeface="Calibri" pitchFamily="34" charset="0"/>
                <a:ea typeface="Calibri" pitchFamily="34" charset="-122"/>
                <a:cs typeface="Calibri" pitchFamily="34" charset="-120"/>
              </a:rPr>
              <a:t>async / await — cooperative, not parallel</a:t>
            </a:r>
            <a:endParaRPr lang="en-US" sz="1400" dirty="0"/>
          </a:p>
          <a:p>
            <a:pPr marL="342900" indent="-342900">
              <a:buSzPct val="100000"/>
              <a:buChar char="•"/>
            </a:pPr>
            <a:r>
              <a:rPr lang="en-US" sz="1400" dirty="0">
                <a:solidFill>
                  <a:srgbClr val="B8D4E8"/>
                </a:solidFill>
                <a:latin typeface="Calibri" pitchFamily="34" charset="0"/>
                <a:ea typeface="Calibri" pitchFamily="34" charset="-122"/>
                <a:cs typeface="Calibri" pitchFamily="34" charset="-120"/>
              </a:rPr>
              <a:t>Task, Task&lt;T&gt;, and ValueTask</a:t>
            </a:r>
            <a:endParaRPr lang="en-US" sz="1400" dirty="0"/>
          </a:p>
          <a:p>
            <a:pPr marL="342900" indent="-342900">
              <a:buSzPct val="100000"/>
              <a:buChar char="•"/>
            </a:pPr>
            <a:r>
              <a:rPr lang="en-US" sz="1400" dirty="0">
                <a:solidFill>
                  <a:srgbClr val="B8D4E8"/>
                </a:solidFill>
                <a:latin typeface="Calibri" pitchFamily="34" charset="0"/>
                <a:ea typeface="Calibri" pitchFamily="34" charset="-122"/>
                <a:cs typeface="Calibri" pitchFamily="34" charset="-120"/>
              </a:rPr>
              <a:t>Task.WhenAll — true concurrency</a:t>
            </a:r>
            <a:endParaRPr lang="en-US" sz="1400" dirty="0"/>
          </a:p>
          <a:p>
            <a:pPr marL="342900" indent="-342900">
              <a:buSzPct val="100000"/>
              <a:buChar char="•"/>
            </a:pPr>
            <a:r>
              <a:rPr lang="en-US" sz="1400" dirty="0">
                <a:solidFill>
                  <a:srgbClr val="B8D4E8"/>
                </a:solidFill>
                <a:latin typeface="Calibri" pitchFamily="34" charset="0"/>
                <a:ea typeface="Calibri" pitchFamily="34" charset="-122"/>
                <a:cs typeface="Calibri" pitchFamily="34" charset="-120"/>
              </a:rPr>
              <a:t>CancellationToken — cooperative cancellation</a:t>
            </a:r>
            <a:endParaRPr lang="en-US" sz="1400" dirty="0"/>
          </a:p>
          <a:p>
            <a:pPr marL="342900" indent="-342900">
              <a:buSzPct val="100000"/>
              <a:buChar char="•"/>
            </a:pPr>
            <a:r>
              <a:rPr lang="en-US" sz="1400" dirty="0">
                <a:solidFill>
                  <a:srgbClr val="B8D4E8"/>
                </a:solidFill>
                <a:latin typeface="Calibri" pitchFamily="34" charset="0"/>
                <a:ea typeface="Calibri" pitchFamily="34" charset="-122"/>
                <a:cs typeface="Calibri" pitchFamily="34" charset="-120"/>
              </a:rPr>
              <a:t>Common pitfalls: .Result, async void, fire-and-forget</a:t>
            </a:r>
            <a:endParaRPr lang="en-US" sz="14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0">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142952"/>
          </a:solidFill>
          <a:ln w="12700">
            <a:solidFill>
              <a:srgbClr val="142952"/>
            </a:solidFill>
            <a:prstDash val="solid"/>
          </a:ln>
        </p:spPr>
        <p:txBody>
          <a:bodyPr/>
          <a:lstStyle/>
          <a:p>
            <a:endParaRPr lang="en-US"/>
          </a:p>
        </p:txBody>
      </p:sp>
      <p:sp>
        <p:nvSpPr>
          <p:cNvPr id="3" name="Shape 1"/>
          <p:cNvSpPr/>
          <p:nvPr/>
        </p:nvSpPr>
        <p:spPr>
          <a:xfrm>
            <a:off x="0" y="713232"/>
            <a:ext cx="9144000" cy="45720"/>
          </a:xfrm>
          <a:prstGeom prst="rect">
            <a:avLst/>
          </a:prstGeom>
          <a:solidFill>
            <a:srgbClr val="00C2CB"/>
          </a:solidFill>
          <a:ln w="12700">
            <a:solidFill>
              <a:srgbClr val="00C2CB"/>
            </a:solidFill>
            <a:prstDash val="solid"/>
          </a:ln>
        </p:spPr>
        <p:txBody>
          <a:bodyPr/>
          <a:lstStyle/>
          <a:p>
            <a:endParaRPr lang="en-US"/>
          </a:p>
        </p:txBody>
      </p:sp>
      <p:sp>
        <p:nvSpPr>
          <p:cNvPr id="4" name="Text 2"/>
          <p:cNvSpPr/>
          <p:nvPr/>
        </p:nvSpPr>
        <p:spPr>
          <a:xfrm>
            <a:off x="365760" y="91440"/>
            <a:ext cx="8412480" cy="548640"/>
          </a:xfrm>
          <a:prstGeom prst="rect">
            <a:avLst/>
          </a:prstGeom>
          <a:noFill/>
          <a:ln/>
        </p:spPr>
        <p:txBody>
          <a:bodyPr wrap="square" lIns="0" tIns="0" rIns="0" bIns="0"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Why Async? The Blocking Problem</a:t>
            </a:r>
            <a:endParaRPr lang="en-US" sz="2100" dirty="0"/>
          </a:p>
        </p:txBody>
      </p:sp>
      <p:sp>
        <p:nvSpPr>
          <p:cNvPr id="5" name="Text 3"/>
          <p:cNvSpPr/>
          <p:nvPr/>
        </p:nvSpPr>
        <p:spPr>
          <a:xfrm>
            <a:off x="365760" y="868680"/>
            <a:ext cx="8412480" cy="4023360"/>
          </a:xfrm>
          <a:prstGeom prst="rect">
            <a:avLst/>
          </a:prstGeom>
          <a:noFill/>
          <a:ln/>
        </p:spPr>
        <p:txBody>
          <a:bodyPr wrap="square" rtlCol="0" anchor="t"/>
          <a:lstStyle/>
          <a:p>
            <a:pPr marL="342900" indent="-342900">
              <a:buSzPct val="100000"/>
              <a:buChar char="•"/>
            </a:pPr>
            <a:r>
              <a:rPr lang="en-US" sz="1400" dirty="0">
                <a:solidFill>
                  <a:srgbClr val="B8D4E8"/>
                </a:solidFill>
                <a:latin typeface="Calibri" pitchFamily="34" charset="0"/>
                <a:ea typeface="Calibri" pitchFamily="34" charset="-122"/>
                <a:cs typeface="Calibri" pitchFamily="34" charset="-120"/>
              </a:rPr>
              <a:t>Without async: while waiting for a network call, the thread is BLOCKED — it can't serve other requests</a:t>
            </a:r>
            <a:endParaRPr lang="en-US" sz="1400" dirty="0"/>
          </a:p>
          <a:p>
            <a:pPr marL="342900" indent="-342900">
              <a:buSzPct val="100000"/>
              <a:buChar char="•"/>
            </a:pPr>
            <a:r>
              <a:rPr lang="en-US" sz="1400" dirty="0">
                <a:solidFill>
                  <a:srgbClr val="B8D4E8"/>
                </a:solidFill>
                <a:latin typeface="Calibri" pitchFamily="34" charset="0"/>
                <a:ea typeface="Calibri" pitchFamily="34" charset="-122"/>
                <a:cs typeface="Calibri" pitchFamily="34" charset="-120"/>
              </a:rPr>
              <a:t>With async: the thread is RELEASED back to the pool during the wait; it resumes when the result arrives</a:t>
            </a:r>
            <a:endParaRPr lang="en-US" sz="1400" dirty="0"/>
          </a:p>
          <a:p>
            <a:pPr marL="342900" indent="-342900">
              <a:buSzPct val="100000"/>
              <a:buChar char="•"/>
            </a:pPr>
            <a:r>
              <a:rPr lang="en-US" sz="1400" dirty="0">
                <a:solidFill>
                  <a:srgbClr val="B8D4E8"/>
                </a:solidFill>
                <a:latin typeface="Calibri" pitchFamily="34" charset="0"/>
                <a:ea typeface="Calibri" pitchFamily="34" charset="-122"/>
                <a:cs typeface="Calibri" pitchFamily="34" charset="-120"/>
              </a:rPr>
              <a:t>await = 'pause here without blocking the thread' — the compiler rewrites your code into a state machine</a:t>
            </a:r>
            <a:endParaRPr lang="en-US" sz="1400" dirty="0"/>
          </a:p>
          <a:p>
            <a:pPr marL="342900" indent="-342900">
              <a:buSzPct val="100000"/>
              <a:buChar char="•"/>
            </a:pPr>
            <a:r>
              <a:rPr lang="en-US" sz="1400" dirty="0">
                <a:solidFill>
                  <a:srgbClr val="B8D4E8"/>
                </a:solidFill>
                <a:latin typeface="Calibri" pitchFamily="34" charset="0"/>
                <a:ea typeface="Calibri" pitchFamily="34" charset="-122"/>
                <a:cs typeface="Calibri" pitchFamily="34" charset="-120"/>
              </a:rPr>
              <a:t>async/await is COOPERATIVE: only one logical operation runs at a time (unless you use WhenAll)</a:t>
            </a:r>
            <a:endParaRPr lang="en-US" sz="1400" dirty="0"/>
          </a:p>
          <a:p>
            <a:pPr marL="342900" indent="-342900">
              <a:buSzPct val="100000"/>
              <a:buChar char="•"/>
            </a:pPr>
            <a:r>
              <a:rPr lang="en-US" sz="1400" dirty="0">
                <a:solidFill>
                  <a:srgbClr val="B8D4E8"/>
                </a:solidFill>
                <a:latin typeface="Calibri" pitchFamily="34" charset="0"/>
                <a:ea typeface="Calibri" pitchFamily="34" charset="-122"/>
                <a:cs typeface="Calibri" pitchFamily="34" charset="-120"/>
              </a:rPr>
              <a:t>NOT the same as threads or parallel: async is about I/O efficiency, not CPU parallelism</a:t>
            </a:r>
            <a:endParaRPr lang="en-US" sz="1400" dirty="0"/>
          </a:p>
          <a:p>
            <a:pPr marL="342900" indent="-342900">
              <a:buSzPct val="100000"/>
              <a:buChar char="•"/>
            </a:pPr>
            <a:r>
              <a:rPr lang="en-US" sz="1400" dirty="0">
                <a:solidFill>
                  <a:srgbClr val="B8D4E8"/>
                </a:solidFill>
                <a:latin typeface="Calibri" pitchFamily="34" charset="0"/>
                <a:ea typeface="Calibri" pitchFamily="34" charset="-122"/>
                <a:cs typeface="Calibri" pitchFamily="34" charset="-120"/>
              </a:rPr>
              <a:t>Return type rules: async methods return Task (void-async is Task), Task&lt;T&gt; (returns a value), or void only for event handlers</a:t>
            </a:r>
            <a:endParaRPr lang="en-US" sz="1400" dirty="0"/>
          </a:p>
        </p:txBody>
      </p:sp>
      <p:sp>
        <p:nvSpPr>
          <p:cNvPr id="6" name="Shape 4"/>
          <p:cNvSpPr/>
          <p:nvPr/>
        </p:nvSpPr>
        <p:spPr>
          <a:xfrm>
            <a:off x="7498080" y="137160"/>
            <a:ext cx="1463040" cy="420624"/>
          </a:xfrm>
          <a:prstGeom prst="rect">
            <a:avLst/>
          </a:prstGeom>
          <a:solidFill>
            <a:srgbClr val="F59E0B"/>
          </a:solidFill>
          <a:ln w="12700">
            <a:solidFill>
              <a:srgbClr val="F59E0B"/>
            </a:solidFill>
            <a:prstDash val="solid"/>
          </a:ln>
        </p:spPr>
        <p:txBody>
          <a:bodyPr/>
          <a:lstStyle/>
          <a:p>
            <a:endParaRPr lang="en-US"/>
          </a:p>
        </p:txBody>
      </p:sp>
      <p:sp>
        <p:nvSpPr>
          <p:cNvPr id="7" name="Text 5"/>
          <p:cNvSpPr/>
          <p:nvPr/>
        </p:nvSpPr>
        <p:spPr>
          <a:xfrm>
            <a:off x="7498080" y="118872"/>
            <a:ext cx="1463040" cy="457200"/>
          </a:xfrm>
          <a:prstGeom prst="rect">
            <a:avLst/>
          </a:prstGeom>
          <a:noFill/>
          <a:ln/>
        </p:spPr>
        <p:txBody>
          <a:bodyPr wrap="square" lIns="0" tIns="0" rIns="0" bIns="0" rtlCol="0" anchor="ctr"/>
          <a:lstStyle/>
          <a:p>
            <a:pPr marL="0" indent="0" algn="ctr">
              <a:buNone/>
            </a:pPr>
            <a:r>
              <a:rPr lang="en-US" sz="1100" b="1" dirty="0">
                <a:solidFill>
                  <a:srgbClr val="0A1628"/>
                </a:solidFill>
                <a:latin typeface="Calibri" pitchFamily="34" charset="0"/>
                <a:ea typeface="Calibri" pitchFamily="34" charset="-122"/>
                <a:cs typeface="Calibri" pitchFamily="34" charset="-120"/>
              </a:rPr>
              <a:t>⏱ 9:40 – 9:50</a:t>
            </a:r>
            <a:endParaRPr lang="en-US" sz="11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1">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0D1520"/>
          </a:solidFill>
          <a:ln w="12700">
            <a:solidFill>
              <a:srgbClr val="0D1520"/>
            </a:solidFill>
            <a:prstDash val="solid"/>
          </a:ln>
        </p:spPr>
        <p:txBody>
          <a:bodyPr/>
          <a:lstStyle/>
          <a:p>
            <a:endParaRPr lang="en-US"/>
          </a:p>
        </p:txBody>
      </p:sp>
      <p:sp>
        <p:nvSpPr>
          <p:cNvPr id="3" name="Shape 1"/>
          <p:cNvSpPr/>
          <p:nvPr/>
        </p:nvSpPr>
        <p:spPr>
          <a:xfrm>
            <a:off x="0" y="621792"/>
            <a:ext cx="9144000" cy="36576"/>
          </a:xfrm>
          <a:prstGeom prst="rect">
            <a:avLst/>
          </a:prstGeom>
          <a:solidFill>
            <a:srgbClr val="00C2CB"/>
          </a:solidFill>
          <a:ln w="12700">
            <a:solidFill>
              <a:srgbClr val="00C2CB"/>
            </a:solidFill>
            <a:prstDash val="solid"/>
          </a:ln>
        </p:spPr>
        <p:txBody>
          <a:bodyPr/>
          <a:lstStyle/>
          <a:p>
            <a:endParaRPr lang="en-US"/>
          </a:p>
        </p:txBody>
      </p:sp>
      <p:sp>
        <p:nvSpPr>
          <p:cNvPr id="4" name="Text 2"/>
          <p:cNvSpPr/>
          <p:nvPr/>
        </p:nvSpPr>
        <p:spPr>
          <a:xfrm>
            <a:off x="320040" y="64008"/>
            <a:ext cx="8503920" cy="502920"/>
          </a:xfrm>
          <a:prstGeom prst="rect">
            <a:avLst/>
          </a:prstGeom>
          <a:noFill/>
          <a:ln/>
        </p:spPr>
        <p:txBody>
          <a:bodyPr wrap="square" lIns="0" tIns="0" rIns="0" bIns="0" rtlCol="0" anchor="ctr"/>
          <a:lstStyle/>
          <a:p>
            <a:pPr marL="0" indent="0">
              <a:buNone/>
            </a:pPr>
            <a:r>
              <a:rPr lang="en-US" sz="1700" b="1" dirty="0">
                <a:solidFill>
                  <a:srgbClr val="00C2CB"/>
                </a:solidFill>
                <a:latin typeface="Calibri" pitchFamily="34" charset="0"/>
                <a:ea typeface="Calibri" pitchFamily="34" charset="-122"/>
                <a:cs typeface="Calibri" pitchFamily="34" charset="-120"/>
              </a:rPr>
              <a:t>⌨  Sequential vs Concurrent — The Key Demonstration</a:t>
            </a:r>
            <a:endParaRPr lang="en-US" sz="1700" dirty="0"/>
          </a:p>
        </p:txBody>
      </p:sp>
      <p:sp>
        <p:nvSpPr>
          <p:cNvPr id="5" name="Text 3"/>
          <p:cNvSpPr/>
          <p:nvPr/>
        </p:nvSpPr>
        <p:spPr>
          <a:xfrm>
            <a:off x="274320" y="713232"/>
            <a:ext cx="8595360" cy="3566160"/>
          </a:xfrm>
          <a:prstGeom prst="rect">
            <a:avLst/>
          </a:prstGeom>
          <a:noFill/>
          <a:ln/>
        </p:spPr>
        <p:txBody>
          <a:bodyPr wrap="square" lIns="0" tIns="0" rIns="0" bIns="0" rtlCol="0" anchor="t"/>
          <a:lstStyle/>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static async Task&lt;int&gt; CheckBranchAsync(string branch, CancellationToken ct = default) {</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    await Task.Delay(Random.Shared.Next(150, 400), ct);  // simulates real I/O</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    return Random.Shared.Next(0, 4);</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a:t>
            </a:r>
            <a:endParaRPr lang="en-US" sz="1200" dirty="0"/>
          </a:p>
          <a:p>
            <a:pPr marL="0" indent="0">
              <a:lnSpc>
                <a:spcPct val="120000"/>
              </a:lnSpc>
              <a:buNone/>
            </a:pP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string[] branches = { "Main", "Eastside", "Westside", "South" };</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var sw = Stopwatch.StartNew();</a:t>
            </a:r>
            <a:endParaRPr lang="en-US" sz="1200" dirty="0"/>
          </a:p>
          <a:p>
            <a:pPr marL="0" indent="0">
              <a:lnSpc>
                <a:spcPct val="120000"/>
              </a:lnSpc>
              <a:buNone/>
            </a:pP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 SEQUENTIAL — total ≈ sum of all delays (~1200ms)</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foreach (var b in branches) await CheckBranchAsync(b);</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Console.WriteLine($"Sequential:  {sw.ElapsedMilliseconds}ms");</a:t>
            </a:r>
            <a:endParaRPr lang="en-US" sz="1200" dirty="0"/>
          </a:p>
          <a:p>
            <a:pPr marL="0" indent="0">
              <a:lnSpc>
                <a:spcPct val="120000"/>
              </a:lnSpc>
              <a:buNone/>
            </a:pP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 CONCURRENT — total ≈ slowest single delay (~400ms)</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sw.Restart();</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var tasks  = branches.Select(b =&gt; CheckBranchAsync(b));</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var counts = await Task.WhenAll(tasks);</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Console.WriteLine($"Concurrent:  {sw.ElapsedMilliseconds}ms  ← 3x faster");</a:t>
            </a:r>
            <a:endParaRPr lang="en-US" sz="1200" dirty="0"/>
          </a:p>
          <a:p>
            <a:pPr marL="0" indent="0">
              <a:lnSpc>
                <a:spcPct val="120000"/>
              </a:lnSpc>
              <a:buNone/>
            </a:pP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 CANCELLATION — 500ms budget</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using var cts = new CancellationTokenSource(TimeSpan.FromMilliseconds(500));</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try   { await CheckBranchAsync("Slow", cts.Token); }</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catch (OperationCanceledException) { Console.WriteLine("Timed out ✓"); }</a:t>
            </a:r>
            <a:endParaRPr lang="en-US" sz="1200" dirty="0"/>
          </a:p>
        </p:txBody>
      </p:sp>
      <p:sp>
        <p:nvSpPr>
          <p:cNvPr id="6" name="Text 4"/>
          <p:cNvSpPr/>
          <p:nvPr/>
        </p:nvSpPr>
        <p:spPr>
          <a:xfrm>
            <a:off x="274320" y="4315968"/>
            <a:ext cx="8595360" cy="502920"/>
          </a:xfrm>
          <a:prstGeom prst="rect">
            <a:avLst/>
          </a:prstGeom>
          <a:noFill/>
          <a:ln/>
        </p:spPr>
        <p:txBody>
          <a:bodyPr wrap="square" lIns="0" tIns="0" rIns="0" bIns="0" rtlCol="0" anchor="ctr"/>
          <a:lstStyle/>
          <a:p>
            <a:pPr marL="0" indent="0">
              <a:buNone/>
            </a:pPr>
            <a:endParaRPr lang="en-US" sz="11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52">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142952"/>
          </a:solidFill>
          <a:ln w="12700">
            <a:solidFill>
              <a:srgbClr val="142952"/>
            </a:solidFill>
            <a:prstDash val="solid"/>
          </a:ln>
        </p:spPr>
        <p:txBody>
          <a:bodyPr/>
          <a:lstStyle/>
          <a:p>
            <a:endParaRPr lang="en-US"/>
          </a:p>
        </p:txBody>
      </p:sp>
      <p:sp>
        <p:nvSpPr>
          <p:cNvPr id="3" name="Shape 1"/>
          <p:cNvSpPr/>
          <p:nvPr/>
        </p:nvSpPr>
        <p:spPr>
          <a:xfrm>
            <a:off x="0" y="713232"/>
            <a:ext cx="9144000" cy="45720"/>
          </a:xfrm>
          <a:prstGeom prst="rect">
            <a:avLst/>
          </a:prstGeom>
          <a:solidFill>
            <a:srgbClr val="00C2CB"/>
          </a:solidFill>
          <a:ln w="12700">
            <a:solidFill>
              <a:srgbClr val="00C2CB"/>
            </a:solidFill>
            <a:prstDash val="solid"/>
          </a:ln>
        </p:spPr>
        <p:txBody>
          <a:bodyPr/>
          <a:lstStyle/>
          <a:p>
            <a:endParaRPr lang="en-US"/>
          </a:p>
        </p:txBody>
      </p:sp>
      <p:sp>
        <p:nvSpPr>
          <p:cNvPr id="4" name="Text 2"/>
          <p:cNvSpPr/>
          <p:nvPr/>
        </p:nvSpPr>
        <p:spPr>
          <a:xfrm>
            <a:off x="365760" y="91440"/>
            <a:ext cx="8412480" cy="548640"/>
          </a:xfrm>
          <a:prstGeom prst="rect">
            <a:avLst/>
          </a:prstGeom>
          <a:noFill/>
          <a:ln/>
        </p:spPr>
        <p:txBody>
          <a:bodyPr wrap="square" lIns="0" tIns="0" rIns="0" bIns="0"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Async Pitfalls — What Goes Wrong</a:t>
            </a:r>
            <a:endParaRPr lang="en-US" sz="2100" dirty="0"/>
          </a:p>
        </p:txBody>
      </p:sp>
      <p:sp>
        <p:nvSpPr>
          <p:cNvPr id="5" name="Text 3"/>
          <p:cNvSpPr/>
          <p:nvPr/>
        </p:nvSpPr>
        <p:spPr>
          <a:xfrm>
            <a:off x="365760" y="868680"/>
            <a:ext cx="4160520" cy="4023360"/>
          </a:xfrm>
          <a:prstGeom prst="rect">
            <a:avLst/>
          </a:prstGeom>
          <a:noFill/>
          <a:ln/>
        </p:spPr>
        <p:txBody>
          <a:bodyPr wrap="square" rtlCol="0" anchor="t"/>
          <a:lstStyle/>
          <a:p>
            <a:pPr marL="342900" indent="-342900">
              <a:buSzPct val="100000"/>
              <a:buChar char="•"/>
            </a:pPr>
            <a:r>
              <a:rPr lang="en-US" sz="1350" dirty="0">
                <a:solidFill>
                  <a:srgbClr val="B8D4E8"/>
                </a:solidFill>
                <a:latin typeface="Calibri" pitchFamily="34" charset="0"/>
                <a:ea typeface="Calibri" pitchFamily="34" charset="-122"/>
                <a:cs typeface="Calibri" pitchFamily="34" charset="-120"/>
              </a:rPr>
              <a:t>.Result and .Wait() can deadlock in ASP.NET and UI contexts — NEVER block async code</a:t>
            </a:r>
            <a:endParaRPr lang="en-US" sz="1350" dirty="0"/>
          </a:p>
          <a:p>
            <a:pPr marL="342900" indent="-342900">
              <a:buSzPct val="100000"/>
              <a:buChar char="•"/>
            </a:pPr>
            <a:r>
              <a:rPr lang="en-US" sz="1350" dirty="0">
                <a:solidFill>
                  <a:srgbClr val="B8D4E8"/>
                </a:solidFill>
                <a:latin typeface="Calibri" pitchFamily="34" charset="0"/>
                <a:ea typeface="Calibri" pitchFamily="34" charset="-122"/>
                <a:cs typeface="Calibri" pitchFamily="34" charset="-120"/>
              </a:rPr>
              <a:t>async void silently swallows exceptions — ONLY use for event handlers; always return Task</a:t>
            </a:r>
            <a:endParaRPr lang="en-US" sz="1350" dirty="0"/>
          </a:p>
          <a:p>
            <a:pPr marL="342900" indent="-342900">
              <a:buSzPct val="100000"/>
              <a:buChar char="•"/>
            </a:pPr>
            <a:r>
              <a:rPr lang="en-US" sz="1350" dirty="0">
                <a:solidFill>
                  <a:srgbClr val="B8D4E8"/>
                </a:solidFill>
                <a:latin typeface="Calibri" pitchFamily="34" charset="0"/>
                <a:ea typeface="Calibri" pitchFamily="34" charset="-122"/>
                <a:cs typeface="Calibri" pitchFamily="34" charset="-120"/>
              </a:rPr>
              <a:t>Forgetting await: var x = GetDataAsync(); — x is a Task, not the data. Add await!</a:t>
            </a:r>
            <a:endParaRPr lang="en-US" sz="1350" dirty="0"/>
          </a:p>
          <a:p>
            <a:pPr marL="342900" indent="-342900">
              <a:buSzPct val="100000"/>
              <a:buChar char="•"/>
            </a:pPr>
            <a:r>
              <a:rPr lang="en-US" sz="1350" dirty="0">
                <a:solidFill>
                  <a:srgbClr val="B8D4E8"/>
                </a:solidFill>
                <a:latin typeface="Calibri" pitchFamily="34" charset="0"/>
                <a:ea typeface="Calibri" pitchFamily="34" charset="-122"/>
                <a:cs typeface="Calibri" pitchFamily="34" charset="-120"/>
              </a:rPr>
              <a:t>Not passing CancellationToken down: if you don't propagate it, cancellation has no effect</a:t>
            </a:r>
            <a:endParaRPr lang="en-US" sz="1350" dirty="0"/>
          </a:p>
          <a:p>
            <a:pPr marL="342900" indent="-342900">
              <a:buSzPct val="100000"/>
              <a:buChar char="•"/>
            </a:pPr>
            <a:r>
              <a:rPr lang="en-US" sz="1350" dirty="0">
                <a:solidFill>
                  <a:srgbClr val="B8D4E8"/>
                </a:solidFill>
                <a:latin typeface="Calibri" pitchFamily="34" charset="0"/>
                <a:ea typeface="Calibri" pitchFamily="34" charset="-122"/>
                <a:cs typeface="Calibri" pitchFamily="34" charset="-120"/>
              </a:rPr>
              <a:t>await inside a lock: illegal — use SemaphoreSlim instead</a:t>
            </a:r>
            <a:endParaRPr lang="en-US" sz="1350" dirty="0"/>
          </a:p>
          <a:p>
            <a:pPr marL="342900" indent="-342900">
              <a:buSzPct val="100000"/>
              <a:buChar char="•"/>
            </a:pPr>
            <a:r>
              <a:rPr lang="en-US" sz="1350" dirty="0">
                <a:solidFill>
                  <a:srgbClr val="B8D4E8"/>
                </a:solidFill>
                <a:latin typeface="Calibri" pitchFamily="34" charset="0"/>
                <a:ea typeface="Calibri" pitchFamily="34" charset="-122"/>
                <a:cs typeface="Calibri" pitchFamily="34" charset="-120"/>
              </a:rPr>
              <a:t>ConfigureAwait(false): library code should use it; application code generally shouldn't</a:t>
            </a:r>
            <a:endParaRPr lang="en-US" sz="1350" dirty="0"/>
          </a:p>
        </p:txBody>
      </p:sp>
      <p:sp>
        <p:nvSpPr>
          <p:cNvPr id="6" name="Shape 4"/>
          <p:cNvSpPr/>
          <p:nvPr/>
        </p:nvSpPr>
        <p:spPr>
          <a:xfrm>
            <a:off x="4617720" y="896112"/>
            <a:ext cx="18288" cy="3931920"/>
          </a:xfrm>
          <a:prstGeom prst="rect">
            <a:avLst/>
          </a:prstGeom>
          <a:solidFill>
            <a:srgbClr val="00C2CB">
              <a:alpha val="45000"/>
            </a:srgbClr>
          </a:solidFill>
          <a:ln w="12700">
            <a:solidFill>
              <a:srgbClr val="00C2CB">
                <a:alpha val="45000"/>
              </a:srgbClr>
            </a:solidFill>
            <a:prstDash val="solid"/>
          </a:ln>
        </p:spPr>
        <p:txBody>
          <a:bodyPr/>
          <a:lstStyle/>
          <a:p>
            <a:endParaRPr lang="en-US"/>
          </a:p>
        </p:txBody>
      </p:sp>
      <p:sp>
        <p:nvSpPr>
          <p:cNvPr id="7" name="Text 5"/>
          <p:cNvSpPr/>
          <p:nvPr/>
        </p:nvSpPr>
        <p:spPr>
          <a:xfrm>
            <a:off x="4754880" y="868680"/>
            <a:ext cx="4160520" cy="4023360"/>
          </a:xfrm>
          <a:prstGeom prst="rect">
            <a:avLst/>
          </a:prstGeom>
          <a:noFill/>
          <a:ln/>
        </p:spPr>
        <p:txBody>
          <a:bodyPr wrap="square" rtlCol="0" anchor="t"/>
          <a:lstStyle/>
          <a:p>
            <a:pPr marL="342900" indent="-342900">
              <a:buSzPct val="100000"/>
              <a:buChar char="•"/>
            </a:pPr>
            <a:r>
              <a:rPr lang="en-US" sz="1350" dirty="0">
                <a:solidFill>
                  <a:srgbClr val="B8D4E8"/>
                </a:solidFill>
                <a:latin typeface="Calibri" pitchFamily="34" charset="0"/>
                <a:ea typeface="Calibri" pitchFamily="34" charset="-122"/>
                <a:cs typeface="Calibri" pitchFamily="34" charset="-120"/>
              </a:rPr>
              <a:t>var x = await GetDataAsync();  ✓</a:t>
            </a:r>
            <a:endParaRPr lang="en-US" sz="1350" dirty="0"/>
          </a:p>
          <a:p>
            <a:pPr marL="342900" indent="-342900">
              <a:buSzPct val="100000"/>
              <a:buChar char="•"/>
            </a:pPr>
            <a:r>
              <a:rPr lang="en-US" sz="1350" dirty="0">
                <a:solidFill>
                  <a:srgbClr val="B8D4E8"/>
                </a:solidFill>
                <a:latin typeface="Calibri" pitchFamily="34" charset="0"/>
                <a:ea typeface="Calibri" pitchFamily="34" charset="-122"/>
                <a:cs typeface="Calibri" pitchFamily="34" charset="-120"/>
              </a:rPr>
              <a:t>var x = GetDataAsync().Result; ✗</a:t>
            </a:r>
            <a:endParaRPr lang="en-US" sz="1350" dirty="0"/>
          </a:p>
          <a:p>
            <a:pPr marL="342900" indent="-342900">
              <a:buSzPct val="100000"/>
              <a:buChar char="•"/>
            </a:pPr>
            <a:endParaRPr lang="en-US" sz="1350" dirty="0"/>
          </a:p>
          <a:p>
            <a:pPr marL="342900" indent="-342900">
              <a:buSzPct val="100000"/>
              <a:buChar char="•"/>
            </a:pPr>
            <a:r>
              <a:rPr lang="en-US" sz="1350" dirty="0">
                <a:solidFill>
                  <a:srgbClr val="B8D4E8"/>
                </a:solidFill>
                <a:latin typeface="Calibri" pitchFamily="34" charset="0"/>
                <a:ea typeface="Calibri" pitchFamily="34" charset="-122"/>
                <a:cs typeface="Calibri" pitchFamily="34" charset="-120"/>
              </a:rPr>
              <a:t>async Task HandleAsync() { ... }  ✓</a:t>
            </a:r>
            <a:endParaRPr lang="en-US" sz="1350" dirty="0"/>
          </a:p>
          <a:p>
            <a:pPr marL="342900" indent="-342900">
              <a:buSzPct val="100000"/>
              <a:buChar char="•"/>
            </a:pPr>
            <a:r>
              <a:rPr lang="en-US" sz="1350" dirty="0">
                <a:solidFill>
                  <a:srgbClr val="B8D4E8"/>
                </a:solidFill>
                <a:latin typeface="Calibri" pitchFamily="34" charset="0"/>
                <a:ea typeface="Calibri" pitchFamily="34" charset="-122"/>
                <a:cs typeface="Calibri" pitchFamily="34" charset="-120"/>
              </a:rPr>
              <a:t>async void HandleAsync() { ... }  ✗ (events only)</a:t>
            </a:r>
            <a:endParaRPr lang="en-US" sz="1350" dirty="0"/>
          </a:p>
          <a:p>
            <a:pPr marL="342900" indent="-342900">
              <a:buSzPct val="100000"/>
              <a:buChar char="•"/>
            </a:pPr>
            <a:endParaRPr lang="en-US" sz="1350" dirty="0"/>
          </a:p>
          <a:p>
            <a:pPr marL="342900" indent="-342900">
              <a:buSzPct val="100000"/>
              <a:buChar char="•"/>
            </a:pPr>
            <a:r>
              <a:rPr lang="en-US" sz="1350" dirty="0">
                <a:solidFill>
                  <a:srgbClr val="B8D4E8"/>
                </a:solidFill>
                <a:latin typeface="Calibri" pitchFamily="34" charset="0"/>
                <a:ea typeface="Calibri" pitchFamily="34" charset="-122"/>
                <a:cs typeface="Calibri" pitchFamily="34" charset="-120"/>
              </a:rPr>
              <a:t>Always propagate CancellationToken through the entire async call chain</a:t>
            </a:r>
            <a:endParaRPr lang="en-US" sz="135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53">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0D1520"/>
          </a:solidFill>
          <a:ln w="12700">
            <a:solidFill>
              <a:srgbClr val="0D1520"/>
            </a:solidFill>
            <a:prstDash val="solid"/>
          </a:ln>
        </p:spPr>
        <p:txBody>
          <a:bodyPr/>
          <a:lstStyle/>
          <a:p>
            <a:endParaRPr lang="en-US"/>
          </a:p>
        </p:txBody>
      </p:sp>
      <p:sp>
        <p:nvSpPr>
          <p:cNvPr id="3" name="Shape 1"/>
          <p:cNvSpPr/>
          <p:nvPr/>
        </p:nvSpPr>
        <p:spPr>
          <a:xfrm>
            <a:off x="0" y="621792"/>
            <a:ext cx="9144000" cy="36576"/>
          </a:xfrm>
          <a:prstGeom prst="rect">
            <a:avLst/>
          </a:prstGeom>
          <a:solidFill>
            <a:srgbClr val="F59E0B"/>
          </a:solidFill>
          <a:ln w="12700">
            <a:solidFill>
              <a:srgbClr val="F59E0B"/>
            </a:solidFill>
            <a:prstDash val="solid"/>
          </a:ln>
        </p:spPr>
        <p:txBody>
          <a:bodyPr/>
          <a:lstStyle/>
          <a:p>
            <a:endParaRPr lang="en-US"/>
          </a:p>
        </p:txBody>
      </p:sp>
      <p:sp>
        <p:nvSpPr>
          <p:cNvPr id="4" name="Text 2"/>
          <p:cNvSpPr/>
          <p:nvPr/>
        </p:nvSpPr>
        <p:spPr>
          <a:xfrm>
            <a:off x="320040" y="64008"/>
            <a:ext cx="8503920" cy="502920"/>
          </a:xfrm>
          <a:prstGeom prst="rect">
            <a:avLst/>
          </a:prstGeom>
          <a:noFill/>
          <a:ln/>
        </p:spPr>
        <p:txBody>
          <a:bodyPr wrap="square" lIns="0" tIns="0" rIns="0" bIns="0" rtlCol="0" anchor="ctr"/>
          <a:lstStyle/>
          <a:p>
            <a:pPr marL="0" indent="0">
              <a:buNone/>
            </a:pPr>
            <a:r>
              <a:rPr lang="en-US" sz="1700" b="1" dirty="0">
                <a:solidFill>
                  <a:srgbClr val="F59E0B"/>
                </a:solidFill>
                <a:latin typeface="Calibri" pitchFamily="34" charset="0"/>
                <a:ea typeface="Calibri" pitchFamily="34" charset="-122"/>
                <a:cs typeface="Calibri" pitchFamily="34" charset="-120"/>
              </a:rPr>
              <a:t>⌨  IAsyncEnumerable — Async Streams</a:t>
            </a:r>
            <a:endParaRPr lang="en-US" sz="1700" dirty="0"/>
          </a:p>
        </p:txBody>
      </p:sp>
      <p:sp>
        <p:nvSpPr>
          <p:cNvPr id="5" name="Text 3"/>
          <p:cNvSpPr/>
          <p:nvPr/>
        </p:nvSpPr>
        <p:spPr>
          <a:xfrm>
            <a:off x="274320" y="713232"/>
            <a:ext cx="8595360" cy="4343400"/>
          </a:xfrm>
          <a:prstGeom prst="rect">
            <a:avLst/>
          </a:prstGeom>
          <a:noFill/>
          <a:ln/>
        </p:spPr>
        <p:txBody>
          <a:bodyPr wrap="square" lIns="0" tIns="0" rIns="0" bIns="0" rtlCol="0" anchor="t"/>
          <a:lstStyle/>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 Producer: yields items ONE AT A TIME as they arrive</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public async IAsyncEnumerable&lt;Magazine&gt; ImportFeedAsync(int count) {</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    for (int i = 1; i &lt;= count; i++) {</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        await Task.Delay(150);           // simulates slow feed</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        yield return new Magazine($"Wired", $"M-F{i:000}", i);</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    }</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a:t>
            </a:r>
            <a:endParaRPr lang="en-US" sz="1200" dirty="0"/>
          </a:p>
          <a:p>
            <a:pPr marL="0" indent="0">
              <a:lnSpc>
                <a:spcPct val="120000"/>
              </a:lnSpc>
              <a:buNone/>
            </a:pP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 Consumer: processes each AS IT ARRIVES — not all at the end</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var sw = Stopwatch.StartNew();</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await foreach (var mag in client.ImportFeedAsync(4)) {</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    catalog.Add(mag);</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    Console.WriteLine($"+{sw.ElapsedMilliseconds,4}ms  Issue #{mag.IssueNumber} added");</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 Output — items appear ~150ms apart, not all at 600ms:</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 + 152ms  Issue #1 added</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 + 303ms  Issue #2 added</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 + 461ms  Issue #3 added</a:t>
            </a:r>
            <a:endParaRPr lang="en-US" sz="12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54">
    <p:bg>
      <p:bgPr>
        <a:solidFill>
          <a:srgbClr val="0F2040"/>
        </a:solidFill>
        <a:effectLst/>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1A3A60"/>
          </a:solidFill>
          <a:ln w="12700">
            <a:solidFill>
              <a:srgbClr val="1A3A60"/>
            </a:solidFill>
            <a:prstDash val="solid"/>
          </a:ln>
        </p:spPr>
        <p:txBody>
          <a:bodyPr/>
          <a:lstStyle/>
          <a:p>
            <a:endParaRPr lang="en-US"/>
          </a:p>
        </p:txBody>
      </p:sp>
      <p:sp>
        <p:nvSpPr>
          <p:cNvPr id="3" name="Shape 1"/>
          <p:cNvSpPr/>
          <p:nvPr/>
        </p:nvSpPr>
        <p:spPr>
          <a:xfrm>
            <a:off x="0" y="713232"/>
            <a:ext cx="9144000" cy="45720"/>
          </a:xfrm>
          <a:prstGeom prst="rect">
            <a:avLst/>
          </a:prstGeom>
          <a:solidFill>
            <a:srgbClr val="F59E0B"/>
          </a:solidFill>
          <a:ln w="12700">
            <a:solidFill>
              <a:srgbClr val="F59E0B"/>
            </a:solidFill>
            <a:prstDash val="solid"/>
          </a:ln>
        </p:spPr>
        <p:txBody>
          <a:bodyPr/>
          <a:lstStyle/>
          <a:p>
            <a:endParaRPr lang="en-US"/>
          </a:p>
        </p:txBody>
      </p:sp>
      <p:sp>
        <p:nvSpPr>
          <p:cNvPr id="4" name="Text 2"/>
          <p:cNvSpPr/>
          <p:nvPr/>
        </p:nvSpPr>
        <p:spPr>
          <a:xfrm>
            <a:off x="365760" y="91440"/>
            <a:ext cx="6858000" cy="530352"/>
          </a:xfrm>
          <a:prstGeom prst="rect">
            <a:avLst/>
          </a:prstGeom>
          <a:noFill/>
          <a:ln/>
        </p:spPr>
        <p:txBody>
          <a:bodyPr wrap="square" lIns="0" tIns="0" rIns="0" bIns="0" rtlCol="0" anchor="ctr"/>
          <a:lstStyle/>
          <a:p>
            <a:pPr marL="0" indent="0">
              <a:buNone/>
            </a:pPr>
            <a:r>
              <a:rPr lang="en-US" sz="1900" b="1" dirty="0">
                <a:solidFill>
                  <a:srgbClr val="F59E0B"/>
                </a:solidFill>
                <a:latin typeface="Calibri" pitchFamily="34" charset="0"/>
                <a:ea typeface="Calibri" pitchFamily="34" charset="-122"/>
                <a:cs typeface="Calibri" pitchFamily="34" charset="-120"/>
              </a:rPr>
              <a:t>🧪  LAB 5  ·  Async Branch Search + Event Notifications</a:t>
            </a:r>
            <a:endParaRPr lang="en-US" sz="1900" dirty="0"/>
          </a:p>
        </p:txBody>
      </p:sp>
      <p:sp>
        <p:nvSpPr>
          <p:cNvPr id="5" name="Text 3"/>
          <p:cNvSpPr/>
          <p:nvPr/>
        </p:nvSpPr>
        <p:spPr>
          <a:xfrm>
            <a:off x="7315200" y="164592"/>
            <a:ext cx="1645920" cy="365760"/>
          </a:xfrm>
          <a:prstGeom prst="rect">
            <a:avLst/>
          </a:prstGeom>
          <a:noFill/>
          <a:ln/>
        </p:spPr>
        <p:txBody>
          <a:bodyPr wrap="square" lIns="0" tIns="0" rIns="0" bIns="0" rtlCol="0" anchor="ctr"/>
          <a:lstStyle/>
          <a:p>
            <a:pPr marL="0" indent="0" algn="r">
              <a:buNone/>
            </a:pPr>
            <a:r>
              <a:rPr lang="en-US" sz="1300" dirty="0">
                <a:solidFill>
                  <a:srgbClr val="B8D4E8"/>
                </a:solidFill>
                <a:latin typeface="Calibri" pitchFamily="34" charset="0"/>
                <a:ea typeface="Calibri" pitchFamily="34" charset="-122"/>
                <a:cs typeface="Calibri" pitchFamily="34" charset="-120"/>
              </a:rPr>
              <a:t>⏱ 25 min</a:t>
            </a:r>
            <a:endParaRPr lang="en-US" sz="1300" dirty="0"/>
          </a:p>
        </p:txBody>
      </p:sp>
      <p:sp>
        <p:nvSpPr>
          <p:cNvPr id="6" name="Text 4"/>
          <p:cNvSpPr/>
          <p:nvPr/>
        </p:nvSpPr>
        <p:spPr>
          <a:xfrm>
            <a:off x="365760" y="841248"/>
            <a:ext cx="4114800" cy="329184"/>
          </a:xfrm>
          <a:prstGeom prst="rect">
            <a:avLst/>
          </a:prstGeom>
          <a:noFill/>
          <a:ln/>
        </p:spPr>
        <p:txBody>
          <a:bodyPr wrap="square" lIns="0" tIns="0" rIns="0" bIns="0" rtlCol="0" anchor="ctr"/>
          <a:lstStyle/>
          <a:p>
            <a:pPr marL="0" indent="0">
              <a:buNone/>
            </a:pPr>
            <a:r>
              <a:rPr lang="en-US" sz="1300" b="1" dirty="0">
                <a:solidFill>
                  <a:srgbClr val="F59E0B"/>
                </a:solidFill>
                <a:latin typeface="Calibri" pitchFamily="34" charset="0"/>
                <a:ea typeface="Calibri" pitchFamily="34" charset="-122"/>
                <a:cs typeface="Calibri" pitchFamily="34" charset="-120"/>
              </a:rPr>
              <a:t>You will:</a:t>
            </a:r>
            <a:endParaRPr lang="en-US" sz="1300" dirty="0"/>
          </a:p>
        </p:txBody>
      </p:sp>
      <p:sp>
        <p:nvSpPr>
          <p:cNvPr id="7" name="Text 5"/>
          <p:cNvSpPr/>
          <p:nvPr/>
        </p:nvSpPr>
        <p:spPr>
          <a:xfrm>
            <a:off x="365760" y="1188720"/>
            <a:ext cx="4114800" cy="2560320"/>
          </a:xfrm>
          <a:prstGeom prst="rect">
            <a:avLst/>
          </a:prstGeom>
          <a:noFill/>
          <a:ln/>
        </p:spPr>
        <p:txBody>
          <a:bodyPr wrap="square" rtlCol="0" anchor="t"/>
          <a:lstStyle/>
          <a:p>
            <a:pPr marL="342900" indent="-342900">
              <a:buSzPct val="100000"/>
              <a:buChar char="•"/>
            </a:pPr>
            <a:r>
              <a:rPr lang="en-US" sz="1300" dirty="0">
                <a:solidFill>
                  <a:srgbClr val="B8D4E8"/>
                </a:solidFill>
                <a:latin typeface="Calibri" pitchFamily="34" charset="0"/>
                <a:ea typeface="Calibri" pitchFamily="34" charset="-122"/>
                <a:cs typeface="Calibri" pitchFamily="34" charset="-120"/>
              </a:rPr>
              <a:t>Wire a checkout event with 2 subscribers</a:t>
            </a:r>
            <a:endParaRPr lang="en-US" sz="1300" dirty="0"/>
          </a:p>
          <a:p>
            <a:pPr marL="342900" indent="-342900">
              <a:buSzPct val="100000"/>
              <a:buChar char="•"/>
            </a:pPr>
            <a:r>
              <a:rPr lang="en-US" sz="1300" dirty="0">
                <a:solidFill>
                  <a:srgbClr val="B8D4E8"/>
                </a:solidFill>
                <a:latin typeface="Calibri" pitchFamily="34" charset="0"/>
                <a:ea typeface="Calibri" pitchFamily="34" charset="-122"/>
                <a:cs typeface="Calibri" pitchFamily="34" charset="-120"/>
              </a:rPr>
              <a:t>Compare sequential vs concurrent branch search</a:t>
            </a:r>
            <a:endParaRPr lang="en-US" sz="1300" dirty="0"/>
          </a:p>
          <a:p>
            <a:pPr marL="342900" indent="-342900">
              <a:buSzPct val="100000"/>
              <a:buChar char="•"/>
            </a:pPr>
            <a:r>
              <a:rPr lang="en-US" sz="1300" dirty="0">
                <a:solidFill>
                  <a:srgbClr val="B8D4E8"/>
                </a:solidFill>
                <a:latin typeface="Calibri" pitchFamily="34" charset="0"/>
                <a:ea typeface="Calibri" pitchFamily="34" charset="-122"/>
                <a:cs typeface="Calibri" pitchFamily="34" charset="-120"/>
              </a:rPr>
              <a:t>Apply a cancellation timeout</a:t>
            </a:r>
            <a:endParaRPr lang="en-US" sz="1300" dirty="0"/>
          </a:p>
          <a:p>
            <a:pPr marL="342900" indent="-342900">
              <a:buSzPct val="100000"/>
              <a:buChar char="•"/>
            </a:pPr>
            <a:r>
              <a:rPr lang="en-US" sz="1300" dirty="0">
                <a:solidFill>
                  <a:srgbClr val="B8D4E8"/>
                </a:solidFill>
                <a:latin typeface="Calibri" pitchFamily="34" charset="0"/>
                <a:ea typeface="Calibri" pitchFamily="34" charset="-122"/>
                <a:cs typeface="Calibri" pitchFamily="34" charset="-120"/>
              </a:rPr>
              <a:t>Consume an async stream with await foreach</a:t>
            </a:r>
            <a:endParaRPr lang="en-US" sz="1300" dirty="0"/>
          </a:p>
        </p:txBody>
      </p:sp>
      <p:sp>
        <p:nvSpPr>
          <p:cNvPr id="8" name="Shape 6"/>
          <p:cNvSpPr/>
          <p:nvPr/>
        </p:nvSpPr>
        <p:spPr>
          <a:xfrm>
            <a:off x="4617720" y="841248"/>
            <a:ext cx="18288" cy="3200400"/>
          </a:xfrm>
          <a:prstGeom prst="rect">
            <a:avLst/>
          </a:prstGeom>
          <a:solidFill>
            <a:srgbClr val="F59E0B">
              <a:alpha val="30000"/>
            </a:srgbClr>
          </a:solidFill>
          <a:ln w="12700">
            <a:solidFill>
              <a:srgbClr val="F59E0B">
                <a:alpha val="30000"/>
              </a:srgbClr>
            </a:solidFill>
            <a:prstDash val="solid"/>
          </a:ln>
        </p:spPr>
        <p:txBody>
          <a:bodyPr/>
          <a:lstStyle/>
          <a:p>
            <a:endParaRPr lang="en-US"/>
          </a:p>
        </p:txBody>
      </p:sp>
      <p:sp>
        <p:nvSpPr>
          <p:cNvPr id="9" name="Text 7"/>
          <p:cNvSpPr/>
          <p:nvPr/>
        </p:nvSpPr>
        <p:spPr>
          <a:xfrm>
            <a:off x="4754880" y="841248"/>
            <a:ext cx="4114800" cy="329184"/>
          </a:xfrm>
          <a:prstGeom prst="rect">
            <a:avLst/>
          </a:prstGeom>
          <a:noFill/>
          <a:ln/>
        </p:spPr>
        <p:txBody>
          <a:bodyPr wrap="square" lIns="0" tIns="0" rIns="0" bIns="0" rtlCol="0" anchor="ctr"/>
          <a:lstStyle/>
          <a:p>
            <a:pPr marL="0" indent="0">
              <a:buNone/>
            </a:pPr>
            <a:r>
              <a:rPr lang="en-US" sz="1300" b="1" dirty="0">
                <a:solidFill>
                  <a:srgbClr val="F59E0B"/>
                </a:solidFill>
                <a:latin typeface="Calibri" pitchFamily="34" charset="0"/>
                <a:ea typeface="Calibri" pitchFamily="34" charset="-122"/>
                <a:cs typeface="Calibri" pitchFamily="34" charset="-120"/>
              </a:rPr>
              <a:t>Steps:</a:t>
            </a:r>
            <a:endParaRPr lang="en-US" sz="1300" dirty="0"/>
          </a:p>
        </p:txBody>
      </p:sp>
      <p:sp>
        <p:nvSpPr>
          <p:cNvPr id="10" name="Text 8"/>
          <p:cNvSpPr/>
          <p:nvPr/>
        </p:nvSpPr>
        <p:spPr>
          <a:xfrm>
            <a:off x="4754880" y="1188720"/>
            <a:ext cx="4114800" cy="2560320"/>
          </a:xfrm>
          <a:prstGeom prst="rect">
            <a:avLst/>
          </a:prstGeom>
          <a:noFill/>
          <a:ln/>
        </p:spPr>
        <p:txBody>
          <a:bodyPr wrap="square" rtlCol="0" anchor="t"/>
          <a:lstStyle/>
          <a:p>
            <a:pPr marL="342900" indent="-342900">
              <a:buSzPct val="100000"/>
              <a:buChar char="•"/>
            </a:pPr>
            <a:r>
              <a:rPr lang="en-US" sz="1300" dirty="0">
                <a:solidFill>
                  <a:srgbClr val="B8D4E8"/>
                </a:solidFill>
                <a:latin typeface="Calibri" pitchFamily="34" charset="0"/>
                <a:ea typeface="Calibri" pitchFamily="34" charset="-122"/>
                <a:cs typeface="Calibri" pitchFamily="34" charset="-120"/>
              </a:rPr>
              <a:t>Add ItemCirculated event to CheckoutService</a:t>
            </a:r>
            <a:endParaRPr lang="en-US" sz="1300" dirty="0"/>
          </a:p>
          <a:p>
            <a:pPr marL="342900" indent="-342900">
              <a:buSzPct val="100000"/>
              <a:buChar char="•"/>
            </a:pPr>
            <a:r>
              <a:rPr lang="en-US" sz="1300" dirty="0">
                <a:solidFill>
                  <a:srgbClr val="B8D4E8"/>
                </a:solidFill>
                <a:latin typeface="Calibri" pitchFamily="34" charset="0"/>
                <a:ea typeface="Calibri" pitchFamily="34" charset="-122"/>
                <a:cs typeface="Calibri" pitchFamily="34" charset="-120"/>
              </a:rPr>
              <a:t>Wire console subscriber + File.AppendAllText subscriber</a:t>
            </a:r>
            <a:endParaRPr lang="en-US" sz="1300" dirty="0"/>
          </a:p>
          <a:p>
            <a:pPr marL="342900" indent="-342900">
              <a:buSzPct val="100000"/>
              <a:buChar char="•"/>
            </a:pPr>
            <a:r>
              <a:rPr lang="en-US" sz="1300" dirty="0">
                <a:solidFill>
                  <a:srgbClr val="B8D4E8"/>
                </a:solidFill>
                <a:latin typeface="Calibri" pitchFamily="34" charset="0"/>
                <a:ea typeface="Calibri" pitchFamily="34" charset="-122"/>
                <a:cs typeface="Calibri" pitchFamily="34" charset="-120"/>
              </a:rPr>
              <a:t>Implement FindEverywhereAsync() with Task.WhenAll</a:t>
            </a:r>
            <a:endParaRPr lang="en-US" sz="1300" dirty="0"/>
          </a:p>
          <a:p>
            <a:pPr marL="342900" indent="-342900">
              <a:buSzPct val="100000"/>
              <a:buChar char="•"/>
            </a:pPr>
            <a:r>
              <a:rPr lang="en-US" sz="1300" dirty="0">
                <a:solidFill>
                  <a:srgbClr val="B8D4E8"/>
                </a:solidFill>
                <a:latin typeface="Calibri" pitchFamily="34" charset="0"/>
                <a:ea typeface="Calibri" pitchFamily="34" charset="-122"/>
                <a:cs typeface="Calibri" pitchFamily="34" charset="-120"/>
              </a:rPr>
              <a:t>Time sequential vs concurrent, print both</a:t>
            </a:r>
            <a:endParaRPr lang="en-US" sz="1300" dirty="0"/>
          </a:p>
          <a:p>
            <a:pPr marL="342900" indent="-342900">
              <a:buSzPct val="100000"/>
              <a:buChar char="•"/>
            </a:pPr>
            <a:r>
              <a:rPr lang="en-US" sz="1300" dirty="0">
                <a:solidFill>
                  <a:srgbClr val="B8D4E8"/>
                </a:solidFill>
                <a:latin typeface="Calibri" pitchFamily="34" charset="0"/>
                <a:ea typeface="Calibri" pitchFamily="34" charset="-122"/>
                <a:cs typeface="Calibri" pitchFamily="34" charset="-120"/>
              </a:rPr>
              <a:t>Add 1-second CancellationTokenSource to the search</a:t>
            </a:r>
            <a:endParaRPr lang="en-US" sz="1300" dirty="0"/>
          </a:p>
          <a:p>
            <a:pPr marL="342900" indent="-342900">
              <a:buSzPct val="100000"/>
              <a:buChar char="•"/>
            </a:pPr>
            <a:r>
              <a:rPr lang="en-US" sz="1300" dirty="0">
                <a:solidFill>
                  <a:srgbClr val="B8D4E8"/>
                </a:solidFill>
                <a:latin typeface="Calibri" pitchFamily="34" charset="0"/>
                <a:ea typeface="Calibri" pitchFamily="34" charset="-122"/>
                <a:cs typeface="Calibri" pitchFamily="34" charset="-120"/>
              </a:rPr>
              <a:t>Wire ImportFeedAsync() + await foreach with live output</a:t>
            </a:r>
            <a:endParaRPr lang="en-US" sz="13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713232"/>
          </a:xfrm>
          <a:prstGeom prst="rect">
            <a:avLst/>
          </a:prstGeom>
          <a:solidFill>
            <a:srgbClr val="1429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13232"/>
            <a:ext cx="9144000" cy="457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91440"/>
            <a:ext cx="8412480" cy="548640"/>
          </a:xfrm>
          <a:prstGeom prst="rect">
            <a:avLst/>
          </a:prstGeom>
          <a:noFill/>
        </p:spPr>
        <p:txBody>
          <a:bodyPr wrap="square">
            <a:spAutoFit/>
          </a:bodyPr>
          <a:lstStyle/>
          <a:p>
            <a:r>
              <a:rPr sz="2100" b="1">
                <a:solidFill>
                  <a:srgbClr val="FFFFFF"/>
                </a:solidFill>
                <a:latin typeface="Calibri"/>
              </a:rPr>
              <a:t>Before This Section: Three Quick Real-World Pictures</a:t>
            </a:r>
          </a:p>
        </p:txBody>
      </p:sp>
      <p:sp>
        <p:nvSpPr>
          <p:cNvPr id="5" name="TextBox 4"/>
          <p:cNvSpPr txBox="1"/>
          <p:nvPr/>
        </p:nvSpPr>
        <p:spPr>
          <a:xfrm>
            <a:off x="365760" y="868680"/>
            <a:ext cx="8412480" cy="4023360"/>
          </a:xfrm>
          <a:prstGeom prst="rect">
            <a:avLst/>
          </a:prstGeom>
          <a:noFill/>
        </p:spPr>
        <p:txBody>
          <a:bodyPr wrap="square">
            <a:spAutoFit/>
          </a:bodyPr>
          <a:lstStyle/>
          <a:p>
            <a:pPr>
              <a:spcAft>
                <a:spcPts val="1000"/>
              </a:spcAft>
            </a:pPr>
            <a:r>
              <a:rPr sz="1500">
                <a:solidFill>
                  <a:srgbClr val="B8D4E8"/>
                </a:solidFill>
                <a:latin typeface="Calibri"/>
              </a:rPr>
              <a:t>•  EXCEPTIONS: Think of a fire alarm. When something goes wrong, you don't quietly ignore it and keep going — you raise a loud, specific alarm: 'Fire on the 3rd floor, east wing.' An exception is C#'s fire alarm — a structured, detailed way of saying 'something went wrong, and here's exactly what and where.'</a:t>
            </a:r>
          </a:p>
          <a:p>
            <a:pPr>
              <a:spcAft>
                <a:spcPts val="1000"/>
              </a:spcAft>
            </a:pPr>
            <a:r>
              <a:rPr sz="1500">
                <a:solidFill>
                  <a:srgbClr val="B8D4E8"/>
                </a:solidFill>
                <a:latin typeface="Calibri"/>
              </a:rPr>
              <a:t>•  REFLECTION: Think of a restaurant menu. The menu lists every dish available, without you having to walk into the kitchen and check personally. Reflection lets code read a 'menu' of another piece of code — what methods exist, what they're called — without you hard-coding that list yourself.</a:t>
            </a:r>
          </a:p>
          <a:p>
            <a:pPr>
              <a:spcAft>
                <a:spcPts val="1000"/>
              </a:spcAft>
            </a:pPr>
            <a:r>
              <a:rPr sz="1500">
                <a:solidFill>
                  <a:srgbClr val="B8D4E8"/>
                </a:solidFill>
                <a:latin typeface="Calibri"/>
              </a:rPr>
              <a:t>•  MEMORY (the Garbage Collector): Think of a hotel housekeeping service. You don't have to clean your own room — the hotel automatically does it once you've checked out. C#'s memory manager (the GC) automatically cleans up data you're no longer using, so you almost never have to do it by hand.</a:t>
            </a:r>
          </a:p>
          <a:p>
            <a:pPr>
              <a:spcAft>
                <a:spcPts val="1000"/>
              </a:spcAft>
            </a:pPr>
            <a:r>
              <a:rPr sz="1500">
                <a:solidFill>
                  <a:srgbClr val="B8D4E8"/>
                </a:solidFill>
                <a:latin typeface="Calibri"/>
              </a:rPr>
              <a:t>•  None of these three ideas requires advanced math or unfamiliar logic — they're just new VOCABULARY for patterns you already use in everyday life.</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55">
    <p:bg>
      <p:bgPr>
        <a:solidFill>
          <a:srgbClr val="0F2040"/>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0C2CB"/>
          </a:solidFill>
          <a:ln w="12700">
            <a:solidFill>
              <a:srgbClr val="00C2CB"/>
            </a:solidFill>
            <a:prstDash val="solid"/>
          </a:ln>
        </p:spPr>
        <p:txBody>
          <a:bodyPr/>
          <a:lstStyle/>
          <a:p>
            <a:endParaRPr lang="en-US"/>
          </a:p>
        </p:txBody>
      </p:sp>
      <p:sp>
        <p:nvSpPr>
          <p:cNvPr id="3" name="Text 1"/>
          <p:cNvSpPr/>
          <p:nvPr/>
        </p:nvSpPr>
        <p:spPr>
          <a:xfrm>
            <a:off x="457200" y="73152"/>
            <a:ext cx="2743200" cy="411480"/>
          </a:xfrm>
          <a:prstGeom prst="rect">
            <a:avLst/>
          </a:prstGeom>
          <a:noFill/>
          <a:ln/>
        </p:spPr>
        <p:txBody>
          <a:bodyPr wrap="square" lIns="0" tIns="0" rIns="0" bIns="0" rtlCol="0" anchor="ctr"/>
          <a:lstStyle/>
          <a:p>
            <a:pPr marL="0" indent="0">
              <a:buNone/>
            </a:pPr>
            <a:r>
              <a:rPr lang="en-US" sz="1300" b="1" dirty="0">
                <a:solidFill>
                  <a:srgbClr val="0A1628"/>
                </a:solidFill>
                <a:latin typeface="Calibri" pitchFamily="34" charset="0"/>
                <a:ea typeface="Calibri" pitchFamily="34" charset="-122"/>
                <a:cs typeface="Calibri" pitchFamily="34" charset="-120"/>
              </a:rPr>
              <a:t>SECTION 8</a:t>
            </a:r>
            <a:endParaRPr lang="en-US" sz="1300" dirty="0"/>
          </a:p>
        </p:txBody>
      </p:sp>
      <p:sp>
        <p:nvSpPr>
          <p:cNvPr id="4" name="Text 2"/>
          <p:cNvSpPr/>
          <p:nvPr/>
        </p:nvSpPr>
        <p:spPr>
          <a:xfrm>
            <a:off x="6858000" y="73152"/>
            <a:ext cx="1828800" cy="411480"/>
          </a:xfrm>
          <a:prstGeom prst="rect">
            <a:avLst/>
          </a:prstGeom>
          <a:noFill/>
          <a:ln/>
        </p:spPr>
        <p:txBody>
          <a:bodyPr wrap="square" lIns="0" tIns="0" rIns="0" bIns="0" rtlCol="0" anchor="ctr"/>
          <a:lstStyle/>
          <a:p>
            <a:pPr marL="0" indent="0" algn="r">
              <a:buNone/>
            </a:pPr>
            <a:r>
              <a:rPr lang="en-US" sz="1200" dirty="0">
                <a:solidFill>
                  <a:srgbClr val="0A1628"/>
                </a:solidFill>
                <a:latin typeface="Calibri" pitchFamily="34" charset="0"/>
                <a:ea typeface="Calibri" pitchFamily="34" charset="-122"/>
                <a:cs typeface="Calibri" pitchFamily="34" charset="-120"/>
              </a:rPr>
              <a:t>10:45 – 11:10  (25 min)</a:t>
            </a:r>
            <a:endParaRPr lang="en-US" sz="1200" dirty="0"/>
          </a:p>
        </p:txBody>
      </p:sp>
      <p:sp>
        <p:nvSpPr>
          <p:cNvPr id="5" name="Text 3"/>
          <p:cNvSpPr/>
          <p:nvPr/>
        </p:nvSpPr>
        <p:spPr>
          <a:xfrm>
            <a:off x="457200" y="502920"/>
            <a:ext cx="8229600" cy="502920"/>
          </a:xfrm>
          <a:prstGeom prst="rect">
            <a:avLst/>
          </a:prstGeom>
          <a:noFill/>
          <a:ln/>
        </p:spPr>
        <p:txBody>
          <a:bodyPr wrap="square" lIns="0" tIns="0" rIns="0" bIns="0" rtlCol="0" anchor="ctr"/>
          <a:lstStyle/>
          <a:p>
            <a:pPr marL="0" indent="0">
              <a:buNone/>
            </a:pPr>
            <a:r>
              <a:rPr lang="en-US" sz="2400" b="1" dirty="0">
                <a:solidFill>
                  <a:srgbClr val="0A1628"/>
                </a:solidFill>
                <a:latin typeface="Calibri" pitchFamily="34" charset="0"/>
                <a:ea typeface="Calibri" pitchFamily="34" charset="-122"/>
                <a:cs typeface="Calibri" pitchFamily="34" charset="-120"/>
              </a:rPr>
              <a:t>Exception Handling · Reflection · Memory</a:t>
            </a:r>
            <a:endParaRPr lang="en-US" sz="2400" dirty="0"/>
          </a:p>
        </p:txBody>
      </p:sp>
      <p:sp>
        <p:nvSpPr>
          <p:cNvPr id="6" name="Text 4"/>
          <p:cNvSpPr/>
          <p:nvPr/>
        </p:nvSpPr>
        <p:spPr>
          <a:xfrm>
            <a:off x="457200" y="1234440"/>
            <a:ext cx="8229600" cy="3657600"/>
          </a:xfrm>
          <a:prstGeom prst="rect">
            <a:avLst/>
          </a:prstGeom>
          <a:noFill/>
          <a:ln/>
        </p:spPr>
        <p:txBody>
          <a:bodyPr wrap="square" rtlCol="0" anchor="t"/>
          <a:lstStyle/>
          <a:p>
            <a:pPr marL="342900" indent="-342900">
              <a:buSzPct val="100000"/>
              <a:buChar char="•"/>
            </a:pPr>
            <a:r>
              <a:rPr lang="en-US" sz="1400" dirty="0">
                <a:solidFill>
                  <a:srgbClr val="B8D4E8"/>
                </a:solidFill>
                <a:latin typeface="Calibri" pitchFamily="34" charset="0"/>
                <a:ea typeface="Calibri" pitchFamily="34" charset="-122"/>
                <a:cs typeface="Calibri" pitchFamily="34" charset="-120"/>
              </a:rPr>
              <a:t>Custom exceptions with context properties</a:t>
            </a:r>
            <a:endParaRPr lang="en-US" sz="1400" dirty="0"/>
          </a:p>
          <a:p>
            <a:pPr marL="342900" indent="-342900">
              <a:buSzPct val="100000"/>
              <a:buChar char="•"/>
            </a:pPr>
            <a:r>
              <a:rPr lang="en-US" sz="1400" dirty="0">
                <a:solidFill>
                  <a:srgbClr val="B8D4E8"/>
                </a:solidFill>
                <a:latin typeface="Calibri" pitchFamily="34" charset="0"/>
                <a:ea typeface="Calibri" pitchFamily="34" charset="-122"/>
                <a:cs typeface="Calibri" pitchFamily="34" charset="-120"/>
              </a:rPr>
              <a:t>Services throw / UI catches — the architecture pattern</a:t>
            </a:r>
            <a:endParaRPr lang="en-US" sz="1400" dirty="0"/>
          </a:p>
          <a:p>
            <a:pPr marL="342900" indent="-342900">
              <a:buSzPct val="100000"/>
              <a:buChar char="•"/>
            </a:pPr>
            <a:r>
              <a:rPr lang="en-US" sz="1400" dirty="0">
                <a:solidFill>
                  <a:srgbClr val="B8D4E8"/>
                </a:solidFill>
                <a:latin typeface="Calibri" pitchFamily="34" charset="0"/>
                <a:ea typeface="Calibri" pitchFamily="34" charset="-122"/>
                <a:cs typeface="Calibri" pitchFamily="34" charset="-120"/>
              </a:rPr>
              <a:t>Reflection &amp; custom attributes — the plugin pattern</a:t>
            </a:r>
            <a:endParaRPr lang="en-US" sz="1400" dirty="0"/>
          </a:p>
          <a:p>
            <a:pPr marL="342900" indent="-342900">
              <a:buSzPct val="100000"/>
              <a:buChar char="•"/>
            </a:pPr>
            <a:r>
              <a:rPr lang="en-US" sz="1400" dirty="0">
                <a:solidFill>
                  <a:srgbClr val="B8D4E8"/>
                </a:solidFill>
                <a:latin typeface="Calibri" pitchFamily="34" charset="0"/>
                <a:ea typeface="Calibri" pitchFamily="34" charset="-122"/>
                <a:cs typeface="Calibri" pitchFamily="34" charset="-120"/>
              </a:rPr>
              <a:t>Memory management, GC generations, Span&lt;T&gt;</a:t>
            </a:r>
            <a:endParaRPr lang="en-US" sz="1400" dirty="0"/>
          </a:p>
          <a:p>
            <a:pPr marL="342900" indent="-342900">
              <a:buSzPct val="100000"/>
              <a:buChar char="•"/>
            </a:pPr>
            <a:r>
              <a:rPr lang="en-US" sz="1400" dirty="0">
                <a:solidFill>
                  <a:srgbClr val="B8D4E8"/>
                </a:solidFill>
                <a:latin typeface="Calibri" pitchFamily="34" charset="0"/>
                <a:ea typeface="Calibri" pitchFamily="34" charset="-122"/>
                <a:cs typeface="Calibri" pitchFamily="34" charset="-120"/>
              </a:rPr>
              <a:t>IDisposable and the using statement</a:t>
            </a:r>
            <a:endParaRPr lang="en-US" sz="1400" dirty="0"/>
          </a:p>
          <a:p>
            <a:pPr marL="342900" indent="-342900">
              <a:buSzPct val="100000"/>
              <a:buChar char="•"/>
            </a:pPr>
            <a:r>
              <a:rPr lang="en-US" sz="1400" dirty="0">
                <a:solidFill>
                  <a:srgbClr val="B8D4E8"/>
                </a:solidFill>
                <a:latin typeface="Calibri" pitchFamily="34" charset="0"/>
                <a:ea typeface="Calibri" pitchFamily="34" charset="-122"/>
                <a:cs typeface="Calibri" pitchFamily="34" charset="-120"/>
              </a:rPr>
              <a:t>Unsafe code — what it is and when (not) to use it</a:t>
            </a:r>
            <a:endParaRPr lang="en-US" sz="14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56">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142952"/>
          </a:solidFill>
          <a:ln w="12700">
            <a:solidFill>
              <a:srgbClr val="142952"/>
            </a:solidFill>
            <a:prstDash val="solid"/>
          </a:ln>
        </p:spPr>
        <p:txBody>
          <a:bodyPr/>
          <a:lstStyle/>
          <a:p>
            <a:endParaRPr lang="en-US"/>
          </a:p>
        </p:txBody>
      </p:sp>
      <p:sp>
        <p:nvSpPr>
          <p:cNvPr id="3" name="Shape 1"/>
          <p:cNvSpPr/>
          <p:nvPr/>
        </p:nvSpPr>
        <p:spPr>
          <a:xfrm>
            <a:off x="0" y="713232"/>
            <a:ext cx="9144000" cy="45720"/>
          </a:xfrm>
          <a:prstGeom prst="rect">
            <a:avLst/>
          </a:prstGeom>
          <a:solidFill>
            <a:srgbClr val="00C2CB"/>
          </a:solidFill>
          <a:ln w="12700">
            <a:solidFill>
              <a:srgbClr val="00C2CB"/>
            </a:solidFill>
            <a:prstDash val="solid"/>
          </a:ln>
        </p:spPr>
        <p:txBody>
          <a:bodyPr/>
          <a:lstStyle/>
          <a:p>
            <a:endParaRPr lang="en-US"/>
          </a:p>
        </p:txBody>
      </p:sp>
      <p:sp>
        <p:nvSpPr>
          <p:cNvPr id="4" name="Text 2"/>
          <p:cNvSpPr/>
          <p:nvPr/>
        </p:nvSpPr>
        <p:spPr>
          <a:xfrm>
            <a:off x="365760" y="91440"/>
            <a:ext cx="8412480" cy="548640"/>
          </a:xfrm>
          <a:prstGeom prst="rect">
            <a:avLst/>
          </a:prstGeom>
          <a:noFill/>
          <a:ln/>
        </p:spPr>
        <p:txBody>
          <a:bodyPr wrap="square" lIns="0" tIns="0" rIns="0" bIns="0"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Exception Handling — Patterns That Matter</a:t>
            </a:r>
            <a:endParaRPr lang="en-US" sz="2100" dirty="0"/>
          </a:p>
        </p:txBody>
      </p:sp>
      <p:sp>
        <p:nvSpPr>
          <p:cNvPr id="5" name="Text 3"/>
          <p:cNvSpPr/>
          <p:nvPr/>
        </p:nvSpPr>
        <p:spPr>
          <a:xfrm>
            <a:off x="365760" y="868680"/>
            <a:ext cx="8412480" cy="4023360"/>
          </a:xfrm>
          <a:prstGeom prst="rect">
            <a:avLst/>
          </a:prstGeom>
          <a:noFill/>
          <a:ln/>
        </p:spPr>
        <p:txBody>
          <a:bodyPr wrap="square" rtlCol="0" anchor="t"/>
          <a:lstStyle/>
          <a:p>
            <a:pPr marL="342900" indent="-342900">
              <a:buSzPct val="100000"/>
              <a:buChar char="•"/>
            </a:pPr>
            <a:r>
              <a:rPr lang="en-US" sz="1400" dirty="0">
                <a:solidFill>
                  <a:srgbClr val="B8D4E8"/>
                </a:solidFill>
                <a:latin typeface="Calibri" pitchFamily="34" charset="0"/>
                <a:ea typeface="Calibri" pitchFamily="34" charset="-122"/>
                <a:cs typeface="Calibri" pitchFamily="34" charset="-120"/>
              </a:rPr>
              <a:t>Custom exceptions carry CONTEXT: public string Barcode { get; } — not just a message string</a:t>
            </a:r>
            <a:endParaRPr lang="en-US" sz="1400" dirty="0"/>
          </a:p>
          <a:p>
            <a:pPr marL="342900" indent="-342900">
              <a:buSzPct val="100000"/>
              <a:buChar char="•"/>
            </a:pPr>
            <a:r>
              <a:rPr lang="en-US" sz="1400" dirty="0">
                <a:solidFill>
                  <a:srgbClr val="B8D4E8"/>
                </a:solidFill>
                <a:latin typeface="Calibri" pitchFamily="34" charset="0"/>
                <a:ea typeface="Calibri" pitchFamily="34" charset="-122"/>
                <a:cs typeface="Calibri" pitchFamily="34" charset="-120"/>
              </a:rPr>
              <a:t>throw; (no expression) preserves the original stack trace — throw ex; resets it and hides the origin</a:t>
            </a:r>
            <a:endParaRPr lang="en-US" sz="1400" dirty="0"/>
          </a:p>
          <a:p>
            <a:pPr marL="342900" indent="-342900">
              <a:buSzPct val="100000"/>
              <a:buChar char="•"/>
            </a:pPr>
            <a:r>
              <a:rPr lang="en-US" sz="1400" dirty="0">
                <a:solidFill>
                  <a:srgbClr val="B8D4E8"/>
                </a:solidFill>
                <a:latin typeface="Calibri" pitchFamily="34" charset="0"/>
                <a:ea typeface="Calibri" pitchFamily="34" charset="-122"/>
                <a:cs typeface="Calibri" pitchFamily="34" charset="-120"/>
              </a:rPr>
              <a:t>Exception filters: catch (KeyNotFoundException ex) when (ex.Message.Contains("B-001"))</a:t>
            </a:r>
            <a:endParaRPr lang="en-US" sz="1400" dirty="0"/>
          </a:p>
          <a:p>
            <a:pPr marL="342900" indent="-342900">
              <a:buSzPct val="100000"/>
              <a:buChar char="•"/>
            </a:pPr>
            <a:r>
              <a:rPr lang="en-US" sz="1400" dirty="0">
                <a:solidFill>
                  <a:srgbClr val="B8D4E8"/>
                </a:solidFill>
                <a:latin typeface="Calibri" pitchFamily="34" charset="0"/>
                <a:ea typeface="Calibri" pitchFamily="34" charset="-122"/>
                <a:cs typeface="Calibri" pitchFamily="34" charset="-120"/>
              </a:rPr>
              <a:t>finally always runs — even if an exception is thrown — use it for guaranteed cleanup</a:t>
            </a:r>
            <a:endParaRPr lang="en-US" sz="1400" dirty="0"/>
          </a:p>
          <a:p>
            <a:pPr marL="342900" indent="-342900">
              <a:buSzPct val="100000"/>
              <a:buChar char="•"/>
            </a:pPr>
            <a:r>
              <a:rPr lang="en-US" sz="1400" dirty="0">
                <a:solidFill>
                  <a:srgbClr val="B8D4E8"/>
                </a:solidFill>
                <a:latin typeface="Calibri" pitchFamily="34" charset="0"/>
                <a:ea typeface="Calibri" pitchFamily="34" charset="-122"/>
                <a:cs typeface="Calibri" pitchFamily="34" charset="-120"/>
              </a:rPr>
              <a:t>DESIGN RULE: Services throw rich exceptions; UI layers catch and display friendly messages</a:t>
            </a:r>
            <a:endParaRPr lang="en-US" sz="1400" dirty="0"/>
          </a:p>
          <a:p>
            <a:pPr marL="342900" indent="-342900">
              <a:buSzPct val="100000"/>
              <a:buChar char="•"/>
            </a:pPr>
            <a:r>
              <a:rPr lang="en-US" sz="1400" dirty="0">
                <a:solidFill>
                  <a:srgbClr val="B8D4E8"/>
                </a:solidFill>
                <a:latin typeface="Calibri" pitchFamily="34" charset="0"/>
                <a:ea typeface="Calibri" pitchFamily="34" charset="-122"/>
                <a:cs typeface="Calibri" pitchFamily="34" charset="-120"/>
              </a:rPr>
              <a:t>The same CheckoutService exception hits the console as a text message and hits the API as a 409 ProblemDetails — the service didn't change</a:t>
            </a:r>
            <a:endParaRPr lang="en-US" sz="1400" dirty="0"/>
          </a:p>
        </p:txBody>
      </p:sp>
      <p:sp>
        <p:nvSpPr>
          <p:cNvPr id="6" name="Shape 4"/>
          <p:cNvSpPr/>
          <p:nvPr/>
        </p:nvSpPr>
        <p:spPr>
          <a:xfrm>
            <a:off x="7498080" y="137160"/>
            <a:ext cx="1463040" cy="420624"/>
          </a:xfrm>
          <a:prstGeom prst="rect">
            <a:avLst/>
          </a:prstGeom>
          <a:solidFill>
            <a:srgbClr val="F59E0B"/>
          </a:solidFill>
          <a:ln w="12700">
            <a:solidFill>
              <a:srgbClr val="F59E0B"/>
            </a:solidFill>
            <a:prstDash val="solid"/>
          </a:ln>
        </p:spPr>
        <p:txBody>
          <a:bodyPr/>
          <a:lstStyle/>
          <a:p>
            <a:endParaRPr lang="en-US"/>
          </a:p>
        </p:txBody>
      </p:sp>
      <p:sp>
        <p:nvSpPr>
          <p:cNvPr id="7" name="Text 5"/>
          <p:cNvSpPr/>
          <p:nvPr/>
        </p:nvSpPr>
        <p:spPr>
          <a:xfrm>
            <a:off x="7498080" y="118872"/>
            <a:ext cx="1463040" cy="457200"/>
          </a:xfrm>
          <a:prstGeom prst="rect">
            <a:avLst/>
          </a:prstGeom>
          <a:noFill/>
          <a:ln/>
        </p:spPr>
        <p:txBody>
          <a:bodyPr wrap="square" lIns="0" tIns="0" rIns="0" bIns="0" rtlCol="0" anchor="ctr"/>
          <a:lstStyle/>
          <a:p>
            <a:pPr marL="0" indent="0" algn="ctr">
              <a:buNone/>
            </a:pPr>
            <a:r>
              <a:rPr lang="en-US" sz="1100" b="1" dirty="0">
                <a:solidFill>
                  <a:srgbClr val="0A1628"/>
                </a:solidFill>
                <a:latin typeface="Calibri" pitchFamily="34" charset="0"/>
                <a:ea typeface="Calibri" pitchFamily="34" charset="-122"/>
                <a:cs typeface="Calibri" pitchFamily="34" charset="-120"/>
              </a:rPr>
              <a:t>⏱ 10:45 – 10:52</a:t>
            </a:r>
            <a:endParaRPr lang="en-US" sz="11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57">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0D1520"/>
          </a:solidFill>
          <a:ln w="12700">
            <a:solidFill>
              <a:srgbClr val="0D1520"/>
            </a:solidFill>
            <a:prstDash val="solid"/>
          </a:ln>
        </p:spPr>
        <p:txBody>
          <a:bodyPr/>
          <a:lstStyle/>
          <a:p>
            <a:endParaRPr lang="en-US"/>
          </a:p>
        </p:txBody>
      </p:sp>
      <p:sp>
        <p:nvSpPr>
          <p:cNvPr id="3" name="Shape 1"/>
          <p:cNvSpPr/>
          <p:nvPr/>
        </p:nvSpPr>
        <p:spPr>
          <a:xfrm>
            <a:off x="0" y="621792"/>
            <a:ext cx="9144000" cy="36576"/>
          </a:xfrm>
          <a:prstGeom prst="rect">
            <a:avLst/>
          </a:prstGeom>
          <a:solidFill>
            <a:srgbClr val="EF4444"/>
          </a:solidFill>
          <a:ln w="12700">
            <a:solidFill>
              <a:srgbClr val="EF4444"/>
            </a:solidFill>
            <a:prstDash val="solid"/>
          </a:ln>
        </p:spPr>
        <p:txBody>
          <a:bodyPr/>
          <a:lstStyle/>
          <a:p>
            <a:endParaRPr lang="en-US"/>
          </a:p>
        </p:txBody>
      </p:sp>
      <p:sp>
        <p:nvSpPr>
          <p:cNvPr id="4" name="Text 2"/>
          <p:cNvSpPr/>
          <p:nvPr/>
        </p:nvSpPr>
        <p:spPr>
          <a:xfrm>
            <a:off x="320040" y="64008"/>
            <a:ext cx="8503920" cy="502920"/>
          </a:xfrm>
          <a:prstGeom prst="rect">
            <a:avLst/>
          </a:prstGeom>
          <a:noFill/>
          <a:ln/>
        </p:spPr>
        <p:txBody>
          <a:bodyPr wrap="square" lIns="0" tIns="0" rIns="0" bIns="0" rtlCol="0" anchor="ctr"/>
          <a:lstStyle/>
          <a:p>
            <a:pPr marL="0" indent="0">
              <a:buNone/>
            </a:pPr>
            <a:r>
              <a:rPr lang="en-US" sz="1700" b="1" dirty="0">
                <a:solidFill>
                  <a:srgbClr val="EF4444"/>
                </a:solidFill>
                <a:latin typeface="Calibri" pitchFamily="34" charset="0"/>
                <a:ea typeface="Calibri" pitchFamily="34" charset="-122"/>
                <a:cs typeface="Calibri" pitchFamily="34" charset="-120"/>
              </a:rPr>
              <a:t>⌨  Custom Exceptions + Service Pattern</a:t>
            </a:r>
            <a:endParaRPr lang="en-US" sz="1700" dirty="0"/>
          </a:p>
        </p:txBody>
      </p:sp>
      <p:sp>
        <p:nvSpPr>
          <p:cNvPr id="5" name="Text 3"/>
          <p:cNvSpPr/>
          <p:nvPr/>
        </p:nvSpPr>
        <p:spPr>
          <a:xfrm>
            <a:off x="274320" y="713232"/>
            <a:ext cx="8595360" cy="4343400"/>
          </a:xfrm>
          <a:prstGeom prst="rect">
            <a:avLst/>
          </a:prstGeom>
          <a:noFill/>
          <a:ln/>
        </p:spPr>
        <p:txBody>
          <a:bodyPr wrap="square" lIns="0" tIns="0" rIns="0" bIns="0" rtlCol="0" anchor="t"/>
          <a:lstStyle/>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 Rich exception carries the barcode for the UI to use</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public class ItemNotFoundException : Exception {</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    public string Barcode { get; }</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    public ItemNotFoundException(string b)</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        : base($"No item with barcode '{b}'.") =&gt; Barcode = b;</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a:t>
            </a:r>
            <a:endParaRPr lang="en-US" sz="1200" dirty="0"/>
          </a:p>
          <a:p>
            <a:pPr marL="0" indent="0">
              <a:lnSpc>
                <a:spcPct val="120000"/>
              </a:lnSpc>
              <a:buNone/>
            </a:pP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 SERVICE: throws — knows nothing about how UI will display it</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public LibraryItem Borrow(string barcode) {</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    var item = _catalog.Find(i =&gt; i.Barcode == barcode)</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               ?? throw new ItemNotFoundException(barcode);</a:t>
            </a:r>
            <a:endParaRPr lang="en-US" sz="1200" dirty="0"/>
          </a:p>
          <a:p>
            <a:pPr marL="0" indent="0">
              <a:lnSpc>
                <a:spcPct val="120000"/>
              </a:lnSpc>
              <a:buNone/>
            </a:pP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    if (!item.Checkout())</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        throw new ItemUnavailableException(item.Title, item.DueDate, "is checked out");</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    return item;</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a:t>
            </a:r>
            <a:endParaRPr lang="en-US" sz="1200" dirty="0"/>
          </a:p>
          <a:p>
            <a:pPr marL="0" indent="0">
              <a:lnSpc>
                <a:spcPct val="120000"/>
              </a:lnSpc>
              <a:buNone/>
            </a:pP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 CONSOLE UI: catches and formats as text</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try { service.Borrow(input); }</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catch (ItemNotFoundException ex) {</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    Console.WriteLine($"✗ No item found with barcode: {ex.Barcode}");</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 ASP.NET MIDDLEWARE maps the SAME exception to HTTP 404 ProblemDetails</a:t>
            </a:r>
            <a:endParaRPr lang="en-US" sz="12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58">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142952"/>
          </a:solidFill>
          <a:ln w="12700">
            <a:solidFill>
              <a:srgbClr val="142952"/>
            </a:solidFill>
            <a:prstDash val="solid"/>
          </a:ln>
        </p:spPr>
        <p:txBody>
          <a:bodyPr/>
          <a:lstStyle/>
          <a:p>
            <a:endParaRPr lang="en-US"/>
          </a:p>
        </p:txBody>
      </p:sp>
      <p:sp>
        <p:nvSpPr>
          <p:cNvPr id="3" name="Shape 1"/>
          <p:cNvSpPr/>
          <p:nvPr/>
        </p:nvSpPr>
        <p:spPr>
          <a:xfrm>
            <a:off x="0" y="713232"/>
            <a:ext cx="9144000" cy="45720"/>
          </a:xfrm>
          <a:prstGeom prst="rect">
            <a:avLst/>
          </a:prstGeom>
          <a:solidFill>
            <a:srgbClr val="00C2CB"/>
          </a:solidFill>
          <a:ln w="12700">
            <a:solidFill>
              <a:srgbClr val="00C2CB"/>
            </a:solidFill>
            <a:prstDash val="solid"/>
          </a:ln>
        </p:spPr>
        <p:txBody>
          <a:bodyPr/>
          <a:lstStyle/>
          <a:p>
            <a:endParaRPr lang="en-US"/>
          </a:p>
        </p:txBody>
      </p:sp>
      <p:sp>
        <p:nvSpPr>
          <p:cNvPr id="4" name="Text 2"/>
          <p:cNvSpPr/>
          <p:nvPr/>
        </p:nvSpPr>
        <p:spPr>
          <a:xfrm>
            <a:off x="365760" y="91440"/>
            <a:ext cx="8412480" cy="548640"/>
          </a:xfrm>
          <a:prstGeom prst="rect">
            <a:avLst/>
          </a:prstGeom>
          <a:noFill/>
          <a:ln/>
        </p:spPr>
        <p:txBody>
          <a:bodyPr wrap="square" lIns="0" tIns="0" rIns="0" bIns="0"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Reflection &amp; Custom Attributes</a:t>
            </a:r>
            <a:endParaRPr lang="en-US" sz="2100" dirty="0"/>
          </a:p>
        </p:txBody>
      </p:sp>
      <p:sp>
        <p:nvSpPr>
          <p:cNvPr id="5" name="Text 3"/>
          <p:cNvSpPr/>
          <p:nvPr/>
        </p:nvSpPr>
        <p:spPr>
          <a:xfrm>
            <a:off x="365760" y="868680"/>
            <a:ext cx="8412480" cy="4023360"/>
          </a:xfrm>
          <a:prstGeom prst="rect">
            <a:avLst/>
          </a:prstGeom>
          <a:noFill/>
          <a:ln/>
        </p:spPr>
        <p:txBody>
          <a:bodyPr wrap="square" rtlCol="0" anchor="t"/>
          <a:lstStyle/>
          <a:p>
            <a:pPr marL="342900" indent="-342900">
              <a:buSzPct val="100000"/>
              <a:buChar char="•"/>
            </a:pPr>
            <a:r>
              <a:rPr lang="en-US" sz="1400" dirty="0">
                <a:solidFill>
                  <a:srgbClr val="B8D4E8"/>
                </a:solidFill>
                <a:latin typeface="Calibri" pitchFamily="34" charset="0"/>
                <a:ea typeface="Calibri" pitchFamily="34" charset="-122"/>
                <a:cs typeface="Calibri" pitchFamily="34" charset="-120"/>
              </a:rPr>
              <a:t>Reflection: inspect types at runtime — typeof(T).GetMethods(), GetCustomAttribute&lt;&gt;()</a:t>
            </a:r>
            <a:endParaRPr lang="en-US" sz="1400" dirty="0"/>
          </a:p>
          <a:p>
            <a:pPr marL="342900" indent="-342900">
              <a:buSzPct val="100000"/>
              <a:buChar char="•"/>
            </a:pPr>
            <a:r>
              <a:rPr lang="en-US" sz="1400" dirty="0">
                <a:solidFill>
                  <a:srgbClr val="B8D4E8"/>
                </a:solidFill>
                <a:latin typeface="Calibri" pitchFamily="34" charset="0"/>
                <a:ea typeface="Calibri" pitchFamily="34" charset="-122"/>
                <a:cs typeface="Calibri" pitchFamily="34" charset="-120"/>
              </a:rPr>
              <a:t>Custom attribute: decorate any method/class with metadata — [Report("Overdue Fees", Order = 4)]</a:t>
            </a:r>
            <a:endParaRPr lang="en-US" sz="1400" dirty="0"/>
          </a:p>
          <a:p>
            <a:pPr marL="342900" indent="-342900">
              <a:buSzPct val="100000"/>
              <a:buChar char="•"/>
            </a:pPr>
            <a:r>
              <a:rPr lang="en-US" sz="1400" dirty="0">
                <a:solidFill>
                  <a:srgbClr val="B8D4E8"/>
                </a:solidFill>
                <a:latin typeface="Calibri" pitchFamily="34" charset="0"/>
                <a:ea typeface="Calibri" pitchFamily="34" charset="-122"/>
                <a:cs typeface="Calibri" pitchFamily="34" charset="-120"/>
              </a:rPr>
              <a:t>How the plugin pattern works: scan a class for decorated methods, build a menu, invoke dynamically</a:t>
            </a:r>
            <a:endParaRPr lang="en-US" sz="1400" dirty="0"/>
          </a:p>
          <a:p>
            <a:pPr marL="342900" indent="-342900">
              <a:buSzPct val="100000"/>
              <a:buChar char="•"/>
            </a:pPr>
            <a:r>
              <a:rPr lang="en-US" sz="1400" dirty="0">
                <a:solidFill>
                  <a:srgbClr val="B8D4E8"/>
                </a:solidFill>
                <a:latin typeface="Calibri" pitchFamily="34" charset="0"/>
                <a:ea typeface="Calibri" pitchFamily="34" charset="-122"/>
                <a:cs typeface="Calibri" pitchFamily="34" charset="-120"/>
              </a:rPr>
              <a:t>Real-world uses: ASP.NET routing ([HttpGet]), xUnit ([Fact]), EF Core ([Key]), JSON ([JsonIgnore])</a:t>
            </a:r>
            <a:endParaRPr lang="en-US" sz="1400" dirty="0"/>
          </a:p>
          <a:p>
            <a:pPr marL="342900" indent="-342900">
              <a:buSzPct val="100000"/>
              <a:buChar char="•"/>
            </a:pPr>
            <a:r>
              <a:rPr lang="en-US" sz="1400" dirty="0">
                <a:solidFill>
                  <a:srgbClr val="B8D4E8"/>
                </a:solidFill>
                <a:latin typeface="Calibri" pitchFamily="34" charset="0"/>
                <a:ea typeface="Calibri" pitchFamily="34" charset="-122"/>
                <a:cs typeface="Calibri" pitchFamily="34" charset="-120"/>
              </a:rPr>
              <a:t>DeweyLib: adding a new [Report] method auto-registers it in both the console menu AND the API endpoint — zero glue code</a:t>
            </a:r>
            <a:endParaRPr lang="en-US" sz="1400" dirty="0"/>
          </a:p>
          <a:p>
            <a:pPr marL="342900" indent="-342900">
              <a:buSzPct val="100000"/>
              <a:buChar char="•"/>
            </a:pPr>
            <a:r>
              <a:rPr lang="en-US" sz="1400" dirty="0">
                <a:solidFill>
                  <a:srgbClr val="B8D4E8"/>
                </a:solidFill>
                <a:latin typeface="Calibri" pitchFamily="34" charset="0"/>
                <a:ea typeface="Calibri" pitchFamily="34" charset="-122"/>
                <a:cs typeface="Calibri" pitchFamily="34" charset="-120"/>
              </a:rPr>
              <a:t>Trade-off: reflection is ~100× slower than a direct call — use source generators for hot paths</a:t>
            </a:r>
            <a:endParaRPr lang="en-US" sz="14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59">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142952"/>
          </a:solidFill>
          <a:ln w="12700">
            <a:solidFill>
              <a:srgbClr val="142952"/>
            </a:solidFill>
            <a:prstDash val="solid"/>
          </a:ln>
        </p:spPr>
        <p:txBody>
          <a:bodyPr/>
          <a:lstStyle/>
          <a:p>
            <a:endParaRPr lang="en-US"/>
          </a:p>
        </p:txBody>
      </p:sp>
      <p:sp>
        <p:nvSpPr>
          <p:cNvPr id="3" name="Shape 1"/>
          <p:cNvSpPr/>
          <p:nvPr/>
        </p:nvSpPr>
        <p:spPr>
          <a:xfrm>
            <a:off x="0" y="713232"/>
            <a:ext cx="9144000" cy="45720"/>
          </a:xfrm>
          <a:prstGeom prst="rect">
            <a:avLst/>
          </a:prstGeom>
          <a:solidFill>
            <a:srgbClr val="00C2CB"/>
          </a:solidFill>
          <a:ln w="12700">
            <a:solidFill>
              <a:srgbClr val="00C2CB"/>
            </a:solidFill>
            <a:prstDash val="solid"/>
          </a:ln>
        </p:spPr>
        <p:txBody>
          <a:bodyPr/>
          <a:lstStyle/>
          <a:p>
            <a:endParaRPr lang="en-US"/>
          </a:p>
        </p:txBody>
      </p:sp>
      <p:sp>
        <p:nvSpPr>
          <p:cNvPr id="4" name="Text 2"/>
          <p:cNvSpPr/>
          <p:nvPr/>
        </p:nvSpPr>
        <p:spPr>
          <a:xfrm>
            <a:off x="365760" y="91440"/>
            <a:ext cx="8412480" cy="548640"/>
          </a:xfrm>
          <a:prstGeom prst="rect">
            <a:avLst/>
          </a:prstGeom>
          <a:noFill/>
          <a:ln/>
        </p:spPr>
        <p:txBody>
          <a:bodyPr wrap="square" lIns="0" tIns="0" rIns="0" bIns="0"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Memory Management &amp; GC</a:t>
            </a:r>
            <a:endParaRPr lang="en-US" sz="2100" dirty="0"/>
          </a:p>
        </p:txBody>
      </p:sp>
      <p:sp>
        <p:nvSpPr>
          <p:cNvPr id="5" name="Shape 3"/>
          <p:cNvSpPr/>
          <p:nvPr/>
        </p:nvSpPr>
        <p:spPr>
          <a:xfrm>
            <a:off x="320040" y="914400"/>
            <a:ext cx="4114800" cy="1828800"/>
          </a:xfrm>
          <a:prstGeom prst="rect">
            <a:avLst/>
          </a:prstGeom>
          <a:solidFill>
            <a:srgbClr val="142952"/>
          </a:solidFill>
          <a:ln w="19050">
            <a:solidFill>
              <a:srgbClr val="00C2CB">
                <a:alpha val="45000"/>
              </a:srgbClr>
            </a:solidFill>
            <a:prstDash val="solid"/>
          </a:ln>
          <a:effectLst>
            <a:outerShdw blurRad="63500" dist="25400" dir="8100000" algn="bl" rotWithShape="0">
              <a:srgbClr val="000000">
                <a:alpha val="18000"/>
              </a:srgbClr>
            </a:outerShdw>
          </a:effectLst>
        </p:spPr>
        <p:txBody>
          <a:bodyPr/>
          <a:lstStyle/>
          <a:p>
            <a:endParaRPr lang="en-US"/>
          </a:p>
        </p:txBody>
      </p:sp>
      <p:sp>
        <p:nvSpPr>
          <p:cNvPr id="6" name="Shape 4"/>
          <p:cNvSpPr/>
          <p:nvPr/>
        </p:nvSpPr>
        <p:spPr>
          <a:xfrm>
            <a:off x="320040" y="914400"/>
            <a:ext cx="4114800" cy="36576"/>
          </a:xfrm>
          <a:prstGeom prst="rect">
            <a:avLst/>
          </a:prstGeom>
          <a:solidFill>
            <a:srgbClr val="00C2CB"/>
          </a:solidFill>
          <a:ln w="12700">
            <a:solidFill>
              <a:srgbClr val="00C2CB"/>
            </a:solidFill>
            <a:prstDash val="solid"/>
          </a:ln>
        </p:spPr>
        <p:txBody>
          <a:bodyPr/>
          <a:lstStyle/>
          <a:p>
            <a:endParaRPr lang="en-US"/>
          </a:p>
        </p:txBody>
      </p:sp>
      <p:sp>
        <p:nvSpPr>
          <p:cNvPr id="7" name="Text 5"/>
          <p:cNvSpPr/>
          <p:nvPr/>
        </p:nvSpPr>
        <p:spPr>
          <a:xfrm>
            <a:off x="429768" y="987552"/>
            <a:ext cx="3931920" cy="292608"/>
          </a:xfrm>
          <a:prstGeom prst="rect">
            <a:avLst/>
          </a:prstGeom>
          <a:noFill/>
          <a:ln/>
        </p:spPr>
        <p:txBody>
          <a:bodyPr wrap="square" lIns="0" tIns="0" rIns="0" bIns="0" rtlCol="0" anchor="ctr"/>
          <a:lstStyle/>
          <a:p>
            <a:pPr marL="0" indent="0">
              <a:buNone/>
            </a:pPr>
            <a:r>
              <a:rPr lang="en-US" sz="1200" b="1" dirty="0">
                <a:solidFill>
                  <a:srgbClr val="00C2CB"/>
                </a:solidFill>
                <a:latin typeface="Calibri" pitchFamily="34" charset="0"/>
                <a:ea typeface="Calibri" pitchFamily="34" charset="-122"/>
                <a:cs typeface="Calibri" pitchFamily="34" charset="-120"/>
              </a:rPr>
              <a:t>Heap &amp; Stack</a:t>
            </a:r>
            <a:endParaRPr lang="en-US" sz="1200" dirty="0"/>
          </a:p>
        </p:txBody>
      </p:sp>
      <p:sp>
        <p:nvSpPr>
          <p:cNvPr id="8" name="Text 6"/>
          <p:cNvSpPr/>
          <p:nvPr/>
        </p:nvSpPr>
        <p:spPr>
          <a:xfrm>
            <a:off x="429768" y="1298448"/>
            <a:ext cx="3931920" cy="1325880"/>
          </a:xfrm>
          <a:prstGeom prst="rect">
            <a:avLst/>
          </a:prstGeom>
          <a:noFill/>
          <a:ln/>
        </p:spPr>
        <p:txBody>
          <a:bodyPr wrap="square" lIns="0" tIns="0" rIns="0" bIns="0" rtlCol="0" anchor="t"/>
          <a:lstStyle/>
          <a:p>
            <a:pPr marL="0" indent="0">
              <a:buNone/>
            </a:pPr>
            <a:r>
              <a:rPr lang="en-US" sz="1100" dirty="0">
                <a:solidFill>
                  <a:srgbClr val="B8D4E8"/>
                </a:solidFill>
                <a:latin typeface="Calibri" pitchFamily="34" charset="0"/>
                <a:ea typeface="Calibri" pitchFamily="34" charset="-122"/>
                <a:cs typeface="Calibri" pitchFamily="34" charset="-120"/>
              </a:rPr>
              <a:t>Value types on the stack (fast, auto-freed). Reference types on the heap (GC managed)</a:t>
            </a:r>
            <a:endParaRPr lang="en-US" sz="1100" dirty="0"/>
          </a:p>
        </p:txBody>
      </p:sp>
      <p:sp>
        <p:nvSpPr>
          <p:cNvPr id="9" name="Shape 7"/>
          <p:cNvSpPr/>
          <p:nvPr/>
        </p:nvSpPr>
        <p:spPr>
          <a:xfrm>
            <a:off x="4572000" y="914400"/>
            <a:ext cx="4114800" cy="1828800"/>
          </a:xfrm>
          <a:prstGeom prst="rect">
            <a:avLst/>
          </a:prstGeom>
          <a:solidFill>
            <a:srgbClr val="142952"/>
          </a:solidFill>
          <a:ln w="19050">
            <a:solidFill>
              <a:srgbClr val="00C2CB">
                <a:alpha val="45000"/>
              </a:srgbClr>
            </a:solidFill>
            <a:prstDash val="solid"/>
          </a:ln>
          <a:effectLst>
            <a:outerShdw blurRad="63500" dist="25400" dir="8100000" algn="bl" rotWithShape="0">
              <a:srgbClr val="000000">
                <a:alpha val="18000"/>
              </a:srgbClr>
            </a:outerShdw>
          </a:effectLst>
        </p:spPr>
        <p:txBody>
          <a:bodyPr/>
          <a:lstStyle/>
          <a:p>
            <a:endParaRPr lang="en-US"/>
          </a:p>
        </p:txBody>
      </p:sp>
      <p:sp>
        <p:nvSpPr>
          <p:cNvPr id="10" name="Shape 8"/>
          <p:cNvSpPr/>
          <p:nvPr/>
        </p:nvSpPr>
        <p:spPr>
          <a:xfrm>
            <a:off x="4572000" y="914400"/>
            <a:ext cx="4114800" cy="36576"/>
          </a:xfrm>
          <a:prstGeom prst="rect">
            <a:avLst/>
          </a:prstGeom>
          <a:solidFill>
            <a:srgbClr val="00C2CB"/>
          </a:solidFill>
          <a:ln w="12700">
            <a:solidFill>
              <a:srgbClr val="00C2CB"/>
            </a:solidFill>
            <a:prstDash val="solid"/>
          </a:ln>
        </p:spPr>
        <p:txBody>
          <a:bodyPr/>
          <a:lstStyle/>
          <a:p>
            <a:endParaRPr lang="en-US"/>
          </a:p>
        </p:txBody>
      </p:sp>
      <p:sp>
        <p:nvSpPr>
          <p:cNvPr id="11" name="Text 9"/>
          <p:cNvSpPr/>
          <p:nvPr/>
        </p:nvSpPr>
        <p:spPr>
          <a:xfrm>
            <a:off x="4681728" y="987552"/>
            <a:ext cx="3931920" cy="292608"/>
          </a:xfrm>
          <a:prstGeom prst="rect">
            <a:avLst/>
          </a:prstGeom>
          <a:noFill/>
          <a:ln/>
        </p:spPr>
        <p:txBody>
          <a:bodyPr wrap="square" lIns="0" tIns="0" rIns="0" bIns="0" rtlCol="0" anchor="ctr"/>
          <a:lstStyle/>
          <a:p>
            <a:pPr marL="0" indent="0">
              <a:buNone/>
            </a:pPr>
            <a:r>
              <a:rPr lang="en-US" sz="1200" b="1" dirty="0">
                <a:solidFill>
                  <a:srgbClr val="00C2CB"/>
                </a:solidFill>
                <a:latin typeface="Calibri" pitchFamily="34" charset="0"/>
                <a:ea typeface="Calibri" pitchFamily="34" charset="-122"/>
                <a:cs typeface="Calibri" pitchFamily="34" charset="-120"/>
              </a:rPr>
              <a:t>GC Generations</a:t>
            </a:r>
            <a:endParaRPr lang="en-US" sz="1200" dirty="0"/>
          </a:p>
        </p:txBody>
      </p:sp>
      <p:sp>
        <p:nvSpPr>
          <p:cNvPr id="12" name="Text 10"/>
          <p:cNvSpPr/>
          <p:nvPr/>
        </p:nvSpPr>
        <p:spPr>
          <a:xfrm>
            <a:off x="4681728" y="1298448"/>
            <a:ext cx="3931920" cy="1325880"/>
          </a:xfrm>
          <a:prstGeom prst="rect">
            <a:avLst/>
          </a:prstGeom>
          <a:noFill/>
          <a:ln/>
        </p:spPr>
        <p:txBody>
          <a:bodyPr wrap="square" lIns="0" tIns="0" rIns="0" bIns="0" rtlCol="0" anchor="t"/>
          <a:lstStyle/>
          <a:p>
            <a:pPr marL="0" indent="0">
              <a:buNone/>
            </a:pPr>
            <a:r>
              <a:rPr lang="en-US" sz="1100" dirty="0">
                <a:solidFill>
                  <a:srgbClr val="B8D4E8"/>
                </a:solidFill>
                <a:latin typeface="Calibri" pitchFamily="34" charset="0"/>
                <a:ea typeface="Calibri" pitchFamily="34" charset="-122"/>
                <a:cs typeface="Calibri" pitchFamily="34" charset="-120"/>
              </a:rPr>
              <a:t>Gen 0 (nursery, collected often), Gen 1, Gen 2 (long-lived). Short-lived objects cost least</a:t>
            </a:r>
            <a:endParaRPr lang="en-US" sz="1100" dirty="0"/>
          </a:p>
        </p:txBody>
      </p:sp>
      <p:sp>
        <p:nvSpPr>
          <p:cNvPr id="13" name="Shape 11"/>
          <p:cNvSpPr/>
          <p:nvPr/>
        </p:nvSpPr>
        <p:spPr>
          <a:xfrm>
            <a:off x="320040" y="2880360"/>
            <a:ext cx="4114800" cy="1828800"/>
          </a:xfrm>
          <a:prstGeom prst="rect">
            <a:avLst/>
          </a:prstGeom>
          <a:solidFill>
            <a:srgbClr val="142952"/>
          </a:solidFill>
          <a:ln w="19050">
            <a:solidFill>
              <a:srgbClr val="F59E0B">
                <a:alpha val="45000"/>
              </a:srgbClr>
            </a:solidFill>
            <a:prstDash val="solid"/>
          </a:ln>
          <a:effectLst>
            <a:outerShdw blurRad="63500" dist="25400" dir="8100000" algn="bl" rotWithShape="0">
              <a:srgbClr val="000000">
                <a:alpha val="18000"/>
              </a:srgbClr>
            </a:outerShdw>
          </a:effectLst>
        </p:spPr>
        <p:txBody>
          <a:bodyPr/>
          <a:lstStyle/>
          <a:p>
            <a:endParaRPr lang="en-US"/>
          </a:p>
        </p:txBody>
      </p:sp>
      <p:sp>
        <p:nvSpPr>
          <p:cNvPr id="14" name="Shape 12"/>
          <p:cNvSpPr/>
          <p:nvPr/>
        </p:nvSpPr>
        <p:spPr>
          <a:xfrm>
            <a:off x="320040" y="2880360"/>
            <a:ext cx="4114800" cy="36576"/>
          </a:xfrm>
          <a:prstGeom prst="rect">
            <a:avLst/>
          </a:prstGeom>
          <a:solidFill>
            <a:srgbClr val="F59E0B"/>
          </a:solidFill>
          <a:ln w="12700">
            <a:solidFill>
              <a:srgbClr val="F59E0B"/>
            </a:solidFill>
            <a:prstDash val="solid"/>
          </a:ln>
        </p:spPr>
        <p:txBody>
          <a:bodyPr/>
          <a:lstStyle/>
          <a:p>
            <a:endParaRPr lang="en-US"/>
          </a:p>
        </p:txBody>
      </p:sp>
      <p:sp>
        <p:nvSpPr>
          <p:cNvPr id="15" name="Text 13"/>
          <p:cNvSpPr/>
          <p:nvPr/>
        </p:nvSpPr>
        <p:spPr>
          <a:xfrm>
            <a:off x="429768" y="2953512"/>
            <a:ext cx="3931920" cy="292608"/>
          </a:xfrm>
          <a:prstGeom prst="rect">
            <a:avLst/>
          </a:prstGeom>
          <a:noFill/>
          <a:ln/>
        </p:spPr>
        <p:txBody>
          <a:bodyPr wrap="square" lIns="0" tIns="0" rIns="0" bIns="0" rtlCol="0" anchor="ctr"/>
          <a:lstStyle/>
          <a:p>
            <a:pPr marL="0" indent="0">
              <a:buNone/>
            </a:pPr>
            <a:r>
              <a:rPr lang="en-US" sz="1200" b="1" dirty="0">
                <a:solidFill>
                  <a:srgbClr val="F59E0B"/>
                </a:solidFill>
                <a:latin typeface="Calibri" pitchFamily="34" charset="0"/>
                <a:ea typeface="Calibri" pitchFamily="34" charset="-122"/>
                <a:cs typeface="Calibri" pitchFamily="34" charset="-120"/>
              </a:rPr>
              <a:t>Span&lt;T&gt;</a:t>
            </a:r>
            <a:endParaRPr lang="en-US" sz="1200" dirty="0"/>
          </a:p>
        </p:txBody>
      </p:sp>
      <p:sp>
        <p:nvSpPr>
          <p:cNvPr id="16" name="Text 14"/>
          <p:cNvSpPr/>
          <p:nvPr/>
        </p:nvSpPr>
        <p:spPr>
          <a:xfrm>
            <a:off x="429768" y="3264408"/>
            <a:ext cx="3931920" cy="1325880"/>
          </a:xfrm>
          <a:prstGeom prst="rect">
            <a:avLst/>
          </a:prstGeom>
          <a:noFill/>
          <a:ln/>
        </p:spPr>
        <p:txBody>
          <a:bodyPr wrap="square" lIns="0" tIns="0" rIns="0" bIns="0" rtlCol="0" anchor="t"/>
          <a:lstStyle/>
          <a:p>
            <a:pPr marL="0" indent="0">
              <a:buNone/>
            </a:pPr>
            <a:r>
              <a:rPr lang="en-US" sz="1100" dirty="0">
                <a:solidFill>
                  <a:srgbClr val="B8D4E8"/>
                </a:solidFill>
                <a:latin typeface="Calibri" pitchFamily="34" charset="0"/>
                <a:ea typeface="Calibri" pitchFamily="34" charset="-122"/>
                <a:cs typeface="Calibri" pitchFamily="34" charset="-120"/>
              </a:rPr>
              <a:t>ReadOnlySpan&lt;char&gt; slices a string with ZERO allocation. 1M Substring() vs AsSpan() → measurable difference</a:t>
            </a:r>
            <a:endParaRPr lang="en-US" sz="1100" dirty="0"/>
          </a:p>
        </p:txBody>
      </p:sp>
      <p:sp>
        <p:nvSpPr>
          <p:cNvPr id="17" name="Shape 15"/>
          <p:cNvSpPr/>
          <p:nvPr/>
        </p:nvSpPr>
        <p:spPr>
          <a:xfrm>
            <a:off x="4572000" y="2880360"/>
            <a:ext cx="4114800" cy="1828800"/>
          </a:xfrm>
          <a:prstGeom prst="rect">
            <a:avLst/>
          </a:prstGeom>
          <a:solidFill>
            <a:srgbClr val="142952"/>
          </a:solidFill>
          <a:ln w="19050">
            <a:solidFill>
              <a:srgbClr val="10B981">
                <a:alpha val="45000"/>
              </a:srgbClr>
            </a:solidFill>
            <a:prstDash val="solid"/>
          </a:ln>
          <a:effectLst>
            <a:outerShdw blurRad="63500" dist="25400" dir="8100000" algn="bl" rotWithShape="0">
              <a:srgbClr val="000000">
                <a:alpha val="18000"/>
              </a:srgbClr>
            </a:outerShdw>
          </a:effectLst>
        </p:spPr>
        <p:txBody>
          <a:bodyPr/>
          <a:lstStyle/>
          <a:p>
            <a:endParaRPr lang="en-US"/>
          </a:p>
        </p:txBody>
      </p:sp>
      <p:sp>
        <p:nvSpPr>
          <p:cNvPr id="18" name="Shape 16"/>
          <p:cNvSpPr/>
          <p:nvPr/>
        </p:nvSpPr>
        <p:spPr>
          <a:xfrm>
            <a:off x="4572000" y="2880360"/>
            <a:ext cx="4114800" cy="36576"/>
          </a:xfrm>
          <a:prstGeom prst="rect">
            <a:avLst/>
          </a:prstGeom>
          <a:solidFill>
            <a:srgbClr val="10B981"/>
          </a:solidFill>
          <a:ln w="12700">
            <a:solidFill>
              <a:srgbClr val="10B981"/>
            </a:solidFill>
            <a:prstDash val="solid"/>
          </a:ln>
        </p:spPr>
        <p:txBody>
          <a:bodyPr/>
          <a:lstStyle/>
          <a:p>
            <a:endParaRPr lang="en-US"/>
          </a:p>
        </p:txBody>
      </p:sp>
      <p:sp>
        <p:nvSpPr>
          <p:cNvPr id="19" name="Text 17"/>
          <p:cNvSpPr/>
          <p:nvPr/>
        </p:nvSpPr>
        <p:spPr>
          <a:xfrm>
            <a:off x="4681728" y="2953512"/>
            <a:ext cx="3931920" cy="292608"/>
          </a:xfrm>
          <a:prstGeom prst="rect">
            <a:avLst/>
          </a:prstGeom>
          <a:noFill/>
          <a:ln/>
        </p:spPr>
        <p:txBody>
          <a:bodyPr wrap="square" lIns="0" tIns="0" rIns="0" bIns="0" rtlCol="0" anchor="ctr"/>
          <a:lstStyle/>
          <a:p>
            <a:pPr marL="0" indent="0">
              <a:buNone/>
            </a:pPr>
            <a:r>
              <a:rPr lang="en-US" sz="1200" b="1" dirty="0">
                <a:solidFill>
                  <a:srgbClr val="10B981"/>
                </a:solidFill>
                <a:latin typeface="Calibri" pitchFamily="34" charset="0"/>
                <a:ea typeface="Calibri" pitchFamily="34" charset="-122"/>
                <a:cs typeface="Calibri" pitchFamily="34" charset="-120"/>
              </a:rPr>
              <a:t>IDisposable + using</a:t>
            </a:r>
            <a:endParaRPr lang="en-US" sz="1200" dirty="0"/>
          </a:p>
        </p:txBody>
      </p:sp>
      <p:sp>
        <p:nvSpPr>
          <p:cNvPr id="20" name="Text 18"/>
          <p:cNvSpPr/>
          <p:nvPr/>
        </p:nvSpPr>
        <p:spPr>
          <a:xfrm>
            <a:off x="4681728" y="3264408"/>
            <a:ext cx="3931920" cy="1325880"/>
          </a:xfrm>
          <a:prstGeom prst="rect">
            <a:avLst/>
          </a:prstGeom>
          <a:noFill/>
          <a:ln/>
        </p:spPr>
        <p:txBody>
          <a:bodyPr wrap="square" lIns="0" tIns="0" rIns="0" bIns="0" rtlCol="0" anchor="t"/>
          <a:lstStyle/>
          <a:p>
            <a:pPr marL="0" indent="0">
              <a:buNone/>
            </a:pPr>
            <a:r>
              <a:rPr lang="en-US" sz="1100" dirty="0">
                <a:solidFill>
                  <a:srgbClr val="B8D4E8"/>
                </a:solidFill>
                <a:latin typeface="Calibri" pitchFamily="34" charset="0"/>
                <a:ea typeface="Calibri" pitchFamily="34" charset="-122"/>
                <a:cs typeface="Calibri" pitchFamily="34" charset="-120"/>
              </a:rPr>
              <a:t>'using var conn = ...' calls Dispose() at the closing brace — deterministic cleanup for files, DB connections, sockets</a:t>
            </a:r>
            <a:endParaRPr lang="en-US" sz="11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0">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142952"/>
          </a:solidFill>
          <a:ln w="12700">
            <a:solidFill>
              <a:srgbClr val="142952"/>
            </a:solidFill>
            <a:prstDash val="solid"/>
          </a:ln>
        </p:spPr>
        <p:txBody>
          <a:bodyPr/>
          <a:lstStyle/>
          <a:p>
            <a:endParaRPr lang="en-US"/>
          </a:p>
        </p:txBody>
      </p:sp>
      <p:sp>
        <p:nvSpPr>
          <p:cNvPr id="3" name="Shape 1"/>
          <p:cNvSpPr/>
          <p:nvPr/>
        </p:nvSpPr>
        <p:spPr>
          <a:xfrm>
            <a:off x="0" y="713232"/>
            <a:ext cx="9144000" cy="45720"/>
          </a:xfrm>
          <a:prstGeom prst="rect">
            <a:avLst/>
          </a:prstGeom>
          <a:solidFill>
            <a:srgbClr val="00C2CB"/>
          </a:solidFill>
          <a:ln w="12700">
            <a:solidFill>
              <a:srgbClr val="00C2CB"/>
            </a:solidFill>
            <a:prstDash val="solid"/>
          </a:ln>
        </p:spPr>
        <p:txBody>
          <a:bodyPr/>
          <a:lstStyle/>
          <a:p>
            <a:endParaRPr lang="en-US"/>
          </a:p>
        </p:txBody>
      </p:sp>
      <p:sp>
        <p:nvSpPr>
          <p:cNvPr id="4" name="Text 2"/>
          <p:cNvSpPr/>
          <p:nvPr/>
        </p:nvSpPr>
        <p:spPr>
          <a:xfrm>
            <a:off x="365760" y="91440"/>
            <a:ext cx="8412480" cy="548640"/>
          </a:xfrm>
          <a:prstGeom prst="rect">
            <a:avLst/>
          </a:prstGeom>
          <a:noFill/>
          <a:ln/>
        </p:spPr>
        <p:txBody>
          <a:bodyPr wrap="square" lIns="0" tIns="0" rIns="0" bIns="0"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Unsafe Code — Awareness Level</a:t>
            </a:r>
            <a:endParaRPr lang="en-US" sz="2100" dirty="0"/>
          </a:p>
        </p:txBody>
      </p:sp>
      <p:sp>
        <p:nvSpPr>
          <p:cNvPr id="5" name="Text 3"/>
          <p:cNvSpPr/>
          <p:nvPr/>
        </p:nvSpPr>
        <p:spPr>
          <a:xfrm>
            <a:off x="365760" y="868680"/>
            <a:ext cx="8412480" cy="4023360"/>
          </a:xfrm>
          <a:prstGeom prst="rect">
            <a:avLst/>
          </a:prstGeom>
          <a:noFill/>
          <a:ln/>
        </p:spPr>
        <p:txBody>
          <a:bodyPr wrap="square" rtlCol="0" anchor="t"/>
          <a:lstStyle/>
          <a:p>
            <a:pPr marL="342900" indent="-342900">
              <a:buSzPct val="100000"/>
              <a:buChar char="•"/>
            </a:pPr>
            <a:r>
              <a:rPr lang="en-US" sz="1400" dirty="0">
                <a:solidFill>
                  <a:srgbClr val="B8D4E8"/>
                </a:solidFill>
                <a:latin typeface="Calibri" pitchFamily="34" charset="0"/>
                <a:ea typeface="Calibri" pitchFamily="34" charset="-122"/>
                <a:cs typeface="Calibri" pitchFamily="34" charset="-120"/>
              </a:rPr>
              <a:t>The unsafe keyword opts in to raw pointer arithmetic — requires AllowUnsafeBlocks in the .csproj</a:t>
            </a:r>
            <a:endParaRPr lang="en-US" sz="1400" dirty="0"/>
          </a:p>
          <a:p>
            <a:pPr marL="342900" indent="-342900">
              <a:buSzPct val="100000"/>
              <a:buChar char="•"/>
            </a:pPr>
            <a:r>
              <a:rPr lang="en-US" sz="1400" dirty="0">
                <a:solidFill>
                  <a:srgbClr val="B8D4E8"/>
                </a:solidFill>
                <a:latin typeface="Calibri" pitchFamily="34" charset="0"/>
                <a:ea typeface="Calibri" pitchFamily="34" charset="-122"/>
                <a:cs typeface="Calibri" pitchFamily="34" charset="-120"/>
              </a:rPr>
              <a:t>int* ptr = &amp;value — take the address; *ptr = 99 — write through the pointer</a:t>
            </a:r>
            <a:endParaRPr lang="en-US" sz="1400" dirty="0"/>
          </a:p>
          <a:p>
            <a:pPr marL="342900" indent="-342900">
              <a:buSzPct val="100000"/>
              <a:buChar char="•"/>
            </a:pPr>
            <a:r>
              <a:rPr lang="en-US" sz="1400" dirty="0">
                <a:solidFill>
                  <a:srgbClr val="B8D4E8"/>
                </a:solidFill>
                <a:latin typeface="Calibri" pitchFamily="34" charset="0"/>
                <a:ea typeface="Calibri" pitchFamily="34" charset="-122"/>
                <a:cs typeface="Calibri" pitchFamily="34" charset="-120"/>
              </a:rPr>
              <a:t>stackalloc: allocate on the stack, no GC involvement — bridges safely to Span&lt;T&gt;</a:t>
            </a:r>
            <a:endParaRPr lang="en-US" sz="1400" dirty="0"/>
          </a:p>
          <a:p>
            <a:pPr marL="342900" indent="-342900">
              <a:buSzPct val="100000"/>
              <a:buChar char="•"/>
            </a:pPr>
            <a:r>
              <a:rPr lang="en-US" sz="1400" dirty="0">
                <a:solidFill>
                  <a:srgbClr val="B8D4E8"/>
                </a:solidFill>
                <a:latin typeface="Calibri" pitchFamily="34" charset="0"/>
                <a:ea typeface="Calibri" pitchFamily="34" charset="-122"/>
                <a:cs typeface="Calibri" pitchFamily="34" charset="-120"/>
              </a:rPr>
              <a:t>WHEN is it justified? Native library interop, hardware access, extreme performance hot paths</a:t>
            </a:r>
            <a:endParaRPr lang="en-US" sz="1400" dirty="0"/>
          </a:p>
          <a:p>
            <a:pPr marL="342900" indent="-342900">
              <a:buSzPct val="100000"/>
              <a:buChar char="•"/>
            </a:pPr>
            <a:r>
              <a:rPr lang="en-US" sz="1400" dirty="0">
                <a:solidFill>
                  <a:srgbClr val="B8D4E8"/>
                </a:solidFill>
                <a:latin typeface="Calibri" pitchFamily="34" charset="0"/>
                <a:ea typeface="Calibri" pitchFamily="34" charset="-122"/>
                <a:cs typeface="Calibri" pitchFamily="34" charset="-120"/>
              </a:rPr>
              <a:t>For 99.9% of application code: Span&lt;T&gt;, ArrayPool&lt;T&gt;, and Memory&lt;T&gt; give the performance without unsafe</a:t>
            </a:r>
            <a:endParaRPr lang="en-US" sz="1400" dirty="0"/>
          </a:p>
          <a:p>
            <a:pPr marL="342900" indent="-342900">
              <a:buSzPct val="100000"/>
              <a:buChar char="•"/>
            </a:pPr>
            <a:r>
              <a:rPr lang="en-US" sz="1400" dirty="0">
                <a:solidFill>
                  <a:srgbClr val="B8D4E8"/>
                </a:solidFill>
                <a:latin typeface="Calibri" pitchFamily="34" charset="0"/>
                <a:ea typeface="Calibri" pitchFamily="34" charset="-122"/>
                <a:cs typeface="Calibri" pitchFamily="34" charset="-120"/>
              </a:rPr>
              <a:t>You will almost certainly never write it — but you will read it in libraries like System.Text.Json and ASP.NET Core</a:t>
            </a:r>
            <a:endParaRPr lang="en-US" sz="14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713232"/>
          </a:xfrm>
          <a:prstGeom prst="rect">
            <a:avLst/>
          </a:prstGeom>
          <a:solidFill>
            <a:srgbClr val="1429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13232"/>
            <a:ext cx="9144000" cy="457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91440"/>
            <a:ext cx="8412480" cy="548640"/>
          </a:xfrm>
          <a:prstGeom prst="rect">
            <a:avLst/>
          </a:prstGeom>
          <a:noFill/>
        </p:spPr>
        <p:txBody>
          <a:bodyPr wrap="square">
            <a:spAutoFit/>
          </a:bodyPr>
          <a:lstStyle/>
          <a:p>
            <a:r>
              <a:rPr sz="2100" b="1">
                <a:solidFill>
                  <a:srgbClr val="FFFFFF"/>
                </a:solidFill>
                <a:latin typeface="Calibri"/>
              </a:rPr>
              <a:t>Before Web APIs: A Real-World Problem</a:t>
            </a:r>
          </a:p>
        </p:txBody>
      </p:sp>
      <p:sp>
        <p:nvSpPr>
          <p:cNvPr id="5" name="TextBox 4"/>
          <p:cNvSpPr txBox="1"/>
          <p:nvPr/>
        </p:nvSpPr>
        <p:spPr>
          <a:xfrm>
            <a:off x="365760" y="868680"/>
            <a:ext cx="8412480" cy="4023360"/>
          </a:xfrm>
          <a:prstGeom prst="rect">
            <a:avLst/>
          </a:prstGeom>
          <a:noFill/>
        </p:spPr>
        <p:txBody>
          <a:bodyPr wrap="square">
            <a:spAutoFit/>
          </a:bodyPr>
          <a:lstStyle/>
          <a:p>
            <a:pPr>
              <a:spcAft>
                <a:spcPts val="1000"/>
              </a:spcAft>
            </a:pPr>
            <a:r>
              <a:rPr sz="1500">
                <a:solidFill>
                  <a:srgbClr val="B8D4E8"/>
                </a:solidFill>
                <a:latin typeface="Calibri"/>
              </a:rPr>
              <a:t>•  Think about a restaurant again, but this time think about the MENU itself as a contract between you and the kitchen. You don't walk into the kitchen and cook your own food — you tell the waiter what you want from the menu, and the kitchen sends back a finished plate.</a:t>
            </a:r>
          </a:p>
          <a:p>
            <a:pPr>
              <a:spcAft>
                <a:spcPts val="1000"/>
              </a:spcAft>
            </a:pPr>
            <a:r>
              <a:rPr sz="1500">
                <a:solidFill>
                  <a:srgbClr val="B8D4E8"/>
                </a:solidFill>
                <a:latin typeface="Calibri"/>
              </a:rPr>
              <a:t>•  A Web API works the same way. Other programs — a mobile app, a website, another company's server — don't reach directly into your code. They ask for something specific ("give me the list of books") and your API sends back an answer, the same way a kitchen sends back a plate.</a:t>
            </a:r>
          </a:p>
          <a:p>
            <a:pPr>
              <a:spcAft>
                <a:spcPts val="1000"/>
              </a:spcAft>
            </a:pPr>
            <a:r>
              <a:rPr sz="1500">
                <a:solidFill>
                  <a:srgbClr val="B8D4E8"/>
                </a:solidFill>
                <a:latin typeface="Calibri"/>
              </a:rPr>
              <a:t>•  Everything we've built these two days — the Book class, the checkout rules, the LINQ reports — already exists. A Web API doesn't replace any of that. It just adds a 'waiter' on top: a way for OTHER programs to ask for it over the internet, using a web address instead of a method call.</a:t>
            </a:r>
          </a:p>
          <a:p>
            <a:pPr>
              <a:spcAft>
                <a:spcPts val="1000"/>
              </a:spcAft>
            </a:pPr>
            <a:r>
              <a:rPr sz="1500">
                <a:solidFill>
                  <a:srgbClr val="B8D4E8"/>
                </a:solidFill>
                <a:latin typeface="Calibri"/>
              </a:rPr>
              <a:t>•  The vocabulary will feel new (endpoint, HTTP, middleware) — but the underlying idea is simple: take code you already wrote, and let other programs order from it like a menu.</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61">
    <p:bg>
      <p:bgPr>
        <a:solidFill>
          <a:srgbClr val="0F2040"/>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0C2CB"/>
          </a:solidFill>
          <a:ln w="12700">
            <a:solidFill>
              <a:srgbClr val="00C2CB"/>
            </a:solidFill>
            <a:prstDash val="solid"/>
          </a:ln>
        </p:spPr>
        <p:txBody>
          <a:bodyPr/>
          <a:lstStyle/>
          <a:p>
            <a:endParaRPr lang="en-US"/>
          </a:p>
        </p:txBody>
      </p:sp>
      <p:sp>
        <p:nvSpPr>
          <p:cNvPr id="3" name="Text 1"/>
          <p:cNvSpPr/>
          <p:nvPr/>
        </p:nvSpPr>
        <p:spPr>
          <a:xfrm>
            <a:off x="457200" y="73152"/>
            <a:ext cx="2743200" cy="411480"/>
          </a:xfrm>
          <a:prstGeom prst="rect">
            <a:avLst/>
          </a:prstGeom>
          <a:noFill/>
          <a:ln/>
        </p:spPr>
        <p:txBody>
          <a:bodyPr wrap="square" lIns="0" tIns="0" rIns="0" bIns="0" rtlCol="0" anchor="ctr"/>
          <a:lstStyle/>
          <a:p>
            <a:pPr marL="0" indent="0">
              <a:buNone/>
            </a:pPr>
            <a:r>
              <a:rPr lang="en-US" sz="1300" b="1" dirty="0">
                <a:solidFill>
                  <a:srgbClr val="0A1628"/>
                </a:solidFill>
                <a:latin typeface="Calibri" pitchFamily="34" charset="0"/>
                <a:ea typeface="Calibri" pitchFamily="34" charset="-122"/>
                <a:cs typeface="Calibri" pitchFamily="34" charset="-120"/>
              </a:rPr>
              <a:t>SECTION 9</a:t>
            </a:r>
            <a:endParaRPr lang="en-US" sz="1300" dirty="0"/>
          </a:p>
        </p:txBody>
      </p:sp>
      <p:sp>
        <p:nvSpPr>
          <p:cNvPr id="4" name="Text 2"/>
          <p:cNvSpPr/>
          <p:nvPr/>
        </p:nvSpPr>
        <p:spPr>
          <a:xfrm>
            <a:off x="6858000" y="73152"/>
            <a:ext cx="1828800" cy="411480"/>
          </a:xfrm>
          <a:prstGeom prst="rect">
            <a:avLst/>
          </a:prstGeom>
          <a:noFill/>
          <a:ln/>
        </p:spPr>
        <p:txBody>
          <a:bodyPr wrap="square" lIns="0" tIns="0" rIns="0" bIns="0" rtlCol="0" anchor="ctr"/>
          <a:lstStyle/>
          <a:p>
            <a:pPr marL="0" indent="0" algn="r">
              <a:buNone/>
            </a:pPr>
            <a:r>
              <a:rPr lang="en-US" sz="1200" dirty="0">
                <a:solidFill>
                  <a:srgbClr val="0A1628"/>
                </a:solidFill>
                <a:latin typeface="Calibri" pitchFamily="34" charset="0"/>
                <a:ea typeface="Calibri" pitchFamily="34" charset="-122"/>
                <a:cs typeface="Calibri" pitchFamily="34" charset="-120"/>
              </a:rPr>
              <a:t>11:10 – 11:30  (20 min)</a:t>
            </a:r>
            <a:endParaRPr lang="en-US" sz="1200" dirty="0"/>
          </a:p>
        </p:txBody>
      </p:sp>
      <p:sp>
        <p:nvSpPr>
          <p:cNvPr id="5" name="Text 3"/>
          <p:cNvSpPr/>
          <p:nvPr/>
        </p:nvSpPr>
        <p:spPr>
          <a:xfrm>
            <a:off x="457200" y="502920"/>
            <a:ext cx="8229600" cy="502920"/>
          </a:xfrm>
          <a:prstGeom prst="rect">
            <a:avLst/>
          </a:prstGeom>
          <a:noFill/>
          <a:ln/>
        </p:spPr>
        <p:txBody>
          <a:bodyPr wrap="square" lIns="0" tIns="0" rIns="0" bIns="0" rtlCol="0" anchor="ctr"/>
          <a:lstStyle/>
          <a:p>
            <a:pPr marL="0" indent="0">
              <a:buNone/>
            </a:pPr>
            <a:r>
              <a:rPr lang="en-US" sz="2400" b="1" dirty="0">
                <a:solidFill>
                  <a:srgbClr val="0A1628"/>
                </a:solidFill>
                <a:latin typeface="Calibri" pitchFamily="34" charset="0"/>
                <a:ea typeface="Calibri" pitchFamily="34" charset="-122"/>
                <a:cs typeface="Calibri" pitchFamily="34" charset="-120"/>
              </a:rPr>
              <a:t>ASP.NET Core Web API</a:t>
            </a:r>
            <a:endParaRPr lang="en-US" sz="2400" dirty="0"/>
          </a:p>
        </p:txBody>
      </p:sp>
      <p:sp>
        <p:nvSpPr>
          <p:cNvPr id="6" name="Text 4"/>
          <p:cNvSpPr/>
          <p:nvPr/>
        </p:nvSpPr>
        <p:spPr>
          <a:xfrm>
            <a:off x="457200" y="1234440"/>
            <a:ext cx="8229600" cy="3657600"/>
          </a:xfrm>
          <a:prstGeom prst="rect">
            <a:avLst/>
          </a:prstGeom>
          <a:noFill/>
          <a:ln/>
        </p:spPr>
        <p:txBody>
          <a:bodyPr wrap="square" rtlCol="0" anchor="t"/>
          <a:lstStyle/>
          <a:p>
            <a:pPr marL="342900" indent="-342900">
              <a:buSzPct val="100000"/>
              <a:buChar char="•"/>
            </a:pPr>
            <a:r>
              <a:rPr lang="en-US" sz="1400" dirty="0">
                <a:solidFill>
                  <a:srgbClr val="B8D4E8"/>
                </a:solidFill>
                <a:latin typeface="Calibri" pitchFamily="34" charset="0"/>
                <a:ea typeface="Calibri" pitchFamily="34" charset="-122"/>
                <a:cs typeface="Calibri" pitchFamily="34" charset="-120"/>
              </a:rPr>
              <a:t>Console applications — from Program.cs to top-level statements</a:t>
            </a:r>
            <a:endParaRPr lang="en-US" sz="1400" dirty="0"/>
          </a:p>
          <a:p>
            <a:pPr marL="342900" indent="-342900">
              <a:buSzPct val="100000"/>
              <a:buChar char="•"/>
            </a:pPr>
            <a:r>
              <a:rPr lang="en-US" sz="1400" dirty="0">
                <a:solidFill>
                  <a:srgbClr val="B8D4E8"/>
                </a:solidFill>
                <a:latin typeface="Calibri" pitchFamily="34" charset="0"/>
                <a:ea typeface="Calibri" pitchFamily="34" charset="-122"/>
                <a:cs typeface="Calibri" pitchFamily="34" charset="-120"/>
              </a:rPr>
              <a:t>ASP.NET Core architecture — middleware, DI, routing</a:t>
            </a:r>
            <a:endParaRPr lang="en-US" sz="1400" dirty="0"/>
          </a:p>
          <a:p>
            <a:pPr marL="342900" indent="-342900">
              <a:buSzPct val="100000"/>
              <a:buChar char="•"/>
            </a:pPr>
            <a:r>
              <a:rPr lang="en-US" sz="1400" dirty="0">
                <a:solidFill>
                  <a:srgbClr val="B8D4E8"/>
                </a:solidFill>
                <a:latin typeface="Calibri" pitchFamily="34" charset="0"/>
                <a:ea typeface="Calibri" pitchFamily="34" charset="-122"/>
                <a:cs typeface="Calibri" pitchFamily="34" charset="-120"/>
              </a:rPr>
              <a:t>Minimal API pattern — endpoints in a single file</a:t>
            </a:r>
            <a:endParaRPr lang="en-US" sz="1400" dirty="0"/>
          </a:p>
          <a:p>
            <a:pPr marL="342900" indent="-342900">
              <a:buSzPct val="100000"/>
              <a:buChar char="•"/>
            </a:pPr>
            <a:r>
              <a:rPr lang="en-US" sz="1400" dirty="0">
                <a:solidFill>
                  <a:srgbClr val="B8D4E8"/>
                </a:solidFill>
                <a:latin typeface="Calibri" pitchFamily="34" charset="0"/>
                <a:ea typeface="Calibri" pitchFamily="34" charset="-122"/>
                <a:cs typeface="Calibri" pitchFamily="34" charset="-120"/>
              </a:rPr>
              <a:t>Dependency Injection — services registered once, injected everywhere</a:t>
            </a:r>
            <a:endParaRPr lang="en-US" sz="1400" dirty="0"/>
          </a:p>
          <a:p>
            <a:pPr marL="342900" indent="-342900">
              <a:buSzPct val="100000"/>
              <a:buChar char="•"/>
            </a:pPr>
            <a:r>
              <a:rPr lang="en-US" sz="1400" dirty="0">
                <a:solidFill>
                  <a:srgbClr val="B8D4E8"/>
                </a:solidFill>
                <a:latin typeface="Calibri" pitchFamily="34" charset="0"/>
                <a:ea typeface="Calibri" pitchFamily="34" charset="-122"/>
                <a:cs typeface="Calibri" pitchFamily="34" charset="-120"/>
              </a:rPr>
              <a:t>Exception middleware — mapping domain exceptions to HTTP status codes</a:t>
            </a:r>
            <a:endParaRPr lang="en-US" sz="1400" dirty="0"/>
          </a:p>
          <a:p>
            <a:pPr marL="342900" indent="-342900">
              <a:buSzPct val="100000"/>
              <a:buChar char="•"/>
            </a:pPr>
            <a:r>
              <a:rPr lang="en-US" sz="1400" dirty="0">
                <a:solidFill>
                  <a:srgbClr val="B8D4E8"/>
                </a:solidFill>
                <a:latin typeface="Calibri" pitchFamily="34" charset="0"/>
                <a:ea typeface="Calibri" pitchFamily="34" charset="-122"/>
                <a:cs typeface="Calibri" pitchFamily="34" charset="-120"/>
              </a:rPr>
              <a:t>Lab 6: Wire DeweyLib as a REST API with Swagger UI</a:t>
            </a:r>
            <a:endParaRPr lang="en-US" sz="14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62">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142952"/>
          </a:solidFill>
          <a:ln w="12700">
            <a:solidFill>
              <a:srgbClr val="142952"/>
            </a:solidFill>
            <a:prstDash val="solid"/>
          </a:ln>
        </p:spPr>
        <p:txBody>
          <a:bodyPr/>
          <a:lstStyle/>
          <a:p>
            <a:endParaRPr lang="en-US"/>
          </a:p>
        </p:txBody>
      </p:sp>
      <p:sp>
        <p:nvSpPr>
          <p:cNvPr id="3" name="Shape 1"/>
          <p:cNvSpPr/>
          <p:nvPr/>
        </p:nvSpPr>
        <p:spPr>
          <a:xfrm>
            <a:off x="0" y="713232"/>
            <a:ext cx="9144000" cy="45720"/>
          </a:xfrm>
          <a:prstGeom prst="rect">
            <a:avLst/>
          </a:prstGeom>
          <a:solidFill>
            <a:srgbClr val="00C2CB"/>
          </a:solidFill>
          <a:ln w="12700">
            <a:solidFill>
              <a:srgbClr val="00C2CB"/>
            </a:solidFill>
            <a:prstDash val="solid"/>
          </a:ln>
        </p:spPr>
        <p:txBody>
          <a:bodyPr/>
          <a:lstStyle/>
          <a:p>
            <a:endParaRPr lang="en-US"/>
          </a:p>
        </p:txBody>
      </p:sp>
      <p:sp>
        <p:nvSpPr>
          <p:cNvPr id="4" name="Text 2"/>
          <p:cNvSpPr/>
          <p:nvPr/>
        </p:nvSpPr>
        <p:spPr>
          <a:xfrm>
            <a:off x="365760" y="91440"/>
            <a:ext cx="8412480" cy="548640"/>
          </a:xfrm>
          <a:prstGeom prst="rect">
            <a:avLst/>
          </a:prstGeom>
          <a:noFill/>
          <a:ln/>
        </p:spPr>
        <p:txBody>
          <a:bodyPr wrap="square" lIns="0" tIns="0" rIns="0" bIns="0"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Console Applications — What You've Built All Class</a:t>
            </a:r>
            <a:endParaRPr lang="en-US" sz="2100" dirty="0"/>
          </a:p>
        </p:txBody>
      </p:sp>
      <p:sp>
        <p:nvSpPr>
          <p:cNvPr id="5" name="Text 3"/>
          <p:cNvSpPr/>
          <p:nvPr/>
        </p:nvSpPr>
        <p:spPr>
          <a:xfrm>
            <a:off x="365760" y="868680"/>
            <a:ext cx="8412480" cy="4023360"/>
          </a:xfrm>
          <a:prstGeom prst="rect">
            <a:avLst/>
          </a:prstGeom>
          <a:noFill/>
          <a:ln/>
        </p:spPr>
        <p:txBody>
          <a:bodyPr wrap="square" rtlCol="0" anchor="t"/>
          <a:lstStyle/>
          <a:p>
            <a:pPr marL="342900" indent="-342900">
              <a:buSzPct val="100000"/>
              <a:buChar char="•"/>
            </a:pPr>
            <a:r>
              <a:rPr lang="en-US" sz="1400" dirty="0">
                <a:solidFill>
                  <a:srgbClr val="B8D4E8"/>
                </a:solidFill>
                <a:latin typeface="Calibri" pitchFamily="34" charset="0"/>
                <a:ea typeface="Calibri" pitchFamily="34" charset="-122"/>
                <a:cs typeface="Calibri" pitchFamily="34" charset="-120"/>
              </a:rPr>
              <a:t>Top-level statements (C# 9+): no Main(), no class — the file IS your entry point</a:t>
            </a:r>
            <a:endParaRPr lang="en-US" sz="1400" dirty="0"/>
          </a:p>
          <a:p>
            <a:pPr marL="342900" indent="-342900">
              <a:buSzPct val="100000"/>
              <a:buChar char="•"/>
            </a:pPr>
            <a:r>
              <a:rPr lang="en-US" sz="1400" dirty="0">
                <a:solidFill>
                  <a:srgbClr val="B8D4E8"/>
                </a:solidFill>
                <a:latin typeface="Calibri" pitchFamily="34" charset="0"/>
                <a:ea typeface="Calibri" pitchFamily="34" charset="-122"/>
                <a:cs typeface="Calibri" pitchFamily="34" charset="-120"/>
              </a:rPr>
              <a:t>Build: dotnet build — compiles to bin/Debug/net10.0/MyApp.dll</a:t>
            </a:r>
            <a:endParaRPr lang="en-US" sz="1400" dirty="0"/>
          </a:p>
          <a:p>
            <a:pPr marL="342900" indent="-342900">
              <a:buSzPct val="100000"/>
              <a:buChar char="•"/>
            </a:pPr>
            <a:r>
              <a:rPr lang="en-US" sz="1400" dirty="0">
                <a:solidFill>
                  <a:srgbClr val="B8D4E8"/>
                </a:solidFill>
                <a:latin typeface="Calibri" pitchFamily="34" charset="0"/>
                <a:ea typeface="Calibri" pitchFamily="34" charset="-122"/>
                <a:cs typeface="Calibri" pitchFamily="34" charset="-120"/>
              </a:rPr>
              <a:t>Run: dotnet run — builds + runs; dotnet watch run — rebuilds on every save</a:t>
            </a:r>
            <a:endParaRPr lang="en-US" sz="1400" dirty="0"/>
          </a:p>
          <a:p>
            <a:pPr marL="342900" indent="-342900">
              <a:buSzPct val="100000"/>
              <a:buChar char="•"/>
            </a:pPr>
            <a:r>
              <a:rPr lang="en-US" sz="1400" dirty="0">
                <a:solidFill>
                  <a:srgbClr val="B8D4E8"/>
                </a:solidFill>
                <a:latin typeface="Calibri" pitchFamily="34" charset="0"/>
                <a:ea typeface="Calibri" pitchFamily="34" charset="-122"/>
                <a:cs typeface="Calibri" pitchFamily="34" charset="-120"/>
              </a:rPr>
              <a:t>Publish: dotnet publish -c Release — self-contained or framework-dependent deployment</a:t>
            </a:r>
            <a:endParaRPr lang="en-US" sz="1400" dirty="0"/>
          </a:p>
          <a:p>
            <a:pPr marL="342900" indent="-342900">
              <a:buSzPct val="100000"/>
              <a:buChar char="•"/>
            </a:pPr>
            <a:r>
              <a:rPr lang="en-US" sz="1400" dirty="0">
                <a:solidFill>
                  <a:srgbClr val="B8D4E8"/>
                </a:solidFill>
                <a:latin typeface="Calibri" pitchFamily="34" charset="0"/>
                <a:ea typeface="Calibri" pitchFamily="34" charset="-122"/>
                <a:cs typeface="Calibri" pitchFamily="34" charset="-120"/>
              </a:rPr>
              <a:t>Console apps are the building block — every demo file and lab is one</a:t>
            </a:r>
            <a:endParaRPr lang="en-US" sz="1400" dirty="0"/>
          </a:p>
          <a:p>
            <a:pPr marL="342900" indent="-342900">
              <a:buSzPct val="100000"/>
              <a:buChar char="•"/>
            </a:pPr>
            <a:r>
              <a:rPr lang="en-US" sz="1400" dirty="0">
                <a:solidFill>
                  <a:srgbClr val="B8D4E8"/>
                </a:solidFill>
                <a:latin typeface="Calibri" pitchFamily="34" charset="0"/>
                <a:ea typeface="Calibri" pitchFamily="34" charset="-122"/>
                <a:cs typeface="Calibri" pitchFamily="34" charset="-120"/>
              </a:rPr>
              <a:t>Your DeweyLib domain (Core library) was built as a console app — it moves to the API unchanged</a:t>
            </a:r>
            <a:endParaRPr lang="en-US" sz="14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63">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142952"/>
          </a:solidFill>
          <a:ln w="12700">
            <a:solidFill>
              <a:srgbClr val="142952"/>
            </a:solidFill>
            <a:prstDash val="solid"/>
          </a:ln>
        </p:spPr>
        <p:txBody>
          <a:bodyPr/>
          <a:lstStyle/>
          <a:p>
            <a:endParaRPr lang="en-US"/>
          </a:p>
        </p:txBody>
      </p:sp>
      <p:sp>
        <p:nvSpPr>
          <p:cNvPr id="3" name="Shape 1"/>
          <p:cNvSpPr/>
          <p:nvPr/>
        </p:nvSpPr>
        <p:spPr>
          <a:xfrm>
            <a:off x="0" y="713232"/>
            <a:ext cx="9144000" cy="45720"/>
          </a:xfrm>
          <a:prstGeom prst="rect">
            <a:avLst/>
          </a:prstGeom>
          <a:solidFill>
            <a:srgbClr val="00C2CB"/>
          </a:solidFill>
          <a:ln w="12700">
            <a:solidFill>
              <a:srgbClr val="00C2CB"/>
            </a:solidFill>
            <a:prstDash val="solid"/>
          </a:ln>
        </p:spPr>
        <p:txBody>
          <a:bodyPr/>
          <a:lstStyle/>
          <a:p>
            <a:endParaRPr lang="en-US"/>
          </a:p>
        </p:txBody>
      </p:sp>
      <p:sp>
        <p:nvSpPr>
          <p:cNvPr id="4" name="Text 2"/>
          <p:cNvSpPr/>
          <p:nvPr/>
        </p:nvSpPr>
        <p:spPr>
          <a:xfrm>
            <a:off x="365760" y="91440"/>
            <a:ext cx="8412480" cy="548640"/>
          </a:xfrm>
          <a:prstGeom prst="rect">
            <a:avLst/>
          </a:prstGeom>
          <a:noFill/>
          <a:ln/>
        </p:spPr>
        <p:txBody>
          <a:bodyPr wrap="square" lIns="0" tIns="0" rIns="0" bIns="0"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ASP.NET Core Architecture</a:t>
            </a:r>
            <a:endParaRPr lang="en-US" sz="2100" dirty="0"/>
          </a:p>
        </p:txBody>
      </p:sp>
      <p:sp>
        <p:nvSpPr>
          <p:cNvPr id="5" name="Text 3"/>
          <p:cNvSpPr/>
          <p:nvPr/>
        </p:nvSpPr>
        <p:spPr>
          <a:xfrm>
            <a:off x="365760" y="868680"/>
            <a:ext cx="8412480" cy="4023360"/>
          </a:xfrm>
          <a:prstGeom prst="rect">
            <a:avLst/>
          </a:prstGeom>
          <a:noFill/>
          <a:ln/>
        </p:spPr>
        <p:txBody>
          <a:bodyPr wrap="square" rtlCol="0" anchor="t"/>
          <a:lstStyle/>
          <a:p>
            <a:pPr marL="342900" indent="-342900">
              <a:buSzPct val="100000"/>
              <a:buChar char="•"/>
            </a:pPr>
            <a:r>
              <a:rPr lang="en-US" sz="1400" dirty="0">
                <a:solidFill>
                  <a:srgbClr val="B8D4E8"/>
                </a:solidFill>
                <a:latin typeface="Calibri" pitchFamily="34" charset="0"/>
                <a:ea typeface="Calibri" pitchFamily="34" charset="-122"/>
                <a:cs typeface="Calibri" pitchFamily="34" charset="-120"/>
              </a:rPr>
              <a:t>Pipeline: incoming HTTP → Middleware chain → Endpoint → Response</a:t>
            </a:r>
            <a:endParaRPr lang="en-US" sz="1400" dirty="0"/>
          </a:p>
          <a:p>
            <a:pPr marL="342900" indent="-342900">
              <a:buSzPct val="100000"/>
              <a:buChar char="•"/>
            </a:pPr>
            <a:r>
              <a:rPr lang="en-US" sz="1400" dirty="0">
                <a:solidFill>
                  <a:srgbClr val="B8D4E8"/>
                </a:solidFill>
                <a:latin typeface="Calibri" pitchFamily="34" charset="0"/>
                <a:ea typeface="Calibri" pitchFamily="34" charset="-122"/>
                <a:cs typeface="Calibri" pitchFamily="34" charset="-120"/>
              </a:rPr>
              <a:t>Middleware: UseExceptionHandler → UseRouting → UseAuth → UseEndpoints — each piece pluggable</a:t>
            </a:r>
            <a:endParaRPr lang="en-US" sz="1400" dirty="0"/>
          </a:p>
          <a:p>
            <a:pPr marL="342900" indent="-342900">
              <a:buSzPct val="100000"/>
              <a:buChar char="•"/>
            </a:pPr>
            <a:r>
              <a:rPr lang="en-US" sz="1400" dirty="0">
                <a:solidFill>
                  <a:srgbClr val="B8D4E8"/>
                </a:solidFill>
                <a:latin typeface="Calibri" pitchFamily="34" charset="0"/>
                <a:ea typeface="Calibri" pitchFamily="34" charset="-122"/>
                <a:cs typeface="Calibri" pitchFamily="34" charset="-120"/>
              </a:rPr>
              <a:t>Dependency Injection (DI): services registered in builder.Services, injected via constructor or parameters</a:t>
            </a:r>
            <a:endParaRPr lang="en-US" sz="1400" dirty="0"/>
          </a:p>
          <a:p>
            <a:pPr marL="342900" indent="-342900">
              <a:buSzPct val="100000"/>
              <a:buChar char="•"/>
            </a:pPr>
            <a:r>
              <a:rPr lang="en-US" sz="1400" dirty="0">
                <a:solidFill>
                  <a:srgbClr val="B8D4E8"/>
                </a:solidFill>
                <a:latin typeface="Calibri" pitchFamily="34" charset="0"/>
                <a:ea typeface="Calibri" pitchFamily="34" charset="-122"/>
                <a:cs typeface="Calibri" pitchFamily="34" charset="-120"/>
              </a:rPr>
              <a:t>Minimal API: app.MapGet("/api/items", (IRepository&lt;LibraryItem&gt; repo) =&gt; ...) — one line per endpoint</a:t>
            </a:r>
            <a:endParaRPr lang="en-US" sz="1400" dirty="0"/>
          </a:p>
          <a:p>
            <a:pPr marL="342900" indent="-342900">
              <a:buSzPct val="100000"/>
              <a:buChar char="•"/>
            </a:pPr>
            <a:r>
              <a:rPr lang="en-US" sz="1400" dirty="0">
                <a:solidFill>
                  <a:srgbClr val="B8D4E8"/>
                </a:solidFill>
                <a:latin typeface="Calibri" pitchFamily="34" charset="0"/>
                <a:ea typeface="Calibri" pitchFamily="34" charset="-122"/>
                <a:cs typeface="Calibri" pitchFamily="34" charset="-120"/>
              </a:rPr>
              <a:t>No controller classes needed for simple APIs — though controllers are available for larger codebases</a:t>
            </a:r>
            <a:endParaRPr lang="en-US" sz="1400" dirty="0"/>
          </a:p>
          <a:p>
            <a:pPr marL="342900" indent="-342900">
              <a:buSzPct val="100000"/>
              <a:buChar char="•"/>
            </a:pPr>
            <a:r>
              <a:rPr lang="en-US" sz="1400" dirty="0">
                <a:solidFill>
                  <a:srgbClr val="B8D4E8"/>
                </a:solidFill>
                <a:latin typeface="Calibri" pitchFamily="34" charset="0"/>
                <a:ea typeface="Calibri" pitchFamily="34" charset="-122"/>
                <a:cs typeface="Calibri" pitchFamily="34" charset="-120"/>
              </a:rPr>
              <a:t>Swagger (OpenAPI): auto-generated interactive docs — test every endpoint in the browser</a:t>
            </a:r>
            <a:endParaRPr lang="en-US" sz="14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64">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0D1520"/>
          </a:solidFill>
          <a:ln w="12700">
            <a:solidFill>
              <a:srgbClr val="0D1520"/>
            </a:solidFill>
            <a:prstDash val="solid"/>
          </a:ln>
        </p:spPr>
        <p:txBody>
          <a:bodyPr/>
          <a:lstStyle/>
          <a:p>
            <a:endParaRPr lang="en-US"/>
          </a:p>
        </p:txBody>
      </p:sp>
      <p:sp>
        <p:nvSpPr>
          <p:cNvPr id="3" name="Shape 1"/>
          <p:cNvSpPr/>
          <p:nvPr/>
        </p:nvSpPr>
        <p:spPr>
          <a:xfrm>
            <a:off x="0" y="621792"/>
            <a:ext cx="9144000" cy="36576"/>
          </a:xfrm>
          <a:prstGeom prst="rect">
            <a:avLst/>
          </a:prstGeom>
          <a:solidFill>
            <a:srgbClr val="10B981"/>
          </a:solidFill>
          <a:ln w="12700">
            <a:solidFill>
              <a:srgbClr val="10B981"/>
            </a:solidFill>
            <a:prstDash val="solid"/>
          </a:ln>
        </p:spPr>
        <p:txBody>
          <a:bodyPr/>
          <a:lstStyle/>
          <a:p>
            <a:endParaRPr lang="en-US"/>
          </a:p>
        </p:txBody>
      </p:sp>
      <p:sp>
        <p:nvSpPr>
          <p:cNvPr id="4" name="Text 2"/>
          <p:cNvSpPr/>
          <p:nvPr/>
        </p:nvSpPr>
        <p:spPr>
          <a:xfrm>
            <a:off x="320040" y="64008"/>
            <a:ext cx="8503920" cy="502920"/>
          </a:xfrm>
          <a:prstGeom prst="rect">
            <a:avLst/>
          </a:prstGeom>
          <a:noFill/>
          <a:ln/>
        </p:spPr>
        <p:txBody>
          <a:bodyPr wrap="square" lIns="0" tIns="0" rIns="0" bIns="0" rtlCol="0" anchor="ctr"/>
          <a:lstStyle/>
          <a:p>
            <a:pPr marL="0" indent="0">
              <a:buNone/>
            </a:pPr>
            <a:r>
              <a:rPr lang="en-US" sz="1700" b="1" dirty="0">
                <a:solidFill>
                  <a:srgbClr val="10B981"/>
                </a:solidFill>
                <a:latin typeface="Calibri" pitchFamily="34" charset="0"/>
                <a:ea typeface="Calibri" pitchFamily="34" charset="-122"/>
                <a:cs typeface="Calibri" pitchFamily="34" charset="-120"/>
              </a:rPr>
              <a:t>⌨  Minimal API — Program.cs Structure</a:t>
            </a:r>
            <a:endParaRPr lang="en-US" sz="1700" dirty="0"/>
          </a:p>
        </p:txBody>
      </p:sp>
      <p:sp>
        <p:nvSpPr>
          <p:cNvPr id="5" name="Text 3"/>
          <p:cNvSpPr/>
          <p:nvPr/>
        </p:nvSpPr>
        <p:spPr>
          <a:xfrm>
            <a:off x="274320" y="713232"/>
            <a:ext cx="8595360" cy="4343400"/>
          </a:xfrm>
          <a:prstGeom prst="rect">
            <a:avLst/>
          </a:prstGeom>
          <a:noFill/>
          <a:ln/>
        </p:spPr>
        <p:txBody>
          <a:bodyPr wrap="square" lIns="0" tIns="0" rIns="0" bIns="0" rtlCol="0" anchor="t"/>
          <a:lstStyle/>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var builder = WebApplication.CreateBuilder(args);</a:t>
            </a:r>
            <a:endParaRPr lang="en-US" sz="1200" dirty="0"/>
          </a:p>
          <a:p>
            <a:pPr marL="0" indent="0">
              <a:lnSpc>
                <a:spcPct val="120000"/>
              </a:lnSpc>
              <a:buNone/>
            </a:pP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 Register your DeweyLib.Core services</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builder.Services.AddSingleton&lt;IRepository&lt;LibraryItem&gt;&gt;(sp =&gt; SeedCatalog());</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builder.Services.AddSingleton&lt;CheckoutService&gt;();</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builder.Services.AddExceptionHandler&lt;LibraryExceptionHandler&gt;();</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builder.Services.AddSwaggerGen();</a:t>
            </a:r>
            <a:endParaRPr lang="en-US" sz="1200" dirty="0"/>
          </a:p>
          <a:p>
            <a:pPr marL="0" indent="0">
              <a:lnSpc>
                <a:spcPct val="120000"/>
              </a:lnSpc>
              <a:buNone/>
            </a:pP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var app = builder.Build();</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app.UseExceptionHandler();</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app.UseSwagger();</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app.UseSwaggerUI();</a:t>
            </a:r>
            <a:endParaRPr lang="en-US" sz="1200" dirty="0"/>
          </a:p>
          <a:p>
            <a:pPr marL="0" indent="0">
              <a:lnSpc>
                <a:spcPct val="120000"/>
              </a:lnSpc>
              <a:buNone/>
            </a:pP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 Endpoints — each is one line</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var items = app.MapGroup("/api/items");</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items.MapGet("/",          (IRepository&lt;LibraryItem&gt; r) =&gt; r.GetAll().Select(ToDto));</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items.MapGet("/{barcode}", (string b, IRepository&lt;LibraryItem&gt; r) =&gt;</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    r.Find(i =&gt; i.Barcode == b) is { } item ? Results.Ok(ToDto(item)) : Results.NotFound());</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items.MapPost("/{barcode}/checkout", (string b, CheckoutService svc) =&gt;</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    Results.Ok(ToDto(svc.Borrow(b))));   // throws → middleware maps to 404/409</a:t>
            </a:r>
            <a:endParaRPr lang="en-US" sz="1200" dirty="0"/>
          </a:p>
          <a:p>
            <a:pPr marL="0" indent="0">
              <a:lnSpc>
                <a:spcPct val="120000"/>
              </a:lnSpc>
              <a:buNone/>
            </a:pP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app.Run();</a:t>
            </a:r>
            <a:endParaRPr lang="en-US" sz="12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65">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0D1520"/>
          </a:solidFill>
          <a:ln w="12700">
            <a:solidFill>
              <a:srgbClr val="0D1520"/>
            </a:solidFill>
            <a:prstDash val="solid"/>
          </a:ln>
        </p:spPr>
        <p:txBody>
          <a:bodyPr/>
          <a:lstStyle/>
          <a:p>
            <a:endParaRPr lang="en-US"/>
          </a:p>
        </p:txBody>
      </p:sp>
      <p:sp>
        <p:nvSpPr>
          <p:cNvPr id="3" name="Shape 1"/>
          <p:cNvSpPr/>
          <p:nvPr/>
        </p:nvSpPr>
        <p:spPr>
          <a:xfrm>
            <a:off x="0" y="621792"/>
            <a:ext cx="9144000" cy="36576"/>
          </a:xfrm>
          <a:prstGeom prst="rect">
            <a:avLst/>
          </a:prstGeom>
          <a:solidFill>
            <a:srgbClr val="EF4444"/>
          </a:solidFill>
          <a:ln w="12700">
            <a:solidFill>
              <a:srgbClr val="EF4444"/>
            </a:solidFill>
            <a:prstDash val="solid"/>
          </a:ln>
        </p:spPr>
        <p:txBody>
          <a:bodyPr/>
          <a:lstStyle/>
          <a:p>
            <a:endParaRPr lang="en-US"/>
          </a:p>
        </p:txBody>
      </p:sp>
      <p:sp>
        <p:nvSpPr>
          <p:cNvPr id="4" name="Text 2"/>
          <p:cNvSpPr/>
          <p:nvPr/>
        </p:nvSpPr>
        <p:spPr>
          <a:xfrm>
            <a:off x="320040" y="64008"/>
            <a:ext cx="8503920" cy="502920"/>
          </a:xfrm>
          <a:prstGeom prst="rect">
            <a:avLst/>
          </a:prstGeom>
          <a:noFill/>
          <a:ln/>
        </p:spPr>
        <p:txBody>
          <a:bodyPr wrap="square" lIns="0" tIns="0" rIns="0" bIns="0" rtlCol="0" anchor="ctr"/>
          <a:lstStyle/>
          <a:p>
            <a:pPr marL="0" indent="0">
              <a:buNone/>
            </a:pPr>
            <a:r>
              <a:rPr lang="en-US" sz="1700" b="1" dirty="0">
                <a:solidFill>
                  <a:srgbClr val="EF4444"/>
                </a:solidFill>
                <a:latin typeface="Calibri" pitchFamily="34" charset="0"/>
                <a:ea typeface="Calibri" pitchFamily="34" charset="-122"/>
                <a:cs typeface="Calibri" pitchFamily="34" charset="-120"/>
              </a:rPr>
              <a:t>⌨  Exception Middleware — Domain Errors → HTTP</a:t>
            </a:r>
            <a:endParaRPr lang="en-US" sz="1700" dirty="0"/>
          </a:p>
        </p:txBody>
      </p:sp>
      <p:sp>
        <p:nvSpPr>
          <p:cNvPr id="5" name="Text 3"/>
          <p:cNvSpPr/>
          <p:nvPr/>
        </p:nvSpPr>
        <p:spPr>
          <a:xfrm>
            <a:off x="274320" y="713232"/>
            <a:ext cx="8595360" cy="3566160"/>
          </a:xfrm>
          <a:prstGeom prst="rect">
            <a:avLst/>
          </a:prstGeom>
          <a:noFill/>
          <a:ln/>
        </p:spPr>
        <p:txBody>
          <a:bodyPr wrap="square" lIns="0" tIns="0" rIns="0" bIns="0" rtlCol="0" anchor="t"/>
          <a:lstStyle/>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 Map your domain exceptions to HTTP status codes in ONE place</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public class LibraryExceptionHandler : IExceptionHandler {</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    public async ValueTask&lt;bool&gt; TryHandleAsync(</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        HttpContext ctx, Exception ex, CancellationToken ct) {</a:t>
            </a:r>
            <a:endParaRPr lang="en-US" sz="1200" dirty="0"/>
          </a:p>
          <a:p>
            <a:pPr marL="0" indent="0">
              <a:lnSpc>
                <a:spcPct val="120000"/>
              </a:lnSpc>
              <a:buNone/>
            </a:pP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        var (status, title) = ex switch {</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            ItemNotFoundException    =&gt; (404, "Item Not Found"),</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            ItemUnavailableException =&gt; (409, "Item Unavailable"),</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            ArgumentException        =&gt; (400, "Invalid Request"),</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            _                        =&gt; (500, "Internal Server Error"),</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        };</a:t>
            </a:r>
            <a:endParaRPr lang="en-US" sz="1200" dirty="0"/>
          </a:p>
          <a:p>
            <a:pPr marL="0" indent="0">
              <a:lnSpc>
                <a:spcPct val="120000"/>
              </a:lnSpc>
              <a:buNone/>
            </a:pP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        ctx.Response.StatusCode = status;</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        await ctx.Response.WriteAsJsonAsync(new ProblemDetails {</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            Status = status, Title = title, Detail = ex.Message</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        }, ct);</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        return true;</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    }</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 The service threw ItemNotFoundException → middleware returns HTTP 404</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 The service threw ItemUnavailableException → middleware returns HTTP 409</a:t>
            </a:r>
            <a:endParaRPr lang="en-US" sz="1200" dirty="0"/>
          </a:p>
          <a:p>
            <a:pPr marL="0" indent="0">
              <a:lnSpc>
                <a:spcPct val="120000"/>
              </a:lnSpc>
              <a:buNone/>
            </a:pPr>
            <a:r>
              <a:rPr lang="en-US" sz="1200" dirty="0">
                <a:solidFill>
                  <a:srgbClr val="A8D8F0"/>
                </a:solidFill>
                <a:latin typeface="Courier New" pitchFamily="34" charset="0"/>
                <a:ea typeface="Courier New" pitchFamily="34" charset="-122"/>
                <a:cs typeface="Courier New" pitchFamily="34" charset="-120"/>
              </a:rPr>
              <a:t>// Neither the service NOR the endpoints handle HTTP — the middleware does</a:t>
            </a:r>
            <a:endParaRPr lang="en-US" sz="12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66">
    <p:bg>
      <p:bgPr>
        <a:solidFill>
          <a:srgbClr val="0F2040"/>
        </a:solidFill>
        <a:effectLst/>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1A3A60"/>
          </a:solidFill>
          <a:ln w="12700">
            <a:solidFill>
              <a:srgbClr val="1A3A60"/>
            </a:solidFill>
            <a:prstDash val="solid"/>
          </a:ln>
        </p:spPr>
        <p:txBody>
          <a:bodyPr/>
          <a:lstStyle/>
          <a:p>
            <a:endParaRPr lang="en-US"/>
          </a:p>
        </p:txBody>
      </p:sp>
      <p:sp>
        <p:nvSpPr>
          <p:cNvPr id="3" name="Shape 1"/>
          <p:cNvSpPr/>
          <p:nvPr/>
        </p:nvSpPr>
        <p:spPr>
          <a:xfrm>
            <a:off x="0" y="713232"/>
            <a:ext cx="9144000" cy="45720"/>
          </a:xfrm>
          <a:prstGeom prst="rect">
            <a:avLst/>
          </a:prstGeom>
          <a:solidFill>
            <a:srgbClr val="F59E0B"/>
          </a:solidFill>
          <a:ln w="12700">
            <a:solidFill>
              <a:srgbClr val="F59E0B"/>
            </a:solidFill>
            <a:prstDash val="solid"/>
          </a:ln>
        </p:spPr>
        <p:txBody>
          <a:bodyPr/>
          <a:lstStyle/>
          <a:p>
            <a:endParaRPr lang="en-US"/>
          </a:p>
        </p:txBody>
      </p:sp>
      <p:sp>
        <p:nvSpPr>
          <p:cNvPr id="4" name="Text 2"/>
          <p:cNvSpPr/>
          <p:nvPr/>
        </p:nvSpPr>
        <p:spPr>
          <a:xfrm>
            <a:off x="365760" y="91440"/>
            <a:ext cx="6858000" cy="530352"/>
          </a:xfrm>
          <a:prstGeom prst="rect">
            <a:avLst/>
          </a:prstGeom>
          <a:noFill/>
          <a:ln/>
        </p:spPr>
        <p:txBody>
          <a:bodyPr wrap="square" lIns="0" tIns="0" rIns="0" bIns="0" rtlCol="0" anchor="ctr"/>
          <a:lstStyle/>
          <a:p>
            <a:pPr marL="0" indent="0">
              <a:buNone/>
            </a:pPr>
            <a:r>
              <a:rPr lang="en-US" sz="1900" b="1" dirty="0">
                <a:solidFill>
                  <a:srgbClr val="F59E0B"/>
                </a:solidFill>
                <a:latin typeface="Calibri" pitchFamily="34" charset="0"/>
                <a:ea typeface="Calibri" pitchFamily="34" charset="-122"/>
                <a:cs typeface="Calibri" pitchFamily="34" charset="-120"/>
              </a:rPr>
              <a:t>🧪  LAB 6  ·  DeweyLib Web API — Capstone</a:t>
            </a:r>
            <a:endParaRPr lang="en-US" sz="1900" dirty="0"/>
          </a:p>
        </p:txBody>
      </p:sp>
      <p:sp>
        <p:nvSpPr>
          <p:cNvPr id="5" name="Text 3"/>
          <p:cNvSpPr/>
          <p:nvPr/>
        </p:nvSpPr>
        <p:spPr>
          <a:xfrm>
            <a:off x="7315200" y="164592"/>
            <a:ext cx="1645920" cy="365760"/>
          </a:xfrm>
          <a:prstGeom prst="rect">
            <a:avLst/>
          </a:prstGeom>
          <a:noFill/>
          <a:ln/>
        </p:spPr>
        <p:txBody>
          <a:bodyPr wrap="square" lIns="0" tIns="0" rIns="0" bIns="0" rtlCol="0" anchor="ctr"/>
          <a:lstStyle/>
          <a:p>
            <a:pPr marL="0" indent="0" algn="r">
              <a:buNone/>
            </a:pPr>
            <a:r>
              <a:rPr lang="en-US" sz="1300" dirty="0">
                <a:solidFill>
                  <a:srgbClr val="B8D4E8"/>
                </a:solidFill>
                <a:latin typeface="Calibri" pitchFamily="34" charset="0"/>
                <a:ea typeface="Calibri" pitchFamily="34" charset="-122"/>
                <a:cs typeface="Calibri" pitchFamily="34" charset="-120"/>
              </a:rPr>
              <a:t>⏱ 20 min  ·  live-build</a:t>
            </a:r>
            <a:endParaRPr lang="en-US" sz="1300" dirty="0"/>
          </a:p>
        </p:txBody>
      </p:sp>
      <p:sp>
        <p:nvSpPr>
          <p:cNvPr id="6" name="Text 4"/>
          <p:cNvSpPr/>
          <p:nvPr/>
        </p:nvSpPr>
        <p:spPr>
          <a:xfrm>
            <a:off x="365760" y="841248"/>
            <a:ext cx="4114800" cy="329184"/>
          </a:xfrm>
          <a:prstGeom prst="rect">
            <a:avLst/>
          </a:prstGeom>
          <a:noFill/>
          <a:ln/>
        </p:spPr>
        <p:txBody>
          <a:bodyPr wrap="square" lIns="0" tIns="0" rIns="0" bIns="0" rtlCol="0" anchor="ctr"/>
          <a:lstStyle/>
          <a:p>
            <a:pPr marL="0" indent="0">
              <a:buNone/>
            </a:pPr>
            <a:r>
              <a:rPr lang="en-US" sz="1300" b="1" dirty="0">
                <a:solidFill>
                  <a:srgbClr val="F59E0B"/>
                </a:solidFill>
                <a:latin typeface="Calibri" pitchFamily="34" charset="0"/>
                <a:ea typeface="Calibri" pitchFamily="34" charset="-122"/>
                <a:cs typeface="Calibri" pitchFamily="34" charset="-120"/>
              </a:rPr>
              <a:t>You will:</a:t>
            </a:r>
            <a:endParaRPr lang="en-US" sz="1300" dirty="0"/>
          </a:p>
        </p:txBody>
      </p:sp>
      <p:sp>
        <p:nvSpPr>
          <p:cNvPr id="7" name="Text 5"/>
          <p:cNvSpPr/>
          <p:nvPr/>
        </p:nvSpPr>
        <p:spPr>
          <a:xfrm>
            <a:off x="365760" y="1188720"/>
            <a:ext cx="4114800" cy="2560320"/>
          </a:xfrm>
          <a:prstGeom prst="rect">
            <a:avLst/>
          </a:prstGeom>
          <a:noFill/>
          <a:ln/>
        </p:spPr>
        <p:txBody>
          <a:bodyPr wrap="square" rtlCol="0" anchor="t"/>
          <a:lstStyle/>
          <a:p>
            <a:pPr marL="342900" indent="-342900">
              <a:buSzPct val="100000"/>
              <a:buChar char="•"/>
            </a:pPr>
            <a:r>
              <a:rPr lang="en-US" sz="1300" dirty="0">
                <a:solidFill>
                  <a:srgbClr val="B8D4E8"/>
                </a:solidFill>
                <a:latin typeface="Calibri" pitchFamily="34" charset="0"/>
                <a:ea typeface="Calibri" pitchFamily="34" charset="-122"/>
                <a:cs typeface="Calibri" pitchFamily="34" charset="-120"/>
              </a:rPr>
              <a:t>Watch a working REST API stood up live, in your own project</a:t>
            </a:r>
            <a:endParaRPr lang="en-US" sz="1300" dirty="0"/>
          </a:p>
          <a:p>
            <a:pPr marL="342900" indent="-342900">
              <a:buSzPct val="100000"/>
              <a:buChar char="•"/>
            </a:pPr>
            <a:r>
              <a:rPr lang="en-US" sz="1300" dirty="0">
                <a:solidFill>
                  <a:srgbClr val="B8D4E8"/>
                </a:solidFill>
                <a:latin typeface="Calibri" pitchFamily="34" charset="0"/>
                <a:ea typeface="Calibri" pitchFamily="34" charset="-122"/>
                <a:cs typeface="Calibri" pitchFamily="34" charset="-120"/>
              </a:rPr>
              <a:t>See how dependency injection wires Core services to endpoints</a:t>
            </a:r>
            <a:endParaRPr lang="en-US" sz="1300" dirty="0"/>
          </a:p>
          <a:p>
            <a:pPr marL="342900" indent="-342900">
              <a:buSzPct val="100000"/>
              <a:buChar char="•"/>
            </a:pPr>
            <a:r>
              <a:rPr lang="en-US" sz="1300" dirty="0">
                <a:solidFill>
                  <a:srgbClr val="B8D4E8"/>
                </a:solidFill>
                <a:latin typeface="Calibri" pitchFamily="34" charset="0"/>
                <a:ea typeface="Calibri" pitchFamily="34" charset="-122"/>
                <a:cs typeface="Calibri" pitchFamily="34" charset="-120"/>
              </a:rPr>
              <a:t>Type along on 2 endpoints — GET items and POST checkout</a:t>
            </a:r>
            <a:endParaRPr lang="en-US" sz="1300" dirty="0"/>
          </a:p>
          <a:p>
            <a:pPr marL="342900" indent="-342900">
              <a:buSzPct val="100000"/>
              <a:buChar char="•"/>
            </a:pPr>
            <a:r>
              <a:rPr lang="en-US" sz="1300" dirty="0">
                <a:solidFill>
                  <a:srgbClr val="B8D4E8"/>
                </a:solidFill>
                <a:latin typeface="Calibri" pitchFamily="34" charset="0"/>
                <a:ea typeface="Calibri" pitchFamily="34" charset="-122"/>
                <a:cs typeface="Calibri" pitchFamily="34" charset="-120"/>
              </a:rPr>
              <a:t>Watch a double-checkout return 409 in Swagger</a:t>
            </a:r>
            <a:endParaRPr lang="en-US" sz="1300" dirty="0"/>
          </a:p>
        </p:txBody>
      </p:sp>
      <p:sp>
        <p:nvSpPr>
          <p:cNvPr id="8" name="Shape 6"/>
          <p:cNvSpPr/>
          <p:nvPr/>
        </p:nvSpPr>
        <p:spPr>
          <a:xfrm>
            <a:off x="4617720" y="841248"/>
            <a:ext cx="18288" cy="3200400"/>
          </a:xfrm>
          <a:prstGeom prst="rect">
            <a:avLst/>
          </a:prstGeom>
          <a:solidFill>
            <a:srgbClr val="F59E0B">
              <a:alpha val="30000"/>
            </a:srgbClr>
          </a:solidFill>
          <a:ln w="12700">
            <a:solidFill>
              <a:srgbClr val="F59E0B">
                <a:alpha val="30000"/>
              </a:srgbClr>
            </a:solidFill>
            <a:prstDash val="solid"/>
          </a:ln>
        </p:spPr>
        <p:txBody>
          <a:bodyPr/>
          <a:lstStyle/>
          <a:p>
            <a:endParaRPr lang="en-US"/>
          </a:p>
        </p:txBody>
      </p:sp>
      <p:sp>
        <p:nvSpPr>
          <p:cNvPr id="9" name="Text 7"/>
          <p:cNvSpPr/>
          <p:nvPr/>
        </p:nvSpPr>
        <p:spPr>
          <a:xfrm>
            <a:off x="4754880" y="841248"/>
            <a:ext cx="4114800" cy="329184"/>
          </a:xfrm>
          <a:prstGeom prst="rect">
            <a:avLst/>
          </a:prstGeom>
          <a:noFill/>
          <a:ln/>
        </p:spPr>
        <p:txBody>
          <a:bodyPr wrap="square" lIns="0" tIns="0" rIns="0" bIns="0" rtlCol="0" anchor="ctr"/>
          <a:lstStyle/>
          <a:p>
            <a:pPr marL="0" indent="0">
              <a:buNone/>
            </a:pPr>
            <a:r>
              <a:rPr lang="en-US" sz="1300" b="1" dirty="0">
                <a:solidFill>
                  <a:srgbClr val="F59E0B"/>
                </a:solidFill>
                <a:latin typeface="Calibri" pitchFamily="34" charset="0"/>
                <a:ea typeface="Calibri" pitchFamily="34" charset="-122"/>
                <a:cs typeface="Calibri" pitchFamily="34" charset="-120"/>
              </a:rPr>
              <a:t>Steps:</a:t>
            </a:r>
            <a:endParaRPr lang="en-US" sz="1300" dirty="0"/>
          </a:p>
        </p:txBody>
      </p:sp>
      <p:sp>
        <p:nvSpPr>
          <p:cNvPr id="10" name="Text 8"/>
          <p:cNvSpPr/>
          <p:nvPr/>
        </p:nvSpPr>
        <p:spPr>
          <a:xfrm>
            <a:off x="4754880" y="1188720"/>
            <a:ext cx="4114800" cy="2560320"/>
          </a:xfrm>
          <a:prstGeom prst="rect">
            <a:avLst/>
          </a:prstGeom>
          <a:noFill/>
          <a:ln/>
        </p:spPr>
        <p:txBody>
          <a:bodyPr wrap="square" rtlCol="0" anchor="t"/>
          <a:lstStyle/>
          <a:p>
            <a:pPr marL="342900" indent="-342900">
              <a:buSzPct val="100000"/>
              <a:buChar char="•"/>
            </a:pPr>
            <a:r>
              <a:rPr lang="en-US" sz="1300" dirty="0">
                <a:solidFill>
                  <a:srgbClr val="B8D4E8"/>
                </a:solidFill>
                <a:latin typeface="Calibri" pitchFamily="34" charset="0"/>
                <a:ea typeface="Calibri" pitchFamily="34" charset="-122"/>
                <a:cs typeface="Calibri" pitchFamily="34" charset="-120"/>
              </a:rPr>
              <a:t>Instructor types: dotnet new webapi -n DeweyLib.Api --use-minimal-apis</a:t>
            </a:r>
            <a:endParaRPr lang="en-US" sz="1300" dirty="0"/>
          </a:p>
          <a:p>
            <a:pPr marL="342900" indent="-342900">
              <a:buSzPct val="100000"/>
              <a:buChar char="•"/>
            </a:pPr>
            <a:r>
              <a:rPr lang="en-US" sz="1300" dirty="0">
                <a:solidFill>
                  <a:srgbClr val="B8D4E8"/>
                </a:solidFill>
                <a:latin typeface="Calibri" pitchFamily="34" charset="0"/>
                <a:ea typeface="Calibri" pitchFamily="34" charset="-122"/>
                <a:cs typeface="Calibri" pitchFamily="34" charset="-120"/>
              </a:rPr>
              <a:t>Reference DeweyLib.Core, register IRepository + CheckoutService</a:t>
            </a:r>
            <a:endParaRPr lang="en-US" sz="1300" dirty="0"/>
          </a:p>
          <a:p>
            <a:pPr marL="342900" indent="-342900">
              <a:buSzPct val="100000"/>
              <a:buChar char="•"/>
            </a:pPr>
            <a:r>
              <a:rPr lang="en-US" sz="1300" dirty="0">
                <a:solidFill>
                  <a:srgbClr val="B8D4E8"/>
                </a:solidFill>
                <a:latin typeface="Calibri" pitchFamily="34" charset="0"/>
                <a:ea typeface="Calibri" pitchFamily="34" charset="-122"/>
                <a:cs typeface="Calibri" pitchFamily="34" charset="-120"/>
              </a:rPr>
              <a:t>Type along: MapGet /api/items, MapPost /checkout</a:t>
            </a:r>
            <a:endParaRPr lang="en-US" sz="1300" dirty="0"/>
          </a:p>
          <a:p>
            <a:pPr marL="342900" indent="-342900">
              <a:buSzPct val="100000"/>
              <a:buChar char="•"/>
            </a:pPr>
            <a:r>
              <a:rPr lang="en-US" sz="1300" dirty="0">
                <a:solidFill>
                  <a:srgbClr val="B8D4E8"/>
                </a:solidFill>
                <a:latin typeface="Calibri" pitchFamily="34" charset="0"/>
                <a:ea typeface="Calibri" pitchFamily="34" charset="-122"/>
                <a:cs typeface="Calibri" pitchFamily="34" charset="-120"/>
              </a:rPr>
              <a:t>Add LibraryExceptionHandler — test 404 and 409 live in Swagger</a:t>
            </a:r>
            <a:endParaRPr lang="en-US" sz="1300" dirty="0"/>
          </a:p>
          <a:p>
            <a:pPr marL="342900" indent="-342900">
              <a:buSzPct val="100000"/>
              <a:buChar char="•"/>
            </a:pPr>
            <a:r>
              <a:rPr lang="en-US" sz="1300" dirty="0">
                <a:solidFill>
                  <a:srgbClr val="B8D4E8"/>
                </a:solidFill>
                <a:latin typeface="Calibri" pitchFamily="34" charset="0"/>
                <a:ea typeface="Calibri" pitchFamily="34" charset="-122"/>
                <a:cs typeface="Calibri" pitchFamily="34" charset="-120"/>
              </a:rPr>
              <a:t>Remaining endpoints + stretch goals are pre-built — yours to explore after</a:t>
            </a:r>
            <a:endParaRPr lang="en-US" sz="1300" dirty="0"/>
          </a:p>
          <a:p>
            <a:pPr marL="342900" indent="-342900">
              <a:buSzPct val="100000"/>
              <a:buChar char="•"/>
            </a:pPr>
            <a:r>
              <a:rPr lang="en-US" sz="1300" dirty="0">
                <a:solidFill>
                  <a:srgbClr val="B8D4E8"/>
                </a:solidFill>
                <a:latin typeface="Calibri" pitchFamily="34" charset="0"/>
                <a:ea typeface="Calibri" pitchFamily="34" charset="-122"/>
                <a:cs typeface="Calibri" pitchFamily="34" charset="-120"/>
              </a:rPr>
              <a:t>🏆 Full independent build (all 7 endpoints + stretch) is in Lab_Advanced_DeweyLib.cs</a:t>
            </a:r>
            <a:endParaRPr lang="en-US" sz="13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67">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F2040"/>
          </a:solidFill>
          <a:ln w="12700">
            <a:solidFill>
              <a:srgbClr val="0F2040"/>
            </a:solidFill>
            <a:prstDash val="solid"/>
          </a:ln>
        </p:spPr>
        <p:txBody>
          <a:bodyPr/>
          <a:lstStyle/>
          <a:p>
            <a:endParaRPr lang="en-US"/>
          </a:p>
        </p:txBody>
      </p:sp>
      <p:sp>
        <p:nvSpPr>
          <p:cNvPr id="3" name="Shape 1"/>
          <p:cNvSpPr/>
          <p:nvPr/>
        </p:nvSpPr>
        <p:spPr>
          <a:xfrm>
            <a:off x="0" y="0"/>
            <a:ext cx="9144000" cy="73152"/>
          </a:xfrm>
          <a:prstGeom prst="rect">
            <a:avLst/>
          </a:prstGeom>
          <a:solidFill>
            <a:srgbClr val="00C2CB"/>
          </a:solidFill>
          <a:ln w="12700">
            <a:solidFill>
              <a:srgbClr val="00C2CB"/>
            </a:solidFill>
            <a:prstDash val="solid"/>
          </a:ln>
        </p:spPr>
        <p:txBody>
          <a:bodyPr/>
          <a:lstStyle/>
          <a:p>
            <a:endParaRPr lang="en-US"/>
          </a:p>
        </p:txBody>
      </p:sp>
      <p:sp>
        <p:nvSpPr>
          <p:cNvPr id="4" name="Shape 2"/>
          <p:cNvSpPr/>
          <p:nvPr/>
        </p:nvSpPr>
        <p:spPr>
          <a:xfrm>
            <a:off x="0" y="5070348"/>
            <a:ext cx="9144000" cy="73152"/>
          </a:xfrm>
          <a:prstGeom prst="rect">
            <a:avLst/>
          </a:prstGeom>
          <a:solidFill>
            <a:srgbClr val="00C2CB"/>
          </a:solidFill>
          <a:ln w="12700">
            <a:solidFill>
              <a:srgbClr val="00C2CB"/>
            </a:solidFill>
            <a:prstDash val="solid"/>
          </a:ln>
        </p:spPr>
        <p:txBody>
          <a:bodyPr/>
          <a:lstStyle/>
          <a:p>
            <a:endParaRPr lang="en-US"/>
          </a:p>
        </p:txBody>
      </p:sp>
      <p:sp>
        <p:nvSpPr>
          <p:cNvPr id="5" name="Text 3"/>
          <p:cNvSpPr/>
          <p:nvPr/>
        </p:nvSpPr>
        <p:spPr>
          <a:xfrm>
            <a:off x="457200" y="182880"/>
            <a:ext cx="8229600" cy="502920"/>
          </a:xfrm>
          <a:prstGeom prst="rect">
            <a:avLst/>
          </a:prstGeom>
          <a:noFill/>
          <a:ln/>
        </p:spPr>
        <p:txBody>
          <a:bodyPr wrap="square" lIns="0" tIns="0" rIns="0" bIns="0" rtlCol="0" anchor="ctr"/>
          <a:lstStyle/>
          <a:p>
            <a:pPr marL="0" indent="0">
              <a:buNone/>
            </a:pPr>
            <a:r>
              <a:rPr lang="en-US" sz="2200" b="1" dirty="0">
                <a:solidFill>
                  <a:srgbClr val="00C2CB"/>
                </a:solidFill>
                <a:latin typeface="Calibri" pitchFamily="34" charset="0"/>
                <a:ea typeface="Calibri" pitchFamily="34" charset="-122"/>
                <a:cs typeface="Calibri" pitchFamily="34" charset="-120"/>
              </a:rPr>
              <a:t>What You Built Over 2 Days</a:t>
            </a:r>
            <a:endParaRPr lang="en-US" sz="2200" dirty="0"/>
          </a:p>
        </p:txBody>
      </p:sp>
      <p:sp>
        <p:nvSpPr>
          <p:cNvPr id="6" name="Text 4"/>
          <p:cNvSpPr/>
          <p:nvPr/>
        </p:nvSpPr>
        <p:spPr>
          <a:xfrm>
            <a:off x="457200" y="777240"/>
            <a:ext cx="8229600" cy="3291840"/>
          </a:xfrm>
          <a:prstGeom prst="rect">
            <a:avLst/>
          </a:prstGeom>
          <a:noFill/>
          <a:ln/>
        </p:spPr>
        <p:txBody>
          <a:bodyPr wrap="square" rtlCol="0" anchor="t"/>
          <a:lstStyle/>
          <a:p>
            <a:pPr marL="0" indent="0">
              <a:spcBef>
                <a:spcPts val="300"/>
              </a:spcBef>
              <a:buNone/>
            </a:pPr>
            <a:r>
              <a:rPr lang="en-US" sz="1500" b="1" dirty="0">
                <a:solidFill>
                  <a:srgbClr val="FFFFFF"/>
                </a:solidFill>
                <a:latin typeface="Calibri" pitchFamily="34" charset="0"/>
                <a:ea typeface="Calibri" pitchFamily="34" charset="-122"/>
                <a:cs typeface="Calibri" pitchFamily="34" charset="-120"/>
              </a:rPr>
              <a:t>A fully-layered C# application — console interface + REST API — sharing the same domain library</a:t>
            </a:r>
            <a:endParaRPr lang="en-US" sz="1500" dirty="0"/>
          </a:p>
          <a:p>
            <a:pPr marL="0" indent="0">
              <a:spcBef>
                <a:spcPts val="600"/>
              </a:spcBef>
              <a:buNone/>
            </a:pPr>
            <a:r>
              <a:rPr lang="en-US" sz="1350" dirty="0">
                <a:solidFill>
                  <a:srgbClr val="B8D4E8"/>
                </a:solidFill>
                <a:latin typeface="Calibri" pitchFamily="34" charset="0"/>
                <a:ea typeface="Calibri" pitchFamily="34" charset="-122"/>
                <a:cs typeface="Calibri" pitchFamily="34" charset="-120"/>
              </a:rPr>
              <a:t>✓  M1–M4  Console menu → Book class with encapsulated rules (Beginner labs)</a:t>
            </a:r>
            <a:endParaRPr lang="en-US" sz="1500" dirty="0"/>
          </a:p>
          <a:p>
            <a:pPr marL="0" indent="0">
              <a:spcBef>
                <a:spcPts val="300"/>
              </a:spcBef>
              <a:buNone/>
            </a:pPr>
            <a:r>
              <a:rPr lang="en-US" sz="1350" dirty="0">
                <a:solidFill>
                  <a:srgbClr val="B8D4E8"/>
                </a:solidFill>
                <a:latin typeface="Calibri" pitchFamily="34" charset="0"/>
                <a:ea typeface="Calibri" pitchFamily="34" charset="-122"/>
                <a:cs typeface="Calibri" pitchFamily="34" charset="-120"/>
              </a:rPr>
              <a:t>✓  M5–M8  Media hierarchy → Generic repository → JSON persistence → LINQ reports (Intermediate labs)</a:t>
            </a:r>
            <a:endParaRPr lang="en-US" sz="1500" dirty="0"/>
          </a:p>
          <a:p>
            <a:pPr marL="0" indent="0">
              <a:spcBef>
                <a:spcPts val="300"/>
              </a:spcBef>
              <a:buNone/>
            </a:pPr>
            <a:r>
              <a:rPr lang="en-US" sz="1350" dirty="0">
                <a:solidFill>
                  <a:srgbClr val="B8D4E8"/>
                </a:solidFill>
                <a:latin typeface="Calibri" pitchFamily="34" charset="0"/>
                <a:ea typeface="Calibri" pitchFamily="34" charset="-122"/>
                <a:cs typeface="Calibri" pitchFamily="34" charset="-120"/>
              </a:rPr>
              <a:t>✓  M9–M11 Event notifications → Async branch search → Reflection plugin reports (Advanced labs)</a:t>
            </a:r>
            <a:endParaRPr lang="en-US" sz="1500" dirty="0"/>
          </a:p>
          <a:p>
            <a:pPr marL="0" indent="0">
              <a:spcBef>
                <a:spcPts val="300"/>
              </a:spcBef>
              <a:buNone/>
            </a:pPr>
            <a:r>
              <a:rPr lang="en-US" sz="1350" dirty="0">
                <a:solidFill>
                  <a:srgbClr val="B8D4E8"/>
                </a:solidFill>
                <a:latin typeface="Calibri" pitchFamily="34" charset="0"/>
                <a:ea typeface="Calibri" pitchFamily="34" charset="-122"/>
                <a:cs typeface="Calibri" pitchFamily="34" charset="-120"/>
              </a:rPr>
              <a:t>✓  M12     ASP.NET Core Web API with Swagger, DI, and exception middleware (Capstone)</a:t>
            </a:r>
            <a:endParaRPr lang="en-US" sz="1500" dirty="0"/>
          </a:p>
          <a:p>
            <a:pPr marL="0" indent="0">
              <a:spcBef>
                <a:spcPts val="300"/>
              </a:spcBef>
              <a:buNone/>
            </a:pPr>
            <a:r>
              <a:rPr lang="en-US" sz="1350" dirty="0">
                <a:solidFill>
                  <a:srgbClr val="B8D4E8"/>
                </a:solidFill>
                <a:latin typeface="Calibri" pitchFamily="34" charset="0"/>
                <a:ea typeface="Calibri" pitchFamily="34" charset="-122"/>
                <a:cs typeface="Calibri" pitchFamily="34" charset="-120"/>
              </a:rPr>
              <a:t>✓  Every concept taught in a slide was practiced immediately in a lab on the SAME application</a:t>
            </a:r>
            <a:endParaRPr lang="en-US" sz="1500" dirty="0"/>
          </a:p>
        </p:txBody>
      </p:sp>
      <p:sp>
        <p:nvSpPr>
          <p:cNvPr id="7" name="Shape 5"/>
          <p:cNvSpPr/>
          <p:nvPr/>
        </p:nvSpPr>
        <p:spPr>
          <a:xfrm>
            <a:off x="274320" y="4206240"/>
            <a:ext cx="8595360" cy="640080"/>
          </a:xfrm>
          <a:prstGeom prst="rect">
            <a:avLst/>
          </a:prstGeom>
          <a:solidFill>
            <a:srgbClr val="142952"/>
          </a:solidFill>
          <a:ln w="12700">
            <a:solidFill>
              <a:srgbClr val="10B981">
                <a:alpha val="50000"/>
              </a:srgbClr>
            </a:solidFill>
            <a:prstDash val="solid"/>
          </a:ln>
        </p:spPr>
        <p:txBody>
          <a:bodyPr/>
          <a:lstStyle/>
          <a:p>
            <a:endParaRPr lang="en-US"/>
          </a:p>
        </p:txBody>
      </p:sp>
      <p:sp>
        <p:nvSpPr>
          <p:cNvPr id="8" name="Text 6"/>
          <p:cNvSpPr/>
          <p:nvPr/>
        </p:nvSpPr>
        <p:spPr>
          <a:xfrm>
            <a:off x="457200" y="4270248"/>
            <a:ext cx="8229600" cy="502920"/>
          </a:xfrm>
          <a:prstGeom prst="rect">
            <a:avLst/>
          </a:prstGeom>
          <a:noFill/>
          <a:ln/>
        </p:spPr>
        <p:txBody>
          <a:bodyPr wrap="square" lIns="0" tIns="0" rIns="0" bIns="0" rtlCol="0" anchor="ctr"/>
          <a:lstStyle/>
          <a:p>
            <a:pPr marL="0" indent="0">
              <a:buNone/>
            </a:pPr>
            <a:r>
              <a:rPr lang="en-US" sz="1200" dirty="0">
                <a:solidFill>
                  <a:srgbClr val="B8D4E8"/>
                </a:solidFill>
                <a:latin typeface="Calibri" pitchFamily="34" charset="0"/>
                <a:ea typeface="Calibri" pitchFamily="34" charset="-122"/>
                <a:cs typeface="Calibri" pitchFamily="34" charset="-120"/>
              </a:rPr>
              <a:t>🎉  Congratulations — you're now writing professional C#. Keep the lab files, explore the stretch goals, and bring questions to your team.</a:t>
            </a:r>
            <a:endParaRPr lang="en-US" sz="12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68">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142952"/>
          </a:solidFill>
          <a:ln w="12700">
            <a:solidFill>
              <a:srgbClr val="142952"/>
            </a:solidFill>
            <a:prstDash val="solid"/>
          </a:ln>
        </p:spPr>
        <p:txBody>
          <a:bodyPr/>
          <a:lstStyle/>
          <a:p>
            <a:endParaRPr lang="en-US"/>
          </a:p>
        </p:txBody>
      </p:sp>
      <p:sp>
        <p:nvSpPr>
          <p:cNvPr id="3" name="Shape 1"/>
          <p:cNvSpPr/>
          <p:nvPr/>
        </p:nvSpPr>
        <p:spPr>
          <a:xfrm>
            <a:off x="0" y="713232"/>
            <a:ext cx="9144000" cy="45720"/>
          </a:xfrm>
          <a:prstGeom prst="rect">
            <a:avLst/>
          </a:prstGeom>
          <a:solidFill>
            <a:srgbClr val="00C2CB"/>
          </a:solidFill>
          <a:ln w="12700">
            <a:solidFill>
              <a:srgbClr val="00C2CB"/>
            </a:solidFill>
            <a:prstDash val="solid"/>
          </a:ln>
        </p:spPr>
        <p:txBody>
          <a:bodyPr/>
          <a:lstStyle/>
          <a:p>
            <a:endParaRPr lang="en-US"/>
          </a:p>
        </p:txBody>
      </p:sp>
      <p:sp>
        <p:nvSpPr>
          <p:cNvPr id="4" name="Text 2"/>
          <p:cNvSpPr/>
          <p:nvPr/>
        </p:nvSpPr>
        <p:spPr>
          <a:xfrm>
            <a:off x="365760" y="91440"/>
            <a:ext cx="8412480" cy="548640"/>
          </a:xfrm>
          <a:prstGeom prst="rect">
            <a:avLst/>
          </a:prstGeom>
          <a:noFill/>
          <a:ln/>
        </p:spPr>
        <p:txBody>
          <a:bodyPr wrap="square" lIns="0" tIns="0" rIns="0" bIns="0"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What to Study Next</a:t>
            </a:r>
            <a:endParaRPr lang="en-US" sz="2100" dirty="0"/>
          </a:p>
        </p:txBody>
      </p:sp>
      <p:sp>
        <p:nvSpPr>
          <p:cNvPr id="5" name="Text 3"/>
          <p:cNvSpPr/>
          <p:nvPr/>
        </p:nvSpPr>
        <p:spPr>
          <a:xfrm>
            <a:off x="365760" y="868680"/>
            <a:ext cx="4160520" cy="4023360"/>
          </a:xfrm>
          <a:prstGeom prst="rect">
            <a:avLst/>
          </a:prstGeom>
          <a:noFill/>
          <a:ln/>
        </p:spPr>
        <p:txBody>
          <a:bodyPr wrap="square" rtlCol="0" anchor="t"/>
          <a:lstStyle/>
          <a:p>
            <a:pPr marL="342900" indent="-342900">
              <a:buSzPct val="100000"/>
              <a:buChar char="•"/>
            </a:pPr>
            <a:r>
              <a:rPr lang="en-US" sz="1350" dirty="0">
                <a:solidFill>
                  <a:srgbClr val="B8D4E8"/>
                </a:solidFill>
                <a:latin typeface="Calibri" pitchFamily="34" charset="0"/>
                <a:ea typeface="Calibri" pitchFamily="34" charset="-122"/>
                <a:cs typeface="Calibri" pitchFamily="34" charset="-120"/>
              </a:rPr>
              <a:t>Entity Framework Core — swap InMemoryRepository&lt;T&gt; for a real database behind the SAME IRepository&lt;T&gt; interface</a:t>
            </a:r>
            <a:endParaRPr lang="en-US" sz="1350" dirty="0"/>
          </a:p>
          <a:p>
            <a:pPr marL="342900" indent="-342900">
              <a:buSzPct val="100000"/>
              <a:buChar char="•"/>
            </a:pPr>
            <a:r>
              <a:rPr lang="en-US" sz="1350" dirty="0">
                <a:solidFill>
                  <a:srgbClr val="B8D4E8"/>
                </a:solidFill>
                <a:latin typeface="Calibri" pitchFamily="34" charset="0"/>
                <a:ea typeface="Calibri" pitchFamily="34" charset="-122"/>
                <a:cs typeface="Calibri" pitchFamily="34" charset="-120"/>
              </a:rPr>
              <a:t>xUnit / NUnit — unit-test CheckoutService.Borrow() happy path and both exception branches</a:t>
            </a:r>
            <a:endParaRPr lang="en-US" sz="1350" dirty="0"/>
          </a:p>
          <a:p>
            <a:pPr marL="342900" indent="-342900">
              <a:buSzPct val="100000"/>
              <a:buChar char="•"/>
            </a:pPr>
            <a:r>
              <a:rPr lang="en-US" sz="1350" dirty="0">
                <a:solidFill>
                  <a:srgbClr val="B8D4E8"/>
                </a:solidFill>
                <a:latin typeface="Calibri" pitchFamily="34" charset="0"/>
                <a:ea typeface="Calibri" pitchFamily="34" charset="-122"/>
                <a:cs typeface="Calibri" pitchFamily="34" charset="-120"/>
              </a:rPr>
              <a:t>Blazor — build a web UI in C# with no JavaScript (or minimal JS interop)</a:t>
            </a:r>
            <a:endParaRPr lang="en-US" sz="1350" dirty="0"/>
          </a:p>
          <a:p>
            <a:pPr marL="342900" indent="-342900">
              <a:buSzPct val="100000"/>
              <a:buChar char="•"/>
            </a:pPr>
            <a:r>
              <a:rPr lang="en-US" sz="1350" dirty="0">
                <a:solidFill>
                  <a:srgbClr val="B8D4E8"/>
                </a:solidFill>
                <a:latin typeface="Calibri" pitchFamily="34" charset="0"/>
                <a:ea typeface="Calibri" pitchFamily="34" charset="-122"/>
                <a:cs typeface="Calibri" pitchFamily="34" charset="-120"/>
              </a:rPr>
              <a:t>.NET Aspire — orchestrate your microservices locally and deploy to the cloud</a:t>
            </a:r>
            <a:endParaRPr lang="en-US" sz="1350" dirty="0"/>
          </a:p>
          <a:p>
            <a:pPr marL="342900" indent="-342900">
              <a:buSzPct val="100000"/>
              <a:buChar char="•"/>
            </a:pPr>
            <a:r>
              <a:rPr lang="en-US" sz="1350" dirty="0">
                <a:solidFill>
                  <a:srgbClr val="B8D4E8"/>
                </a:solidFill>
                <a:latin typeface="Calibri" pitchFamily="34" charset="0"/>
                <a:ea typeface="Calibri" pitchFamily="34" charset="-122"/>
                <a:cs typeface="Calibri" pitchFamily="34" charset="-120"/>
              </a:rPr>
              <a:t>Source Generators — compile-time alternatives to reflection (faster, AOT-friendly)</a:t>
            </a:r>
            <a:endParaRPr lang="en-US" sz="1350" dirty="0"/>
          </a:p>
          <a:p>
            <a:pPr marL="342900" indent="-342900">
              <a:buSzPct val="100000"/>
              <a:buChar char="•"/>
            </a:pPr>
            <a:r>
              <a:rPr lang="en-US" sz="1350" dirty="0">
                <a:solidFill>
                  <a:srgbClr val="B8D4E8"/>
                </a:solidFill>
                <a:latin typeface="Calibri" pitchFamily="34" charset="0"/>
                <a:ea typeface="Calibri" pitchFamily="34" charset="-122"/>
                <a:cs typeface="Calibri" pitchFamily="34" charset="-120"/>
              </a:rPr>
              <a:t>System.Threading.Channels — producer/consumer pipelines without third-party queues</a:t>
            </a:r>
            <a:endParaRPr lang="en-US" sz="1350" dirty="0"/>
          </a:p>
          <a:p>
            <a:pPr marL="342900" indent="-342900">
              <a:buSzPct val="100000"/>
              <a:buChar char="•"/>
            </a:pPr>
            <a:r>
              <a:rPr lang="en-US" sz="1350" dirty="0">
                <a:solidFill>
                  <a:srgbClr val="B8D4E8"/>
                </a:solidFill>
                <a:latin typeface="Calibri" pitchFamily="34" charset="0"/>
                <a:ea typeface="Calibri" pitchFamily="34" charset="-122"/>
                <a:cs typeface="Calibri" pitchFamily="34" charset="-120"/>
              </a:rPr>
              <a:t>Microsoft Learn: https://learn.microsoft.com/en-us/dotnet/csharp/  (free, excellent)</a:t>
            </a:r>
            <a:endParaRPr lang="en-US" sz="1350" dirty="0"/>
          </a:p>
        </p:txBody>
      </p:sp>
      <p:sp>
        <p:nvSpPr>
          <p:cNvPr id="6" name="Shape 4"/>
          <p:cNvSpPr/>
          <p:nvPr/>
        </p:nvSpPr>
        <p:spPr>
          <a:xfrm>
            <a:off x="4617720" y="896112"/>
            <a:ext cx="18288" cy="3931920"/>
          </a:xfrm>
          <a:prstGeom prst="rect">
            <a:avLst/>
          </a:prstGeom>
          <a:solidFill>
            <a:srgbClr val="00C2CB">
              <a:alpha val="45000"/>
            </a:srgbClr>
          </a:solidFill>
          <a:ln w="12700">
            <a:solidFill>
              <a:srgbClr val="00C2CB">
                <a:alpha val="45000"/>
              </a:srgbClr>
            </a:solidFill>
            <a:prstDash val="solid"/>
          </a:ln>
        </p:spPr>
        <p:txBody>
          <a:bodyPr/>
          <a:lstStyle/>
          <a:p>
            <a:endParaRPr lang="en-US"/>
          </a:p>
        </p:txBody>
      </p:sp>
      <p:sp>
        <p:nvSpPr>
          <p:cNvPr id="7" name="Text 5"/>
          <p:cNvSpPr/>
          <p:nvPr/>
        </p:nvSpPr>
        <p:spPr>
          <a:xfrm>
            <a:off x="4754880" y="868680"/>
            <a:ext cx="4160520" cy="4023360"/>
          </a:xfrm>
          <a:prstGeom prst="rect">
            <a:avLst/>
          </a:prstGeom>
          <a:noFill/>
          <a:ln/>
        </p:spPr>
        <p:txBody>
          <a:bodyPr wrap="square" rtlCol="0" anchor="t"/>
          <a:lstStyle/>
          <a:p>
            <a:pPr marL="342900" indent="-342900">
              <a:buSzPct val="100000"/>
              <a:buChar char="•"/>
            </a:pPr>
            <a:r>
              <a:rPr lang="en-US" sz="1350" dirty="0">
                <a:solidFill>
                  <a:srgbClr val="B8D4E8"/>
                </a:solidFill>
                <a:latin typeface="Calibri" pitchFamily="34" charset="0"/>
                <a:ea typeface="Calibri" pitchFamily="34" charset="-122"/>
                <a:cs typeface="Calibri" pitchFamily="34" charset="-120"/>
              </a:rPr>
              <a:t>dotnet add package Microsoft.EntityFrameworkCore.Sqlite</a:t>
            </a:r>
            <a:endParaRPr lang="en-US" sz="1350" dirty="0"/>
          </a:p>
          <a:p>
            <a:pPr marL="342900" indent="-342900">
              <a:buSzPct val="100000"/>
              <a:buChar char="•"/>
            </a:pPr>
            <a:r>
              <a:rPr lang="en-US" sz="1350" dirty="0">
                <a:solidFill>
                  <a:srgbClr val="B8D4E8"/>
                </a:solidFill>
                <a:latin typeface="Calibri" pitchFamily="34" charset="0"/>
                <a:ea typeface="Calibri" pitchFamily="34" charset="-122"/>
                <a:cs typeface="Calibri" pitchFamily="34" charset="-120"/>
              </a:rPr>
              <a:t>dotnet add package xunit</a:t>
            </a:r>
            <a:endParaRPr lang="en-US" sz="1350" dirty="0"/>
          </a:p>
          <a:p>
            <a:pPr marL="342900" indent="-342900">
              <a:buSzPct val="100000"/>
              <a:buChar char="•"/>
            </a:pPr>
            <a:r>
              <a:rPr lang="en-US" sz="1350" dirty="0">
                <a:solidFill>
                  <a:srgbClr val="B8D4E8"/>
                </a:solidFill>
                <a:latin typeface="Calibri" pitchFamily="34" charset="0"/>
                <a:ea typeface="Calibri" pitchFamily="34" charset="-122"/>
                <a:cs typeface="Calibri" pitchFamily="34" charset="-120"/>
              </a:rPr>
              <a:t>dotnet new blazorwasm</a:t>
            </a:r>
            <a:endParaRPr lang="en-US" sz="1350" dirty="0"/>
          </a:p>
          <a:p>
            <a:pPr marL="342900" indent="-342900">
              <a:buSzPct val="100000"/>
              <a:buChar char="•"/>
            </a:pPr>
            <a:r>
              <a:rPr lang="en-US" sz="1350" dirty="0">
                <a:solidFill>
                  <a:srgbClr val="B8D4E8"/>
                </a:solidFill>
                <a:latin typeface="Calibri" pitchFamily="34" charset="0"/>
                <a:ea typeface="Calibri" pitchFamily="34" charset="-122"/>
                <a:cs typeface="Calibri" pitchFamily="34" charset="-120"/>
              </a:rPr>
              <a:t>dotnet new aspire-starter</a:t>
            </a:r>
            <a:endParaRPr lang="en-US" sz="1350" dirty="0"/>
          </a:p>
          <a:p>
            <a:pPr marL="342900" indent="-342900">
              <a:buSzPct val="100000"/>
              <a:buChar char="•"/>
            </a:pPr>
            <a:endParaRPr lang="en-US" sz="1350" dirty="0"/>
          </a:p>
          <a:p>
            <a:pPr marL="342900" indent="-342900">
              <a:buSzPct val="100000"/>
              <a:buChar char="•"/>
            </a:pPr>
            <a:endParaRPr lang="en-US" sz="1350" dirty="0"/>
          </a:p>
          <a:p>
            <a:pPr marL="342900" indent="-342900">
              <a:buSzPct val="100000"/>
              <a:buChar char="•"/>
            </a:pPr>
            <a:r>
              <a:rPr lang="en-US" sz="1350" dirty="0">
                <a:solidFill>
                  <a:srgbClr val="B8D4E8"/>
                </a:solidFill>
                <a:latin typeface="Calibri" pitchFamily="34" charset="0"/>
                <a:ea typeface="Calibri" pitchFamily="34" charset="-122"/>
                <a:cs typeface="Calibri" pitchFamily="34" charset="-120"/>
              </a:rPr>
              <a:t>GitHub: github.com/dotnet/csharplang</a:t>
            </a:r>
            <a:endParaRPr lang="en-US" sz="135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69">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548640" cy="5143500"/>
          </a:xfrm>
          <a:prstGeom prst="rect">
            <a:avLst/>
          </a:prstGeom>
          <a:solidFill>
            <a:srgbClr val="00C2CB"/>
          </a:solidFill>
          <a:ln w="12700">
            <a:solidFill>
              <a:srgbClr val="00C2CB"/>
            </a:solidFill>
            <a:prstDash val="solid"/>
          </a:ln>
        </p:spPr>
        <p:txBody>
          <a:bodyPr/>
          <a:lstStyle/>
          <a:p>
            <a:endParaRPr lang="en-US"/>
          </a:p>
        </p:txBody>
      </p:sp>
      <p:sp>
        <p:nvSpPr>
          <p:cNvPr id="3" name="Text 1"/>
          <p:cNvSpPr/>
          <p:nvPr/>
        </p:nvSpPr>
        <p:spPr>
          <a:xfrm>
            <a:off x="822960" y="1188720"/>
            <a:ext cx="7772400" cy="1371600"/>
          </a:xfrm>
          <a:prstGeom prst="rect">
            <a:avLst/>
          </a:prstGeom>
          <a:noFill/>
          <a:ln/>
        </p:spPr>
        <p:txBody>
          <a:bodyPr wrap="square" lIns="0" tIns="0" rIns="0" bIns="0" rtlCol="0" anchor="ctr"/>
          <a:lstStyle/>
          <a:p>
            <a:pPr marL="0" indent="0">
              <a:buNone/>
            </a:pPr>
            <a:r>
              <a:rPr lang="en-US" sz="4400" b="1" dirty="0">
                <a:solidFill>
                  <a:srgbClr val="FFFFFF"/>
                </a:solidFill>
                <a:latin typeface="Calibri" pitchFamily="34" charset="0"/>
                <a:ea typeface="Calibri" pitchFamily="34" charset="-122"/>
                <a:cs typeface="Calibri" pitchFamily="34" charset="-120"/>
              </a:rPr>
              <a:t>Happy Coding! 🚀</a:t>
            </a:r>
            <a:endParaRPr lang="en-US" sz="4400" dirty="0"/>
          </a:p>
        </p:txBody>
      </p:sp>
      <p:sp>
        <p:nvSpPr>
          <p:cNvPr id="4" name="Text 2"/>
          <p:cNvSpPr/>
          <p:nvPr/>
        </p:nvSpPr>
        <p:spPr>
          <a:xfrm>
            <a:off x="822960" y="2697480"/>
            <a:ext cx="7772400" cy="502920"/>
          </a:xfrm>
          <a:prstGeom prst="rect">
            <a:avLst/>
          </a:prstGeom>
          <a:noFill/>
          <a:ln/>
        </p:spPr>
        <p:txBody>
          <a:bodyPr wrap="square" lIns="0" tIns="0" rIns="0" bIns="0" rtlCol="0" anchor="ctr"/>
          <a:lstStyle/>
          <a:p>
            <a:pPr marL="0" indent="0">
              <a:buNone/>
            </a:pPr>
            <a:r>
              <a:rPr lang="en-US" sz="1500" dirty="0">
                <a:solidFill>
                  <a:srgbClr val="B8D4E8"/>
                </a:solidFill>
                <a:latin typeface="Calibri" pitchFamily="34" charset="0"/>
                <a:ea typeface="Calibri" pitchFamily="34" charset="-122"/>
                <a:cs typeface="Calibri" pitchFamily="34" charset="-120"/>
              </a:rPr>
              <a:t>C# Fundamentals &amp; Advanced Topics  ·  2-Day Remote Training</a:t>
            </a:r>
            <a:endParaRPr lang="en-US" sz="1500" dirty="0"/>
          </a:p>
        </p:txBody>
      </p:sp>
      <p:sp>
        <p:nvSpPr>
          <p:cNvPr id="5" name="Shape 3"/>
          <p:cNvSpPr/>
          <p:nvPr/>
        </p:nvSpPr>
        <p:spPr>
          <a:xfrm>
            <a:off x="822960" y="3337560"/>
            <a:ext cx="2560320" cy="54864"/>
          </a:xfrm>
          <a:prstGeom prst="rect">
            <a:avLst/>
          </a:prstGeom>
          <a:solidFill>
            <a:srgbClr val="00C2CB"/>
          </a:solidFill>
          <a:ln w="12700">
            <a:solidFill>
              <a:srgbClr val="00C2CB"/>
            </a:solidFill>
            <a:prstDash val="solid"/>
          </a:ln>
        </p:spPr>
        <p:txBody>
          <a:bodyPr/>
          <a:lstStyle/>
          <a:p>
            <a:endParaRPr lang="en-US"/>
          </a:p>
        </p:txBody>
      </p:sp>
      <p:sp>
        <p:nvSpPr>
          <p:cNvPr id="6" name="Text 4"/>
          <p:cNvSpPr/>
          <p:nvPr/>
        </p:nvSpPr>
        <p:spPr>
          <a:xfrm>
            <a:off x="822960" y="3520440"/>
            <a:ext cx="7772400" cy="1371600"/>
          </a:xfrm>
          <a:prstGeom prst="rect">
            <a:avLst/>
          </a:prstGeom>
          <a:noFill/>
          <a:ln/>
        </p:spPr>
        <p:txBody>
          <a:bodyPr wrap="square" lIns="0" tIns="0" rIns="0" bIns="0" rtlCol="0" anchor="ctr"/>
          <a:lstStyle/>
          <a:p>
            <a:pPr marL="0" indent="0">
              <a:buNone/>
            </a:pPr>
            <a:r>
              <a:rPr lang="en-US" sz="1200" dirty="0">
                <a:solidFill>
                  <a:srgbClr val="6B93B0"/>
                </a:solidFill>
                <a:latin typeface="Calibri" pitchFamily="34" charset="0"/>
                <a:ea typeface="Calibri" pitchFamily="34" charset="-122"/>
                <a:cs typeface="Calibri" pitchFamily="34" charset="-120"/>
              </a:rPr>
              <a:t>All files in the Teams channel Files tab:</a:t>
            </a:r>
            <a:endParaRPr lang="en-US" sz="1200" dirty="0"/>
          </a:p>
          <a:p>
            <a:pPr marL="0" indent="0">
              <a:buNone/>
            </a:pPr>
            <a:r>
              <a:rPr lang="en-US" sz="1200" dirty="0">
                <a:solidFill>
                  <a:srgbClr val="6B93B0"/>
                </a:solidFill>
                <a:latin typeface="Calibri" pitchFamily="34" charset="0"/>
                <a:ea typeface="Calibri" pitchFamily="34" charset="-122"/>
                <a:cs typeface="Calibri" pitchFamily="34" charset="-120"/>
              </a:rPr>
              <a:t>Demos_Beginner/Intermediate/Advanced.cs</a:t>
            </a:r>
            <a:endParaRPr lang="en-US" sz="1200" dirty="0"/>
          </a:p>
          <a:p>
            <a:pPr marL="0" indent="0">
              <a:buNone/>
            </a:pPr>
            <a:r>
              <a:rPr lang="en-US" sz="1200" dirty="0">
                <a:solidFill>
                  <a:srgbClr val="6B93B0"/>
                </a:solidFill>
                <a:latin typeface="Calibri" pitchFamily="34" charset="0"/>
                <a:ea typeface="Calibri" pitchFamily="34" charset="-122"/>
                <a:cs typeface="Calibri" pitchFamily="34" charset="-120"/>
              </a:rPr>
              <a:t>Lab_Beginner/Intermediate/Advanced_DeweyLib.cs</a:t>
            </a:r>
            <a:endParaRPr lang="en-US" sz="1200" dirty="0"/>
          </a:p>
          <a:p>
            <a:pPr marL="0" indent="0">
              <a:buNone/>
            </a:pPr>
            <a:r>
              <a:rPr lang="en-US" sz="1200" dirty="0">
                <a:solidFill>
                  <a:srgbClr val="6B93B0"/>
                </a:solidFill>
                <a:latin typeface="Calibri" pitchFamily="34" charset="0"/>
                <a:ea typeface="Calibri" pitchFamily="34" charset="-122"/>
                <a:cs typeface="Calibri" pitchFamily="34" charset="-120"/>
              </a:rPr>
              <a:t>Solutions_Beginner/Intermediate/Advanced.cs</a:t>
            </a:r>
            <a:endParaRPr lang="en-US" sz="1200" dirty="0"/>
          </a:p>
          <a:p>
            <a:pPr marL="0" indent="0">
              <a:buNone/>
            </a:pPr>
            <a:r>
              <a:rPr lang="en-US" sz="1200" dirty="0">
                <a:solidFill>
                  <a:srgbClr val="6B93B0"/>
                </a:solidFill>
                <a:latin typeface="Calibri" pitchFamily="34" charset="0"/>
                <a:ea typeface="Calibri" pitchFamily="34" charset="-122"/>
                <a:cs typeface="Calibri" pitchFamily="34" charset="-120"/>
              </a:rPr>
              <a:t>DeweyLib_Complete/ (3-project solution)</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164</TotalTime>
  <Words>12644</Words>
  <Application>Microsoft Office PowerPoint</Application>
  <PresentationFormat>On-screen Show (16:9)</PresentationFormat>
  <Paragraphs>1176</Paragraphs>
  <Slides>79</Slides>
  <Notes>67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79</vt:i4>
      </vt:variant>
    </vt:vector>
  </HeadingPairs>
  <TitlesOfParts>
    <vt:vector size="84" baseType="lpstr">
      <vt:lpstr>Arial</vt:lpstr>
      <vt:lpstr>Calibri</vt:lpstr>
      <vt:lpstr>Courier New</vt:lpstr>
      <vt:lpstr>Segoe UI Emoji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 Fundamentals &amp; Advanced Topics – 2-Day Training</dc:title>
  <dc:subject>PptxGenJS Presentation</dc:subject>
  <dc:creator>PptxGenJS</dc:creator>
  <cp:lastModifiedBy>Daniel Janik</cp:lastModifiedBy>
  <cp:revision>4</cp:revision>
  <dcterms:created xsi:type="dcterms:W3CDTF">2026-06-16T03:21:25Z</dcterms:created>
  <dcterms:modified xsi:type="dcterms:W3CDTF">2026-06-23T15:54:25Z</dcterms:modified>
</cp:coreProperties>
</file>